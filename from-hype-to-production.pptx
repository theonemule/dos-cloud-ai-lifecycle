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EEF0F8"/>
                </a:solidFill>
                <a:latin typeface="Calibri"/>
              </a:defRPr>
            </a:pPr>
            <a:r>
              <a:rPr sz="1500" b="0" i="0" u="none" strike="noStrike">
                <a:solidFill>
                  <a:srgbClr val="EEF0F8"/>
                </a:solidFill>
                <a:latin typeface="Calibri"/>
              </a:rPr>
              <a:t>Automated test cases</a:t>
            </a:r>
          </a:p>
        </c:rich>
      </c:tx>
      <c:layout/>
      <c:overlay val="0"/>
    </c:title>
    <c:autoTitleDeleted val="0"/>
    <c:plotArea>
      <c:layout/>
      <c:barChart>
        <c:barDir val="col"/>
        <c:grouping val="clustered"/>
        <c:varyColors val="0"/>
        <c:ser>
          <c:idx val="0"/>
          <c:order val="0"/>
          <c:tx>
            <c:strRef>
              <c:f>Sheet1!$B$1</c:f>
              <c:strCache>
                <c:ptCount val="1"/>
                <c:pt idx="0">
                  <c:v>Automated tests</c:v>
                </c:pt>
              </c:strCache>
            </c:strRef>
          </c:tx>
          <c:spPr>
            <a:solidFill>
              <a:srgbClr val="FFB000"/>
            </a:solidFill>
            <a:effectLst/>
          </c:spPr>
          <c:invertIfNegative val="0"/>
          <c:dLbls>
            <c:numFmt formatCode="#,##0" sourceLinked="0"/>
            <c:txPr>
              <a:bodyPr/>
              <a:lstStyle/>
              <a:p>
                <a:pPr>
                  <a:defRPr b="0" i="0" strike="noStrike" sz="1100" u="none">
                    <a:solidFill>
                      <a:srgbClr val="EEF0F8"/>
                    </a:solidFill>
                    <a:latin typeface="Calibri"/>
                  </a:defRPr>
                </a:pPr>
              </a:p>
            </c:txPr>
            <c:showLegendKey val="0"/>
            <c:showVal val="1"/>
            <c:showCatName val="0"/>
            <c:showSerName val="0"/>
            <c:showPercent val="0"/>
            <c:showBubbleSize val="0"/>
            <c:showLeaderLines val="0"/>
          </c:dLbls>
          <c:cat>
            <c:multiLvlStrRef>
              <c:f>Sheet1!$A$2:$A$7</c:f>
              <c:multiLvlStrCache>
                <c:ptCount val="6"/>
                <c:lvl>
                  <c:pt idx="0">
                    <c:v>P1</c:v>
                  </c:pt>
                  <c:pt idx="1">
                    <c:v>P2</c:v>
                  </c:pt>
                  <c:pt idx="2">
                    <c:v>P3</c:v>
                  </c:pt>
                  <c:pt idx="3">
                    <c:v>P4</c:v>
                  </c:pt>
                  <c:pt idx="4">
                    <c:v>P5</c:v>
                  </c:pt>
                  <c:pt idx="5">
                    <c:v>P6</c:v>
                  </c:pt>
                </c:lvl>
              </c:multiLvlStrCache>
            </c:multiLvlStrRef>
          </c:cat>
          <c:val>
            <c:numRef>
              <c:f>Sheet1!$B$2:$B$7</c:f>
              <c:numCache>
                <c:formatCode>General</c:formatCode>
                <c:ptCount val="6"/>
                <c:pt idx="0">
                  <c:v>5</c:v>
                </c:pt>
                <c:pt idx="1">
                  <c:v>5</c:v>
                </c:pt>
                <c:pt idx="2">
                  <c:v>12</c:v>
                </c:pt>
                <c:pt idx="3">
                  <c:v>35</c:v>
                </c:pt>
                <c:pt idx="4">
                  <c:v>47</c:v>
                </c:pt>
                <c:pt idx="5">
                  <c:v>54</c:v>
                </c:pt>
              </c:numCache>
            </c:numRef>
          </c:val>
        </c:ser>
        <c:dLbls>
          <c:numFmt formatCode="#,##0" sourceLinked="0"/>
          <c:txPr>
            <a:bodyPr/>
            <a:lstStyle/>
            <a:p>
              <a:pPr>
                <a:defRPr b="0" i="0" strike="noStrike" sz="1100" u="none">
                  <a:solidFill>
                    <a:srgbClr val="EEF0F8"/>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3ABCB"/>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12B5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A3ABCB"/>
                </a:solidFill>
                <a:latin typeface="Calibri"/>
              </a:defRPr>
            </a:pPr>
            <a:endParaRPr lang="en-US"/>
          </a:p>
        </c:txPr>
        <c:crossAx val="2094734554"/>
        <c:crosses val="autoZero"/>
        <c:crossBetween val="between"/>
      </c:valAx>
      <c:spPr>
        <a:solidFill>
          <a:srgbClr val="0D1224"/>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EEF0F8"/>
                </a:solidFill>
                <a:latin typeface="Calibri"/>
              </a:defRPr>
            </a:pPr>
            <a:r>
              <a:rPr sz="1500" b="0" i="0" u="none" strike="noStrike">
                <a:solidFill>
                  <a:srgbClr val="EEF0F8"/>
                </a:solidFill>
                <a:latin typeface="Calibri"/>
              </a:rPr>
              <a:t>Application code (lines)</a:t>
            </a:r>
          </a:p>
        </c:rich>
      </c:tx>
      <c:layout/>
      <c:overlay val="0"/>
    </c:title>
    <c:autoTitleDeleted val="0"/>
    <c:plotArea>
      <c:layout/>
      <c:barChart>
        <c:barDir val="col"/>
        <c:grouping val="clustered"/>
        <c:varyColors val="0"/>
        <c:ser>
          <c:idx val="0"/>
          <c:order val="0"/>
          <c:tx>
            <c:strRef>
              <c:f>Sheet1!$B$1</c:f>
              <c:strCache>
                <c:ptCount val="1"/>
                <c:pt idx="0">
                  <c:v>App code</c:v>
                </c:pt>
              </c:strCache>
            </c:strRef>
          </c:tx>
          <c:spPr>
            <a:solidFill>
              <a:srgbClr val="FFB000"/>
            </a:solidFill>
            <a:effectLst/>
          </c:spPr>
          <c:invertIfNegative val="0"/>
          <c:dLbls>
            <c:numFmt formatCode="#,##0" sourceLinked="0"/>
            <c:txPr>
              <a:bodyPr/>
              <a:lstStyle/>
              <a:p>
                <a:pPr>
                  <a:defRPr b="0" i="0" strike="noStrike" sz="1100" u="none">
                    <a:solidFill>
                      <a:srgbClr val="EEF0F8"/>
                    </a:solidFill>
                    <a:latin typeface="Calibri"/>
                  </a:defRPr>
                </a:pPr>
              </a:p>
            </c:txPr>
            <c:showLegendKey val="0"/>
            <c:showVal val="1"/>
            <c:showCatName val="0"/>
            <c:showSerName val="0"/>
            <c:showPercent val="0"/>
            <c:showBubbleSize val="0"/>
            <c:showLeaderLines val="0"/>
          </c:dLbls>
          <c:cat>
            <c:multiLvlStrRef>
              <c:f>Sheet1!$A$2:$A$7</c:f>
              <c:multiLvlStrCache>
                <c:ptCount val="6"/>
                <c:lvl>
                  <c:pt idx="0">
                    <c:v>P1</c:v>
                  </c:pt>
                  <c:pt idx="1">
                    <c:v>P2</c:v>
                  </c:pt>
                  <c:pt idx="2">
                    <c:v>P3</c:v>
                  </c:pt>
                  <c:pt idx="3">
                    <c:v>P4</c:v>
                  </c:pt>
                  <c:pt idx="4">
                    <c:v>P5</c:v>
                  </c:pt>
                  <c:pt idx="5">
                    <c:v>P6</c:v>
                  </c:pt>
                </c:lvl>
              </c:multiLvlStrCache>
            </c:multiLvlStrRef>
          </c:cat>
          <c:val>
            <c:numRef>
              <c:f>Sheet1!$B$2:$B$7</c:f>
              <c:numCache>
                <c:formatCode>General</c:formatCode>
                <c:ptCount val="6"/>
                <c:pt idx="0">
                  <c:v>820</c:v>
                </c:pt>
                <c:pt idx="1">
                  <c:v>820</c:v>
                </c:pt>
                <c:pt idx="2">
                  <c:v>1520</c:v>
                </c:pt>
                <c:pt idx="3">
                  <c:v>2451</c:v>
                </c:pt>
                <c:pt idx="4">
                  <c:v>3089</c:v>
                </c:pt>
                <c:pt idx="5">
                  <c:v>4008</c:v>
                </c:pt>
              </c:numCache>
            </c:numRef>
          </c:val>
        </c:ser>
        <c:dLbls>
          <c:numFmt formatCode="#,##0" sourceLinked="0"/>
          <c:txPr>
            <a:bodyPr/>
            <a:lstStyle/>
            <a:p>
              <a:pPr>
                <a:defRPr b="0" i="0" strike="noStrike" sz="1100" u="none">
                  <a:solidFill>
                    <a:srgbClr val="EEF0F8"/>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3ABCB"/>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12B5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A3ABCB"/>
                </a:solidFill>
                <a:latin typeface="Calibri"/>
              </a:defRPr>
            </a:pPr>
            <a:endParaRPr lang="en-US"/>
          </a:p>
        </c:txPr>
        <c:crossAx val="2094734554"/>
        <c:crosses val="autoZero"/>
        <c:crossBetween val="between"/>
      </c:valAx>
      <c:spPr>
        <a:solidFill>
          <a:srgbClr val="0D1224"/>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talk follows one real project, DOS Cloud, through the whole delivery lifecycle with AI doing most of the typing. The goal isn't to show that AI can write code, which everyone knows by now. It's to show where AI accelerates each phase, where it quietly goes wrong, and what professional habits turn vibe coding into something you can run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Cloud looks like a toy, but it forces hard problems. DOSBox expects a synchronous filesystem while the browser is asynchronous, the games expect 1990s IPX LAN networking, and a multi-user cloud service brings all the usual identity, isolation and operations requirements. That mix makes it a good stress test for AI-assisted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is organized as six immutable snapshots, one per lifecycle stage. Each phase is forked from the one before and then frozen, so you can open any directory and see exactly what the project looked like at that point. The rest of the talk walks these phases in order, with the most time on phase six, where the real engineering lessons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one is about de-risking. The single biggest unknown was whether DOSBox could run against a drive that lives on the server. The first AI-generated approach used SharedArrayBuffer and Atomics, which worked on localhost and failed as soon as we tried plain HTTP on the LAN. The second approach, synchronous XHR inside the emulator's worker, held up. The point: AI makes throwaway experiments cheap, so run more of them, earlier, and treat them as experiments rather than the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two deliberately changes no product code; the application is byte-for-byte the phase one prototype. Instead we produce the architecture, the plan and five architecture decision records. Notice ADR 5, a separate data plane for IPX networking: that was decided here and paid off four phases later. AI has no memory between sessions; these documents are what keep its output consistent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ways to build. Inside-out starts from one core idea and grows around it. That's what vibe coding is great at: spikes, small projects, validating assumptions, seeing quickly how pieces fit together. What it doesn't give you is good architecture; the structure is whatever emerged. Outside-in starts from the frame: a plan, an architecture, diagrams, a scaffold. Then you fill in the details one feature or function at a time, so the architecture lives in the code. The move that makes vibe coding work professionally is to use both, in order. Vibe-code the prototype and validate your assumptions. Then start a completely new project, point the AI at the prototype as the baseline for what's proven, plan and diagram the architecture you actually want, let the AI scaffold it, and fill in each feature. That's exactly what happened between phase one and phase three of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three is where the code volume arrives, and AI shines at it. The discipline that matters is structural: every game launches from manifest metadata, so there is no game-specific server code at all. And 'done' means a real browser boots a real game against a user's private drive, not that the code compiles.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four adds no product capability at all. It's regression coverage, explicit trust boundaries and remediation. Prompting for features rarely produces security; prompting the AI to review, threat-model and attack what it built does. Tests almost tripled in this phase, and they're what keep later phases from silently undoing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five keeps the product behavior and wraps it in an operational surface: Bicep for Azure Container Apps, Azure Files for user drives, PostgreSQL with managed-identity auth, Key Vault for the OIDC secret, Log Analytics, and GitHub-driven deployment. Inside the app: structured logging with redaction, correlation IDs, health and readiness probes, graceful shutdown. All of it is text, which is exactly what AI is good at producing, as long as you ask for it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six is where most talks about AI coding stop and where most real work begins: change. The system was already built, secured, documented and deployed, and then two stacks had to be rewritten. The filesystem transport, because the cloud exposed latency the LAN hid. And the networking stack, to deliver real IPX multiplayer.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phase one filesystem was correct but mapped every DOS call to a synchronous HTTP request. On a LAN that's invisible; in Azure every stat and read paid a WAN round trip. The rewrite keeps exactly the same authority boundary, with the server's Azure Files share as the single source of truth, but swaps the transport for a persistent WebSocket with server-side handles and a client cache modelled on FUSE and NFS. The HTTP path stays as a development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rewrite adds a new data plane. js-dos lets us inject our own network transport, so each emulator talks WebSockets to a room-scoped relay on our server, which forwards opaque IPX frames by peer ID. The host's DOSBox-X runs the IPX server, guests connect to it through the relay, and every player keeps their own private drive. Nobody opens ports, and there's no peer-to-peer NAT traversal.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bugs from phase six, all found while working with AI. First: the documentation claimed the two-browser test had proven multiplayer, but rerunning it failed, and its success check couldn't have proven gameplay anyway. Second: the host emulator was crashing inside js-dos; the root cause was only visible by reading the upstream DOSBox-X source, where an early guest packet lands in the wrong queue. Third: a production-only failure diagnosed from two screenshots and the Azure logs: copying the join code with Ctrl+C typed ^C into DOS. In every case the fix came with a test that failed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tell the story. Code grew about five times, but tests grew about ten times, and docs almost fourfold. Phase two is flat on code by design. Most of the growth after phase three isn't features at all; it's tests, hardening, operations and documentation, which is what separates a vibe-coded demo from something you'd run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habits to take away. Spike to learn. Write intent down so the AI has durable context. Treat tests as the contract, and verify the tests themselves. Make hardening and operations explicit phases. And during change, demand evidence rather than accepting a plausible story. AI accelerates every phase; discipline is what gets it to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repository keeps all six snapshots side by side, so everything shown today can be opened and compared. If time allows, finish with the live demo: two browsers, a room code, and a two-player game of DOOM running over IPX through the relay.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224"/>
        </a:solidFill>
      </p:bgPr>
    </p:bg>
    <p:spTree>
      <p:nvGrpSpPr>
        <p:cNvPr id="1" name=""/>
        <p:cNvGrpSpPr/>
        <p:nvPr/>
      </p:nvGrpSpPr>
      <p:grpSpPr>
        <a:xfrm>
          <a:off x="0" y="0"/>
          <a:ext cx="0" cy="0"/>
          <a:chOff x="0" y="0"/>
          <a:chExt cx="0" cy="0"/>
        </a:xfrm>
      </p:grpSpPr>
      <p:sp>
        <p:nvSpPr>
          <p:cNvPr id="2" name="Text 0"/>
          <p:cNvSpPr txBox="1"/>
          <p:nvPr/>
        </p:nvSpPr>
        <p:spPr>
          <a:xfrm>
            <a:off x="548640" y="640080"/>
            <a:ext cx="6400800" cy="365760"/>
          </a:xfrm>
          <a:prstGeom prst="rect">
            <a:avLst/>
          </a:prstGeom>
          <a:noFill/>
          <a:ln/>
        </p:spPr>
        <p:txBody>
          <a:bodyPr wrap="square" lIns="0" tIns="0" rIns="0" bIns="0" rtlCol="0" anchor="t"/>
          <a:lstStyle/>
          <a:p>
            <a:pPr indent="0" marL="0">
              <a:buNone/>
            </a:pPr>
            <a:r>
              <a:rPr lang="en-US" sz="1600" b="1" dirty="0">
                <a:solidFill>
                  <a:srgbClr val="FFB000"/>
                </a:solidFill>
                <a:latin typeface="Courier New" pitchFamily="34" charset="0"/>
                <a:ea typeface="Courier New" pitchFamily="34" charset="-122"/>
                <a:cs typeface="Courier New" pitchFamily="34" charset="-120"/>
              </a:rPr>
              <a:t>C:\&gt; DOSCLOUD.EXE /TALK</a:t>
            </a:r>
            <a:endParaRPr lang="en-US" sz="1600" dirty="0"/>
          </a:p>
        </p:txBody>
      </p:sp>
      <p:sp>
        <p:nvSpPr>
          <p:cNvPr id="3" name="Text 1"/>
          <p:cNvSpPr txBox="1"/>
          <p:nvPr/>
        </p:nvSpPr>
        <p:spPr>
          <a:xfrm>
            <a:off x="548640" y="1371600"/>
            <a:ext cx="6583680" cy="2011680"/>
          </a:xfrm>
          <a:prstGeom prst="rect">
            <a:avLst/>
          </a:prstGeom>
          <a:noFill/>
          <a:ln/>
        </p:spPr>
        <p:txBody>
          <a:bodyPr wrap="square" lIns="0" tIns="0" rIns="0" bIns="0" rtlCol="0" anchor="t"/>
          <a:lstStyle/>
          <a:p>
            <a:pPr indent="0" marL="0">
              <a:buNone/>
            </a:pPr>
            <a:r>
              <a:rPr lang="en-US" sz="5000" b="1" dirty="0">
                <a:solidFill>
                  <a:srgbClr val="EEF0F8"/>
                </a:solidFill>
                <a:latin typeface="Courier New" pitchFamily="34" charset="0"/>
                <a:ea typeface="Courier New" pitchFamily="34" charset="-122"/>
                <a:cs typeface="Courier New" pitchFamily="34" charset="-120"/>
              </a:rPr>
              <a:t>From Hype</a:t>
            </a:r>
            <a:endParaRPr lang="en-US" sz="5000" dirty="0"/>
          </a:p>
          <a:p>
            <a:pPr indent="0" marL="0">
              <a:buNone/>
            </a:pPr>
            <a:r>
              <a:rPr lang="en-US" sz="5000" b="1" dirty="0">
                <a:solidFill>
                  <a:srgbClr val="EEF0F8"/>
                </a:solidFill>
                <a:latin typeface="Courier New" pitchFamily="34" charset="0"/>
                <a:ea typeface="Courier New" pitchFamily="34" charset="-122"/>
                <a:cs typeface="Courier New" pitchFamily="34" charset="-120"/>
              </a:rPr>
              <a:t>to Production</a:t>
            </a:r>
            <a:endParaRPr lang="en-US" sz="5000" dirty="0"/>
          </a:p>
        </p:txBody>
      </p:sp>
      <p:sp>
        <p:nvSpPr>
          <p:cNvPr id="4" name="Text 2"/>
          <p:cNvSpPr txBox="1"/>
          <p:nvPr/>
        </p:nvSpPr>
        <p:spPr>
          <a:xfrm>
            <a:off x="548640" y="3474720"/>
            <a:ext cx="6583680" cy="457200"/>
          </a:xfrm>
          <a:prstGeom prst="rect">
            <a:avLst/>
          </a:prstGeom>
          <a:noFill/>
          <a:ln/>
        </p:spPr>
        <p:txBody>
          <a:bodyPr wrap="square" lIns="0" tIns="0" rIns="0" bIns="0" rtlCol="0" anchor="t"/>
          <a:lstStyle/>
          <a:p>
            <a:pPr indent="0" marL="0">
              <a:buNone/>
            </a:pPr>
            <a:r>
              <a:rPr lang="en-US" sz="2600" dirty="0">
                <a:solidFill>
                  <a:srgbClr val="4FD1E8"/>
                </a:solidFill>
                <a:latin typeface="Calibri" pitchFamily="34" charset="0"/>
                <a:ea typeface="Calibri" pitchFamily="34" charset="-122"/>
                <a:cs typeface="Calibri" pitchFamily="34" charset="-120"/>
              </a:rPr>
              <a:t>Vibe coding for professional developers</a:t>
            </a:r>
            <a:endParaRPr lang="en-US" sz="2600" dirty="0"/>
          </a:p>
        </p:txBody>
      </p:sp>
      <p:sp>
        <p:nvSpPr>
          <p:cNvPr id="5" name="Text 3"/>
          <p:cNvSpPr txBox="1"/>
          <p:nvPr/>
        </p:nvSpPr>
        <p:spPr>
          <a:xfrm>
            <a:off x="548640" y="4160520"/>
            <a:ext cx="6583680" cy="822960"/>
          </a:xfrm>
          <a:prstGeom prst="rect">
            <a:avLst/>
          </a:prstGeom>
          <a:noFill/>
          <a:ln/>
        </p:spPr>
        <p:txBody>
          <a:bodyPr wrap="square" lIns="0" tIns="0" rIns="0" bIns="0" rtlCol="0" anchor="t"/>
          <a:lstStyle/>
          <a:p>
            <a:pPr indent="0" marL="0">
              <a:buNone/>
            </a:pPr>
            <a:r>
              <a:rPr lang="en-US" sz="1800" dirty="0">
                <a:solidFill>
                  <a:srgbClr val="A3ABCB"/>
                </a:solidFill>
                <a:latin typeface="Calibri" pitchFamily="34" charset="0"/>
                <a:ea typeface="Calibri" pitchFamily="34" charset="-122"/>
                <a:cs typeface="Calibri" pitchFamily="34" charset="-120"/>
              </a:rPr>
              <a:t>One real project. Six lifecycle phases.</a:t>
            </a:r>
            <a:endParaRPr lang="en-US" sz="1800" dirty="0"/>
          </a:p>
          <a:p>
            <a:pPr indent="0" marL="0">
              <a:buNone/>
            </a:pPr>
            <a:r>
              <a:rPr lang="en-US" sz="1800" dirty="0">
                <a:solidFill>
                  <a:srgbClr val="A3ABCB"/>
                </a:solidFill>
                <a:latin typeface="Calibri" pitchFamily="34" charset="0"/>
                <a:ea typeface="Calibri" pitchFamily="34" charset="-122"/>
                <a:cs typeface="Calibri" pitchFamily="34" charset="-120"/>
              </a:rPr>
              <a:t>What AI changed, and what it didn't.</a:t>
            </a:r>
            <a:endParaRPr lang="en-US" sz="1800" dirty="0"/>
          </a:p>
        </p:txBody>
      </p:sp>
      <p:sp>
        <p:nvSpPr>
          <p:cNvPr id="6" name="Shape 4"/>
          <p:cNvSpPr/>
          <p:nvPr/>
        </p:nvSpPr>
        <p:spPr>
          <a:xfrm>
            <a:off x="7589520" y="1188720"/>
            <a:ext cx="4023360" cy="4297680"/>
          </a:xfrm>
          <a:prstGeom prst="roundRect">
            <a:avLst>
              <a:gd name="adj" fmla="val 1818"/>
            </a:avLst>
          </a:prstGeom>
          <a:solidFill>
            <a:srgbClr val="182041"/>
          </a:solidFill>
          <a:ln w="12700">
            <a:solidFill>
              <a:srgbClr val="182041"/>
            </a:solidFill>
            <a:prstDash val="solid"/>
          </a:ln>
        </p:spPr>
      </p:sp>
      <p:sp>
        <p:nvSpPr>
          <p:cNvPr id="7" name="Shape 5"/>
          <p:cNvSpPr/>
          <p:nvPr/>
        </p:nvSpPr>
        <p:spPr>
          <a:xfrm>
            <a:off x="7589520" y="1280160"/>
            <a:ext cx="4023360" cy="411480"/>
          </a:xfrm>
          <a:prstGeom prst="rect">
            <a:avLst/>
          </a:prstGeom>
          <a:solidFill>
            <a:srgbClr val="212B57"/>
          </a:solidFill>
          <a:ln w="12700">
            <a:solidFill>
              <a:srgbClr val="212B57"/>
            </a:solidFill>
            <a:prstDash val="solid"/>
          </a:ln>
        </p:spPr>
      </p:sp>
      <p:sp>
        <p:nvSpPr>
          <p:cNvPr id="8" name="Text 6"/>
          <p:cNvSpPr txBox="1"/>
          <p:nvPr/>
        </p:nvSpPr>
        <p:spPr>
          <a:xfrm>
            <a:off x="7863840" y="1298448"/>
            <a:ext cx="3474720" cy="365760"/>
          </a:xfrm>
          <a:prstGeom prst="rect">
            <a:avLst/>
          </a:prstGeom>
          <a:noFill/>
          <a:ln/>
        </p:spPr>
        <p:txBody>
          <a:bodyPr wrap="square" lIns="0" tIns="0" rIns="0" bIns="0" rtlCol="0" anchor="ctr"/>
          <a:lstStyle/>
          <a:p>
            <a:pPr indent="0" marL="0">
              <a:buNone/>
            </a:pPr>
            <a:r>
              <a:rPr lang="en-US" sz="1300" b="1" dirty="0">
                <a:solidFill>
                  <a:srgbClr val="A3ABCB"/>
                </a:solidFill>
                <a:latin typeface="Courier New" pitchFamily="34" charset="0"/>
                <a:ea typeface="Courier New" pitchFamily="34" charset="-122"/>
                <a:cs typeface="Courier New" pitchFamily="34" charset="-120"/>
              </a:rPr>
              <a:t>DOS CLOUD</a:t>
            </a:r>
            <a:endParaRPr lang="en-US" sz="1300" dirty="0"/>
          </a:p>
        </p:txBody>
      </p:sp>
      <p:sp>
        <p:nvSpPr>
          <p:cNvPr id="9" name="Text 7"/>
          <p:cNvSpPr txBox="1"/>
          <p:nvPr/>
        </p:nvSpPr>
        <p:spPr>
          <a:xfrm>
            <a:off x="7909560" y="1965960"/>
            <a:ext cx="3474720" cy="3291840"/>
          </a:xfrm>
          <a:prstGeom prst="rect">
            <a:avLst/>
          </a:prstGeom>
          <a:noFill/>
          <a:ln/>
        </p:spPr>
        <p:txBody>
          <a:bodyPr wrap="square" lIns="0" tIns="0" rIns="0" bIns="0" rtlCol="0" anchor="t"/>
          <a:lstStyle/>
          <a:p>
            <a:pPr indent="0" marL="0">
              <a:spcAft>
                <a:spcPts val="1000"/>
              </a:spcAft>
              <a:buNone/>
            </a:pPr>
            <a:r>
              <a:rPr lang="en-US" sz="1700" b="1" dirty="0">
                <a:solidFill>
                  <a:srgbClr val="5EE08A"/>
                </a:solidFill>
                <a:latin typeface="Courier New" pitchFamily="34" charset="0"/>
                <a:ea typeface="Courier New" pitchFamily="34" charset="-122"/>
                <a:cs typeface="Courier New" pitchFamily="34" charset="-120"/>
              </a:rPr>
              <a:t>C:\&gt; IDEATE /SPIKE</a:t>
            </a:r>
            <a:endParaRPr lang="en-US" sz="1700" dirty="0"/>
          </a:p>
          <a:p>
            <a:pPr indent="0" marL="0">
              <a:spcAft>
                <a:spcPts val="1000"/>
              </a:spcAft>
              <a:buNone/>
            </a:pPr>
            <a:r>
              <a:rPr lang="en-US" sz="1700" b="1" dirty="0">
                <a:solidFill>
                  <a:srgbClr val="5EE08A"/>
                </a:solidFill>
                <a:latin typeface="Courier New" pitchFamily="34" charset="0"/>
                <a:ea typeface="Courier New" pitchFamily="34" charset="-122"/>
                <a:cs typeface="Courier New" pitchFamily="34" charset="-120"/>
              </a:rPr>
              <a:t>C:\&gt; ARCHITECT /PLAN</a:t>
            </a:r>
            <a:endParaRPr lang="en-US" sz="1700" dirty="0"/>
          </a:p>
          <a:p>
            <a:pPr indent="0" marL="0">
              <a:spcAft>
                <a:spcPts val="1000"/>
              </a:spcAft>
              <a:buNone/>
            </a:pPr>
            <a:r>
              <a:rPr lang="en-US" sz="1700" b="1" dirty="0">
                <a:solidFill>
                  <a:srgbClr val="5EE08A"/>
                </a:solidFill>
                <a:latin typeface="Courier New" pitchFamily="34" charset="0"/>
                <a:ea typeface="Courier New" pitchFamily="34" charset="-122"/>
                <a:cs typeface="Courier New" pitchFamily="34" charset="-120"/>
              </a:rPr>
              <a:t>C:\&gt; BUILD /TEST</a:t>
            </a:r>
            <a:endParaRPr lang="en-US" sz="1700" dirty="0"/>
          </a:p>
          <a:p>
            <a:pPr indent="0" marL="0">
              <a:spcAft>
                <a:spcPts val="1000"/>
              </a:spcAft>
              <a:buNone/>
            </a:pPr>
            <a:r>
              <a:rPr lang="en-US" sz="1700" b="1" dirty="0">
                <a:solidFill>
                  <a:srgbClr val="5EE08A"/>
                </a:solidFill>
                <a:latin typeface="Courier New" pitchFamily="34" charset="0"/>
                <a:ea typeface="Courier New" pitchFamily="34" charset="-122"/>
                <a:cs typeface="Courier New" pitchFamily="34" charset="-120"/>
              </a:rPr>
              <a:t>C:\&gt; HARDEN /SECURE</a:t>
            </a:r>
            <a:endParaRPr lang="en-US" sz="1700" dirty="0"/>
          </a:p>
          <a:p>
            <a:pPr indent="0" marL="0">
              <a:spcAft>
                <a:spcPts val="1000"/>
              </a:spcAft>
              <a:buNone/>
            </a:pPr>
            <a:r>
              <a:rPr lang="en-US" sz="1700" b="1" dirty="0">
                <a:solidFill>
                  <a:srgbClr val="5EE08A"/>
                </a:solidFill>
                <a:latin typeface="Courier New" pitchFamily="34" charset="0"/>
                <a:ea typeface="Courier New" pitchFamily="34" charset="-122"/>
                <a:cs typeface="Courier New" pitchFamily="34" charset="-120"/>
              </a:rPr>
              <a:t>C:\&gt; OPERATE</a:t>
            </a:r>
            <a:endParaRPr lang="en-US" sz="1700" dirty="0"/>
          </a:p>
          <a:p>
            <a:pPr indent="0" marL="0">
              <a:spcAft>
                <a:spcPts val="1000"/>
              </a:spcAft>
              <a:buNone/>
            </a:pPr>
            <a:r>
              <a:rPr lang="en-US" sz="1700" b="1" dirty="0">
                <a:solidFill>
                  <a:srgbClr val="FFB000"/>
                </a:solidFill>
                <a:latin typeface="Courier New" pitchFamily="34" charset="0"/>
                <a:ea typeface="Courier New" pitchFamily="34" charset="-122"/>
                <a:cs typeface="Courier New" pitchFamily="34" charset="-120"/>
              </a:rPr>
              <a:t>C:\&gt; CHANGE /REWRITE_</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224"/>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t"/>
          <a:lstStyle/>
          <a:p>
            <a:pPr indent="0" marL="0">
              <a:buNone/>
            </a:pPr>
            <a:r>
              <a:rPr lang="en-US" sz="1400" b="1" dirty="0">
                <a:solidFill>
                  <a:srgbClr val="FFB000"/>
                </a:solidFill>
                <a:latin typeface="Courier New" pitchFamily="34" charset="0"/>
                <a:ea typeface="Courier New" pitchFamily="34" charset="-122"/>
                <a:cs typeface="Courier New" pitchFamily="34" charset="-120"/>
              </a:rPr>
              <a:t>C:\&gt; TYPE README.TXT</a:t>
            </a:r>
            <a:endParaRPr lang="en-US" sz="1400" dirty="0"/>
          </a:p>
        </p:txBody>
      </p:sp>
      <p:sp>
        <p:nvSpPr>
          <p:cNvPr id="3" name="Text 1"/>
          <p:cNvSpPr txBox="1"/>
          <p:nvPr/>
        </p:nvSpPr>
        <p:spPr>
          <a:xfrm>
            <a:off x="548640" y="777240"/>
            <a:ext cx="11094415" cy="685800"/>
          </a:xfrm>
          <a:prstGeom prst="rect">
            <a:avLst/>
          </a:prstGeom>
          <a:noFill/>
          <a:ln/>
        </p:spPr>
        <p:txBody>
          <a:bodyPr wrap="square" lIns="0" tIns="0" rIns="0" bIns="0" rtlCol="0" anchor="ctr"/>
          <a:lstStyle/>
          <a:p>
            <a:pPr indent="0" marL="0">
              <a:buNone/>
            </a:pPr>
            <a:r>
              <a:rPr lang="en-US" sz="3200" b="1" dirty="0">
                <a:solidFill>
                  <a:srgbClr val="EEF0F8"/>
                </a:solidFill>
                <a:latin typeface="Courier New" pitchFamily="34" charset="0"/>
                <a:ea typeface="Courier New" pitchFamily="34" charset="-122"/>
                <a:cs typeface="Courier New" pitchFamily="34" charset="-120"/>
              </a:rPr>
              <a:t>The demo project: DOS Cloud</a:t>
            </a:r>
            <a:endParaRPr lang="en-US" sz="3200" dirty="0"/>
          </a:p>
        </p:txBody>
      </p:sp>
      <p:sp>
        <p:nvSpPr>
          <p:cNvPr id="4" name="Text 2"/>
          <p:cNvSpPr txBox="1"/>
          <p:nvPr/>
        </p:nvSpPr>
        <p:spPr>
          <a:xfrm>
            <a:off x="548640" y="1691640"/>
            <a:ext cx="5669280" cy="731520"/>
          </a:xfrm>
          <a:prstGeom prst="rect">
            <a:avLst/>
          </a:prstGeom>
          <a:noFill/>
          <a:ln/>
        </p:spPr>
        <p:txBody>
          <a:bodyPr wrap="square" lIns="0" tIns="0" rIns="0" bIns="0" rtlCol="0" anchor="t"/>
          <a:lstStyle/>
          <a:p>
            <a:pPr indent="0" marL="0">
              <a:buNone/>
            </a:pPr>
            <a:r>
              <a:rPr lang="en-US" sz="2000" dirty="0">
                <a:solidFill>
                  <a:srgbClr val="4FD1E8"/>
                </a:solidFill>
                <a:latin typeface="Calibri" pitchFamily="34" charset="0"/>
                <a:ea typeface="Calibri" pitchFamily="34" charset="-122"/>
                <a:cs typeface="Calibri" pitchFamily="34" charset="-120"/>
              </a:rPr>
              <a:t>A browser-based DOS gaming platform, built phase by phase with AI.</a:t>
            </a:r>
            <a:endParaRPr lang="en-US" sz="2000" dirty="0"/>
          </a:p>
        </p:txBody>
      </p:sp>
      <p:sp>
        <p:nvSpPr>
          <p:cNvPr id="5" name="Text 3"/>
          <p:cNvSpPr txBox="1"/>
          <p:nvPr/>
        </p:nvSpPr>
        <p:spPr>
          <a:xfrm>
            <a:off x="548640" y="2560320"/>
            <a:ext cx="5669280" cy="3108960"/>
          </a:xfrm>
          <a:prstGeom prst="rect">
            <a:avLst/>
          </a:prstGeom>
          <a:noFill/>
          <a:ln/>
        </p:spPr>
        <p:txBody>
          <a:bodyPr wrap="square" lIns="0" tIns="0" rIns="0" bIns="0" rtlCol="0" anchor="t"/>
          <a:lstStyle/>
          <a:p>
            <a:pPr marL="203200" indent="-203200">
              <a:spcAft>
                <a:spcPts val="1600"/>
              </a:spcAft>
              <a:buSzPct val="100000"/>
              <a:buChar char="•"/>
            </a:pPr>
            <a:r>
              <a:rPr lang="en-US" sz="1800" dirty="0">
                <a:solidFill>
                  <a:srgbClr val="EEF0F8"/>
                </a:solidFill>
                <a:latin typeface="Calibri" pitchFamily="34" charset="0"/>
                <a:ea typeface="Calibri" pitchFamily="34" charset="-122"/>
                <a:cs typeface="Calibri" pitchFamily="34" charset="-120"/>
              </a:rPr>
              <a:t>Classic DOS games run in the browser on DOSBox-X</a:t>
            </a:r>
            <a:endParaRPr lang="en-US" sz="1800" dirty="0"/>
          </a:p>
          <a:p>
            <a:pPr marL="203200" indent="-203200">
              <a:spcAft>
                <a:spcPts val="1600"/>
              </a:spcAft>
              <a:buSzPct val="100000"/>
              <a:buChar char="•"/>
            </a:pPr>
            <a:r>
              <a:rPr lang="en-US" sz="1800" dirty="0">
                <a:solidFill>
                  <a:srgbClr val="EEF0F8"/>
                </a:solidFill>
                <a:latin typeface="Calibri" pitchFamily="34" charset="0"/>
                <a:ea typeface="Calibri" pitchFamily="34" charset="-122"/>
                <a:cs typeface="Calibri" pitchFamily="34" charset="-120"/>
              </a:rPr>
              <a:t>A Node server handles identity, the game catalog, installs and launch authorization</a:t>
            </a:r>
            <a:endParaRPr lang="en-US" sz="1800" dirty="0"/>
          </a:p>
          <a:p>
            <a:pPr marL="203200" indent="-203200">
              <a:spcAft>
                <a:spcPts val="1600"/>
              </a:spcAft>
              <a:buSzPct val="100000"/>
              <a:buChar char="•"/>
            </a:pPr>
            <a:r>
              <a:rPr lang="en-US" sz="1800" dirty="0">
                <a:solidFill>
                  <a:srgbClr val="EEF0F8"/>
                </a:solidFill>
                <a:latin typeface="Calibri" pitchFamily="34" charset="0"/>
                <a:ea typeface="Calibri" pitchFamily="34" charset="-122"/>
                <a:cs typeface="Calibri" pitchFamily="34" charset="-120"/>
              </a:rPr>
              <a:t>Every user's DOS C: drive lives on the server: saves, scores and configs persist</a:t>
            </a:r>
            <a:endParaRPr lang="en-US" sz="1800" dirty="0"/>
          </a:p>
          <a:p>
            <a:pPr marL="203200" indent="-203200">
              <a:spcAft>
                <a:spcPts val="1600"/>
              </a:spcAft>
              <a:buSzPct val="100000"/>
              <a:buChar char="•"/>
            </a:pPr>
            <a:r>
              <a:rPr lang="en-US" sz="1800" dirty="0">
                <a:solidFill>
                  <a:srgbClr val="EEF0F8"/>
                </a:solidFill>
                <a:latin typeface="Calibri" pitchFamily="34" charset="0"/>
                <a:ea typeface="Calibri" pitchFamily="34" charset="-122"/>
                <a:cs typeface="Calibri" pitchFamily="34" charset="-120"/>
              </a:rPr>
              <a:t>Deployed to Azure Container Apps with SSO, logging and infrastructure as code</a:t>
            </a:r>
            <a:endParaRPr lang="en-US" sz="1800" dirty="0"/>
          </a:p>
        </p:txBody>
      </p:sp>
      <p:sp>
        <p:nvSpPr>
          <p:cNvPr id="6" name="Text 4"/>
          <p:cNvSpPr txBox="1"/>
          <p:nvPr/>
        </p:nvSpPr>
        <p:spPr>
          <a:xfrm>
            <a:off x="6675120" y="1737360"/>
            <a:ext cx="4937760" cy="365760"/>
          </a:xfrm>
          <a:prstGeom prst="rect">
            <a:avLst/>
          </a:prstGeom>
          <a:noFill/>
          <a:ln/>
        </p:spPr>
        <p:txBody>
          <a:bodyPr wrap="square" lIns="0" tIns="0" rIns="0" bIns="0" rtlCol="0" anchor="t"/>
          <a:lstStyle/>
          <a:p>
            <a:pPr indent="0" marL="0">
              <a:buNone/>
            </a:pPr>
            <a:r>
              <a:rPr lang="en-US" sz="1600" b="1" dirty="0">
                <a:solidFill>
                  <a:srgbClr val="FFB000"/>
                </a:solidFill>
                <a:latin typeface="Calibri" pitchFamily="34" charset="0"/>
                <a:ea typeface="Calibri" pitchFamily="34" charset="-122"/>
                <a:cs typeface="Calibri" pitchFamily="34" charset="-120"/>
              </a:rPr>
              <a:t>Why a toy? Because the constraints are real:</a:t>
            </a:r>
            <a:endParaRPr lang="en-US" sz="1600" dirty="0"/>
          </a:p>
        </p:txBody>
      </p:sp>
      <p:sp>
        <p:nvSpPr>
          <p:cNvPr id="7" name="Shape 5"/>
          <p:cNvSpPr/>
          <p:nvPr/>
        </p:nvSpPr>
        <p:spPr>
          <a:xfrm>
            <a:off x="6675120" y="2286000"/>
            <a:ext cx="4965192" cy="914400"/>
          </a:xfrm>
          <a:prstGeom prst="roundRect">
            <a:avLst>
              <a:gd name="adj" fmla="val 8000"/>
            </a:avLst>
          </a:prstGeom>
          <a:solidFill>
            <a:srgbClr val="182041"/>
          </a:solidFill>
          <a:ln w="12700">
            <a:solidFill>
              <a:srgbClr val="182041"/>
            </a:solidFill>
            <a:prstDash val="solid"/>
          </a:ln>
        </p:spPr>
      </p:sp>
      <p:sp>
        <p:nvSpPr>
          <p:cNvPr id="8" name="Shape 6"/>
          <p:cNvSpPr/>
          <p:nvPr/>
        </p:nvSpPr>
        <p:spPr>
          <a:xfrm>
            <a:off x="6858000" y="2468880"/>
            <a:ext cx="548640" cy="548640"/>
          </a:xfrm>
          <a:prstGeom prst="ellipse">
            <a:avLst/>
          </a:prstGeom>
          <a:solidFill>
            <a:srgbClr val="212B57"/>
          </a:solidFill>
          <a:ln w="12700">
            <a:solidFill>
              <a:srgbClr val="212B57"/>
            </a:solidFill>
            <a:prstDash val="solid"/>
          </a:ln>
        </p:spPr>
      </p:sp>
      <p:pic>
        <p:nvPicPr>
          <p:cNvPr id="9" name="Image 0" descr="preencoded.png">    </p:cNvPr>
          <p:cNvPicPr>
            <a:picLocks noChangeAspect="1"/>
          </p:cNvPicPr>
          <p:nvPr/>
        </p:nvPicPr>
        <p:blipFill>
          <a:blip r:embed="rId1"/>
          <a:stretch>
            <a:fillRect/>
          </a:stretch>
        </p:blipFill>
        <p:spPr>
          <a:xfrm>
            <a:off x="6978701" y="2589581"/>
            <a:ext cx="307238" cy="307238"/>
          </a:xfrm>
          <a:prstGeom prst="rect">
            <a:avLst/>
          </a:prstGeom>
        </p:spPr>
      </p:pic>
      <p:sp>
        <p:nvSpPr>
          <p:cNvPr id="10" name="Text 7"/>
          <p:cNvSpPr txBox="1"/>
          <p:nvPr/>
        </p:nvSpPr>
        <p:spPr>
          <a:xfrm>
            <a:off x="7589520" y="2423160"/>
            <a:ext cx="3931920" cy="320040"/>
          </a:xfrm>
          <a:prstGeom prst="rect">
            <a:avLst/>
          </a:prstGeom>
          <a:noFill/>
          <a:ln/>
        </p:spPr>
        <p:txBody>
          <a:bodyPr wrap="square" lIns="0" tIns="0" rIns="0" bIns="0" rtlCol="0" anchor="t"/>
          <a:lstStyle/>
          <a:p>
            <a:pPr indent="0" marL="0">
              <a:buNone/>
            </a:pPr>
            <a:r>
              <a:rPr lang="en-US" sz="1600" b="1" dirty="0">
                <a:solidFill>
                  <a:srgbClr val="EEF0F8"/>
                </a:solidFill>
                <a:latin typeface="Calibri" pitchFamily="34" charset="0"/>
                <a:ea typeface="Calibri" pitchFamily="34" charset="-122"/>
                <a:cs typeface="Calibri" pitchFamily="34" charset="-120"/>
              </a:rPr>
              <a:t>A synchronous filesystem</a:t>
            </a:r>
            <a:endParaRPr lang="en-US" sz="1600" dirty="0"/>
          </a:p>
        </p:txBody>
      </p:sp>
      <p:sp>
        <p:nvSpPr>
          <p:cNvPr id="11" name="Text 8"/>
          <p:cNvSpPr txBox="1"/>
          <p:nvPr/>
        </p:nvSpPr>
        <p:spPr>
          <a:xfrm>
            <a:off x="7589520" y="2743200"/>
            <a:ext cx="3931920" cy="365760"/>
          </a:xfrm>
          <a:prstGeom prst="rect">
            <a:avLst/>
          </a:prstGeom>
          <a:noFill/>
          <a:ln/>
        </p:spPr>
        <p:txBody>
          <a:bodyPr wrap="square" lIns="0" tIns="0" rIns="0" bIns="0" rtlCol="0" anchor="t"/>
          <a:lstStyle/>
          <a:p>
            <a:pPr indent="0" marL="0">
              <a:buNone/>
            </a:pPr>
            <a:r>
              <a:rPr lang="en-US" sz="1300" dirty="0">
                <a:solidFill>
                  <a:srgbClr val="A3ABCB"/>
                </a:solidFill>
                <a:latin typeface="Calibri" pitchFamily="34" charset="0"/>
                <a:ea typeface="Calibri" pitchFamily="34" charset="-122"/>
                <a:cs typeface="Calibri" pitchFamily="34" charset="-120"/>
              </a:rPr>
              <a:t>DOS expects blocking file calls; browsers are asynchronous.</a:t>
            </a:r>
            <a:endParaRPr lang="en-US" sz="1300" dirty="0"/>
          </a:p>
        </p:txBody>
      </p:sp>
      <p:sp>
        <p:nvSpPr>
          <p:cNvPr id="12" name="Shape 9"/>
          <p:cNvSpPr/>
          <p:nvPr/>
        </p:nvSpPr>
        <p:spPr>
          <a:xfrm>
            <a:off x="6675120" y="3383280"/>
            <a:ext cx="4965192" cy="914400"/>
          </a:xfrm>
          <a:prstGeom prst="roundRect">
            <a:avLst>
              <a:gd name="adj" fmla="val 8000"/>
            </a:avLst>
          </a:prstGeom>
          <a:solidFill>
            <a:srgbClr val="182041"/>
          </a:solidFill>
          <a:ln w="12700">
            <a:solidFill>
              <a:srgbClr val="182041"/>
            </a:solidFill>
            <a:prstDash val="solid"/>
          </a:ln>
        </p:spPr>
      </p:sp>
      <p:sp>
        <p:nvSpPr>
          <p:cNvPr id="13" name="Shape 10"/>
          <p:cNvSpPr/>
          <p:nvPr/>
        </p:nvSpPr>
        <p:spPr>
          <a:xfrm>
            <a:off x="6858000" y="3566160"/>
            <a:ext cx="548640" cy="548640"/>
          </a:xfrm>
          <a:prstGeom prst="ellipse">
            <a:avLst/>
          </a:prstGeom>
          <a:solidFill>
            <a:srgbClr val="212B57"/>
          </a:solidFill>
          <a:ln w="12700">
            <a:solidFill>
              <a:srgbClr val="212B57"/>
            </a:solidFill>
            <a:prstDash val="solid"/>
          </a:ln>
        </p:spPr>
      </p:sp>
      <p:pic>
        <p:nvPicPr>
          <p:cNvPr id="14" name="Image 1" descr="preencoded.png">    </p:cNvPr>
          <p:cNvPicPr>
            <a:picLocks noChangeAspect="1"/>
          </p:cNvPicPr>
          <p:nvPr/>
        </p:nvPicPr>
        <p:blipFill>
          <a:blip r:embed="rId2"/>
          <a:stretch>
            <a:fillRect/>
          </a:stretch>
        </p:blipFill>
        <p:spPr>
          <a:xfrm>
            <a:off x="6978701" y="3686861"/>
            <a:ext cx="307238" cy="307238"/>
          </a:xfrm>
          <a:prstGeom prst="rect">
            <a:avLst/>
          </a:prstGeom>
        </p:spPr>
      </p:pic>
      <p:sp>
        <p:nvSpPr>
          <p:cNvPr id="15" name="Text 11"/>
          <p:cNvSpPr txBox="1"/>
          <p:nvPr/>
        </p:nvSpPr>
        <p:spPr>
          <a:xfrm>
            <a:off x="7589520" y="3520440"/>
            <a:ext cx="3931920" cy="320040"/>
          </a:xfrm>
          <a:prstGeom prst="rect">
            <a:avLst/>
          </a:prstGeom>
          <a:noFill/>
          <a:ln/>
        </p:spPr>
        <p:txBody>
          <a:bodyPr wrap="square" lIns="0" tIns="0" rIns="0" bIns="0" rtlCol="0" anchor="t"/>
          <a:lstStyle/>
          <a:p>
            <a:pPr indent="0" marL="0">
              <a:buNone/>
            </a:pPr>
            <a:r>
              <a:rPr lang="en-US" sz="1600" b="1" dirty="0">
                <a:solidFill>
                  <a:srgbClr val="EEF0F8"/>
                </a:solidFill>
                <a:latin typeface="Calibri" pitchFamily="34" charset="0"/>
                <a:ea typeface="Calibri" pitchFamily="34" charset="-122"/>
                <a:cs typeface="Calibri" pitchFamily="34" charset="-120"/>
              </a:rPr>
              <a:t>1990s LAN networking</a:t>
            </a:r>
            <a:endParaRPr lang="en-US" sz="1600" dirty="0"/>
          </a:p>
        </p:txBody>
      </p:sp>
      <p:sp>
        <p:nvSpPr>
          <p:cNvPr id="16" name="Text 12"/>
          <p:cNvSpPr txBox="1"/>
          <p:nvPr/>
        </p:nvSpPr>
        <p:spPr>
          <a:xfrm>
            <a:off x="7589520" y="3840480"/>
            <a:ext cx="3931920" cy="365760"/>
          </a:xfrm>
          <a:prstGeom prst="rect">
            <a:avLst/>
          </a:prstGeom>
          <a:noFill/>
          <a:ln/>
        </p:spPr>
        <p:txBody>
          <a:bodyPr wrap="square" lIns="0" tIns="0" rIns="0" bIns="0" rtlCol="0" anchor="t"/>
          <a:lstStyle/>
          <a:p>
            <a:pPr indent="0" marL="0">
              <a:buNone/>
            </a:pPr>
            <a:r>
              <a:rPr lang="en-US" sz="1300" dirty="0">
                <a:solidFill>
                  <a:srgbClr val="A3ABCB"/>
                </a:solidFill>
                <a:latin typeface="Calibri" pitchFamily="34" charset="0"/>
                <a:ea typeface="Calibri" pitchFamily="34" charset="-122"/>
                <a:cs typeface="Calibri" pitchFamily="34" charset="-120"/>
              </a:rPr>
              <a:t>IPX multiplayer across the internet, with no open ports.</a:t>
            </a:r>
            <a:endParaRPr lang="en-US" sz="1300" dirty="0"/>
          </a:p>
        </p:txBody>
      </p:sp>
      <p:sp>
        <p:nvSpPr>
          <p:cNvPr id="17" name="Shape 13"/>
          <p:cNvSpPr/>
          <p:nvPr/>
        </p:nvSpPr>
        <p:spPr>
          <a:xfrm>
            <a:off x="6675120" y="4480560"/>
            <a:ext cx="4965192" cy="914400"/>
          </a:xfrm>
          <a:prstGeom prst="roundRect">
            <a:avLst>
              <a:gd name="adj" fmla="val 8000"/>
            </a:avLst>
          </a:prstGeom>
          <a:solidFill>
            <a:srgbClr val="182041"/>
          </a:solidFill>
          <a:ln w="12700">
            <a:solidFill>
              <a:srgbClr val="182041"/>
            </a:solidFill>
            <a:prstDash val="solid"/>
          </a:ln>
        </p:spPr>
      </p:sp>
      <p:sp>
        <p:nvSpPr>
          <p:cNvPr id="18" name="Shape 14"/>
          <p:cNvSpPr/>
          <p:nvPr/>
        </p:nvSpPr>
        <p:spPr>
          <a:xfrm>
            <a:off x="6858000" y="4663440"/>
            <a:ext cx="548640" cy="548640"/>
          </a:xfrm>
          <a:prstGeom prst="ellipse">
            <a:avLst/>
          </a:prstGeom>
          <a:solidFill>
            <a:srgbClr val="212B57"/>
          </a:solidFill>
          <a:ln w="12700">
            <a:solidFill>
              <a:srgbClr val="212B57"/>
            </a:solidFill>
            <a:prstDash val="solid"/>
          </a:ln>
        </p:spPr>
      </p:sp>
      <p:pic>
        <p:nvPicPr>
          <p:cNvPr id="19" name="Image 2" descr="preencoded.png">    </p:cNvPr>
          <p:cNvPicPr>
            <a:picLocks noChangeAspect="1"/>
          </p:cNvPicPr>
          <p:nvPr/>
        </p:nvPicPr>
        <p:blipFill>
          <a:blip r:embed="rId3"/>
          <a:stretch>
            <a:fillRect/>
          </a:stretch>
        </p:blipFill>
        <p:spPr>
          <a:xfrm>
            <a:off x="6978701" y="4784141"/>
            <a:ext cx="307238" cy="307238"/>
          </a:xfrm>
          <a:prstGeom prst="rect">
            <a:avLst/>
          </a:prstGeom>
        </p:spPr>
      </p:pic>
      <p:sp>
        <p:nvSpPr>
          <p:cNvPr id="20" name="Text 15"/>
          <p:cNvSpPr txBox="1"/>
          <p:nvPr/>
        </p:nvSpPr>
        <p:spPr>
          <a:xfrm>
            <a:off x="7589520" y="4617720"/>
            <a:ext cx="3931920" cy="320040"/>
          </a:xfrm>
          <a:prstGeom prst="rect">
            <a:avLst/>
          </a:prstGeom>
          <a:noFill/>
          <a:ln/>
        </p:spPr>
        <p:txBody>
          <a:bodyPr wrap="square" lIns="0" tIns="0" rIns="0" bIns="0" rtlCol="0" anchor="t"/>
          <a:lstStyle/>
          <a:p>
            <a:pPr indent="0" marL="0">
              <a:buNone/>
            </a:pPr>
            <a:r>
              <a:rPr lang="en-US" sz="1600" b="1" dirty="0">
                <a:solidFill>
                  <a:srgbClr val="EEF0F8"/>
                </a:solidFill>
                <a:latin typeface="Calibri" pitchFamily="34" charset="0"/>
                <a:ea typeface="Calibri" pitchFamily="34" charset="-122"/>
                <a:cs typeface="Calibri" pitchFamily="34" charset="-120"/>
              </a:rPr>
              <a:t>Production concerns</a:t>
            </a:r>
            <a:endParaRPr lang="en-US" sz="1600" dirty="0"/>
          </a:p>
        </p:txBody>
      </p:sp>
      <p:sp>
        <p:nvSpPr>
          <p:cNvPr id="21" name="Text 16"/>
          <p:cNvSpPr txBox="1"/>
          <p:nvPr/>
        </p:nvSpPr>
        <p:spPr>
          <a:xfrm>
            <a:off x="7589520" y="4937760"/>
            <a:ext cx="3931920" cy="365760"/>
          </a:xfrm>
          <a:prstGeom prst="rect">
            <a:avLst/>
          </a:prstGeom>
          <a:noFill/>
          <a:ln/>
        </p:spPr>
        <p:txBody>
          <a:bodyPr wrap="square" lIns="0" tIns="0" rIns="0" bIns="0" rtlCol="0" anchor="t"/>
          <a:lstStyle/>
          <a:p>
            <a:pPr indent="0" marL="0">
              <a:buNone/>
            </a:pPr>
            <a:r>
              <a:rPr lang="en-US" sz="1300" dirty="0">
                <a:solidFill>
                  <a:srgbClr val="A3ABCB"/>
                </a:solidFill>
                <a:latin typeface="Calibri" pitchFamily="34" charset="0"/>
                <a:ea typeface="Calibri" pitchFamily="34" charset="-122"/>
                <a:cs typeface="Calibri" pitchFamily="34" charset="-120"/>
              </a:rPr>
              <a:t>Multi-user isolation, OIDC, cloud storage, operations.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224"/>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t"/>
          <a:lstStyle/>
          <a:p>
            <a:pPr indent="0" marL="0">
              <a:buNone/>
            </a:pPr>
            <a:r>
              <a:rPr lang="en-US" sz="1400" b="1" dirty="0">
                <a:solidFill>
                  <a:srgbClr val="FFB000"/>
                </a:solidFill>
                <a:latin typeface="Courier New" pitchFamily="34" charset="0"/>
                <a:ea typeface="Courier New" pitchFamily="34" charset="-122"/>
                <a:cs typeface="Courier New" pitchFamily="34" charset="-120"/>
              </a:rPr>
              <a:t>C:\&gt; DIR /LIFECYCLE</a:t>
            </a:r>
            <a:endParaRPr lang="en-US" sz="1400" dirty="0"/>
          </a:p>
        </p:txBody>
      </p:sp>
      <p:sp>
        <p:nvSpPr>
          <p:cNvPr id="3" name="Text 1"/>
          <p:cNvSpPr txBox="1"/>
          <p:nvPr/>
        </p:nvSpPr>
        <p:spPr>
          <a:xfrm>
            <a:off x="548640" y="777240"/>
            <a:ext cx="11094415" cy="685800"/>
          </a:xfrm>
          <a:prstGeom prst="rect">
            <a:avLst/>
          </a:prstGeom>
          <a:noFill/>
          <a:ln/>
        </p:spPr>
        <p:txBody>
          <a:bodyPr wrap="square" lIns="0" tIns="0" rIns="0" bIns="0" rtlCol="0" anchor="ctr"/>
          <a:lstStyle/>
          <a:p>
            <a:pPr indent="0" marL="0">
              <a:buNone/>
            </a:pPr>
            <a:r>
              <a:rPr lang="en-US" sz="3200" b="1" dirty="0">
                <a:solidFill>
                  <a:srgbClr val="EEF0F8"/>
                </a:solidFill>
                <a:latin typeface="Courier New" pitchFamily="34" charset="0"/>
                <a:ea typeface="Courier New" pitchFamily="34" charset="-122"/>
                <a:cs typeface="Courier New" pitchFamily="34" charset="-120"/>
              </a:rPr>
              <a:t>Six phases, six frozen snapshots</a:t>
            </a:r>
            <a:endParaRPr lang="en-US" sz="3200" dirty="0"/>
          </a:p>
        </p:txBody>
      </p:sp>
      <p:sp>
        <p:nvSpPr>
          <p:cNvPr id="4" name="Shape 2"/>
          <p:cNvSpPr/>
          <p:nvPr/>
        </p:nvSpPr>
        <p:spPr>
          <a:xfrm>
            <a:off x="1394460" y="2240280"/>
            <a:ext cx="9402775" cy="0"/>
          </a:xfrm>
          <a:prstGeom prst="line">
            <a:avLst/>
          </a:prstGeom>
          <a:noFill/>
          <a:ln w="38100">
            <a:solidFill>
              <a:srgbClr val="212B57"/>
            </a:solidFill>
            <a:prstDash val="solid"/>
          </a:ln>
        </p:spPr>
      </p:sp>
      <p:sp>
        <p:nvSpPr>
          <p:cNvPr id="5" name="Shape 3"/>
          <p:cNvSpPr/>
          <p:nvPr/>
        </p:nvSpPr>
        <p:spPr>
          <a:xfrm>
            <a:off x="1074420" y="1920240"/>
            <a:ext cx="640080" cy="640080"/>
          </a:xfrm>
          <a:prstGeom prst="ellipse">
            <a:avLst/>
          </a:prstGeom>
          <a:solidFill>
            <a:srgbClr val="212B57"/>
          </a:solidFill>
          <a:ln w="25400">
            <a:solidFill>
              <a:srgbClr val="FFB000"/>
            </a:solidFill>
            <a:prstDash val="solid"/>
          </a:ln>
        </p:spPr>
      </p:sp>
      <p:sp>
        <p:nvSpPr>
          <p:cNvPr id="6" name="Text 4"/>
          <p:cNvSpPr txBox="1"/>
          <p:nvPr/>
        </p:nvSpPr>
        <p:spPr>
          <a:xfrm>
            <a:off x="1074420" y="1920240"/>
            <a:ext cx="640080" cy="640080"/>
          </a:xfrm>
          <a:prstGeom prst="rect">
            <a:avLst/>
          </a:prstGeom>
          <a:noFill/>
          <a:ln/>
        </p:spPr>
        <p:txBody>
          <a:bodyPr wrap="square" lIns="0" tIns="0" rIns="0" bIns="0" rtlCol="0" anchor="ctr"/>
          <a:lstStyle/>
          <a:p>
            <a:pPr algn="ctr" indent="0" marL="0">
              <a:buNone/>
            </a:pPr>
            <a:r>
              <a:rPr lang="en-US" sz="1600" b="1" dirty="0">
                <a:solidFill>
                  <a:srgbClr val="FFB000"/>
                </a:solidFill>
                <a:latin typeface="Courier New" pitchFamily="34" charset="0"/>
                <a:ea typeface="Courier New" pitchFamily="34" charset="-122"/>
                <a:cs typeface="Courier New" pitchFamily="34" charset="-120"/>
              </a:rPr>
              <a:t>01</a:t>
            </a:r>
            <a:endParaRPr lang="en-US" sz="1600" dirty="0"/>
          </a:p>
        </p:txBody>
      </p:sp>
      <p:sp>
        <p:nvSpPr>
          <p:cNvPr id="7" name="Shape 5"/>
          <p:cNvSpPr/>
          <p:nvPr/>
        </p:nvSpPr>
        <p:spPr>
          <a:xfrm>
            <a:off x="548640" y="2834640"/>
            <a:ext cx="1691640" cy="2286000"/>
          </a:xfrm>
          <a:prstGeom prst="roundRect">
            <a:avLst>
              <a:gd name="adj" fmla="val 4324"/>
            </a:avLst>
          </a:prstGeom>
          <a:solidFill>
            <a:srgbClr val="182041"/>
          </a:solidFill>
          <a:ln w="12700">
            <a:solidFill>
              <a:srgbClr val="182041"/>
            </a:solidFill>
            <a:prstDash val="solid"/>
          </a:ln>
        </p:spPr>
      </p:sp>
      <p:sp>
        <p:nvSpPr>
          <p:cNvPr id="8" name="Text 6"/>
          <p:cNvSpPr txBox="1"/>
          <p:nvPr/>
        </p:nvSpPr>
        <p:spPr>
          <a:xfrm>
            <a:off x="713232" y="3017520"/>
            <a:ext cx="1362456" cy="685800"/>
          </a:xfrm>
          <a:prstGeom prst="rect">
            <a:avLst/>
          </a:prstGeom>
          <a:noFill/>
          <a:ln/>
        </p:spPr>
        <p:txBody>
          <a:bodyPr wrap="square" lIns="0" tIns="0" rIns="0" bIns="0" rtlCol="0" anchor="t"/>
          <a:lstStyle/>
          <a:p>
            <a:pPr indent="0" marL="0">
              <a:buNone/>
            </a:pPr>
            <a:r>
              <a:rPr lang="en-US" sz="1800" b="1" dirty="0">
                <a:solidFill>
                  <a:srgbClr val="EEF0F8"/>
                </a:solidFill>
                <a:latin typeface="Calibri" pitchFamily="34" charset="0"/>
                <a:ea typeface="Calibri" pitchFamily="34" charset="-122"/>
                <a:cs typeface="Calibri" pitchFamily="34" charset="-120"/>
              </a:rPr>
              <a:t>Ideate &amp; Spike</a:t>
            </a:r>
            <a:endParaRPr lang="en-US" sz="1800" dirty="0"/>
          </a:p>
        </p:txBody>
      </p:sp>
      <p:sp>
        <p:nvSpPr>
          <p:cNvPr id="9" name="Text 7"/>
          <p:cNvSpPr txBox="1"/>
          <p:nvPr/>
        </p:nvSpPr>
        <p:spPr>
          <a:xfrm>
            <a:off x="713232" y="3749040"/>
            <a:ext cx="1362456" cy="1280160"/>
          </a:xfrm>
          <a:prstGeom prst="rect">
            <a:avLst/>
          </a:prstGeom>
          <a:noFill/>
          <a:ln/>
        </p:spPr>
        <p:txBody>
          <a:bodyPr wrap="square" lIns="0" tIns="0" rIns="0" bIns="0" rtlCol="0" anchor="t"/>
          <a:lstStyle/>
          <a:p>
            <a:pPr indent="0" marL="0">
              <a:buNone/>
            </a:pPr>
            <a:r>
              <a:rPr lang="en-US" sz="1500" dirty="0">
                <a:solidFill>
                  <a:srgbClr val="A3ABCB"/>
                </a:solidFill>
                <a:latin typeface="Calibri" pitchFamily="34" charset="0"/>
                <a:ea typeface="Calibri" pitchFamily="34" charset="-122"/>
                <a:cs typeface="Calibri" pitchFamily="34" charset="-120"/>
              </a:rPr>
              <a:t>Prove the riskiest assumption with throwaway code.</a:t>
            </a:r>
            <a:endParaRPr lang="en-US" sz="1500" dirty="0"/>
          </a:p>
        </p:txBody>
      </p:sp>
      <p:sp>
        <p:nvSpPr>
          <p:cNvPr id="10" name="Shape 8"/>
          <p:cNvSpPr/>
          <p:nvPr/>
        </p:nvSpPr>
        <p:spPr>
          <a:xfrm>
            <a:off x="2954975" y="1920240"/>
            <a:ext cx="640080" cy="640080"/>
          </a:xfrm>
          <a:prstGeom prst="ellipse">
            <a:avLst/>
          </a:prstGeom>
          <a:solidFill>
            <a:srgbClr val="212B57"/>
          </a:solidFill>
          <a:ln w="25400">
            <a:solidFill>
              <a:srgbClr val="FFB000"/>
            </a:solidFill>
            <a:prstDash val="solid"/>
          </a:ln>
        </p:spPr>
      </p:sp>
      <p:sp>
        <p:nvSpPr>
          <p:cNvPr id="11" name="Text 9"/>
          <p:cNvSpPr txBox="1"/>
          <p:nvPr/>
        </p:nvSpPr>
        <p:spPr>
          <a:xfrm>
            <a:off x="2954975" y="1920240"/>
            <a:ext cx="640080" cy="640080"/>
          </a:xfrm>
          <a:prstGeom prst="rect">
            <a:avLst/>
          </a:prstGeom>
          <a:noFill/>
          <a:ln/>
        </p:spPr>
        <p:txBody>
          <a:bodyPr wrap="square" lIns="0" tIns="0" rIns="0" bIns="0" rtlCol="0" anchor="ctr"/>
          <a:lstStyle/>
          <a:p>
            <a:pPr algn="ctr" indent="0" marL="0">
              <a:buNone/>
            </a:pPr>
            <a:r>
              <a:rPr lang="en-US" sz="1600" b="1" dirty="0">
                <a:solidFill>
                  <a:srgbClr val="FFB000"/>
                </a:solidFill>
                <a:latin typeface="Courier New" pitchFamily="34" charset="0"/>
                <a:ea typeface="Courier New" pitchFamily="34" charset="-122"/>
                <a:cs typeface="Courier New" pitchFamily="34" charset="-120"/>
              </a:rPr>
              <a:t>02</a:t>
            </a:r>
            <a:endParaRPr lang="en-US" sz="1600" dirty="0"/>
          </a:p>
        </p:txBody>
      </p:sp>
      <p:sp>
        <p:nvSpPr>
          <p:cNvPr id="12" name="Shape 10"/>
          <p:cNvSpPr/>
          <p:nvPr/>
        </p:nvSpPr>
        <p:spPr>
          <a:xfrm>
            <a:off x="2429195" y="2834640"/>
            <a:ext cx="1691640" cy="2286000"/>
          </a:xfrm>
          <a:prstGeom prst="roundRect">
            <a:avLst>
              <a:gd name="adj" fmla="val 4324"/>
            </a:avLst>
          </a:prstGeom>
          <a:solidFill>
            <a:srgbClr val="182041"/>
          </a:solidFill>
          <a:ln w="12700">
            <a:solidFill>
              <a:srgbClr val="182041"/>
            </a:solidFill>
            <a:prstDash val="solid"/>
          </a:ln>
        </p:spPr>
      </p:sp>
      <p:sp>
        <p:nvSpPr>
          <p:cNvPr id="13" name="Text 11"/>
          <p:cNvSpPr txBox="1"/>
          <p:nvPr/>
        </p:nvSpPr>
        <p:spPr>
          <a:xfrm>
            <a:off x="2593787" y="3017520"/>
            <a:ext cx="1362456" cy="685800"/>
          </a:xfrm>
          <a:prstGeom prst="rect">
            <a:avLst/>
          </a:prstGeom>
          <a:noFill/>
          <a:ln/>
        </p:spPr>
        <p:txBody>
          <a:bodyPr wrap="square" lIns="0" tIns="0" rIns="0" bIns="0" rtlCol="0" anchor="t"/>
          <a:lstStyle/>
          <a:p>
            <a:pPr indent="0" marL="0">
              <a:buNone/>
            </a:pPr>
            <a:r>
              <a:rPr lang="en-US" sz="1800" b="1" dirty="0">
                <a:solidFill>
                  <a:srgbClr val="EEF0F8"/>
                </a:solidFill>
                <a:latin typeface="Calibri" pitchFamily="34" charset="0"/>
                <a:ea typeface="Calibri" pitchFamily="34" charset="-122"/>
                <a:cs typeface="Calibri" pitchFamily="34" charset="-120"/>
              </a:rPr>
              <a:t>Architect &amp; Plan</a:t>
            </a:r>
            <a:endParaRPr lang="en-US" sz="1800" dirty="0"/>
          </a:p>
        </p:txBody>
      </p:sp>
      <p:sp>
        <p:nvSpPr>
          <p:cNvPr id="14" name="Text 12"/>
          <p:cNvSpPr txBox="1"/>
          <p:nvPr/>
        </p:nvSpPr>
        <p:spPr>
          <a:xfrm>
            <a:off x="2593787" y="3749040"/>
            <a:ext cx="1362456" cy="1280160"/>
          </a:xfrm>
          <a:prstGeom prst="rect">
            <a:avLst/>
          </a:prstGeom>
          <a:noFill/>
          <a:ln/>
        </p:spPr>
        <p:txBody>
          <a:bodyPr wrap="square" lIns="0" tIns="0" rIns="0" bIns="0" rtlCol="0" anchor="t"/>
          <a:lstStyle/>
          <a:p>
            <a:pPr indent="0" marL="0">
              <a:buNone/>
            </a:pPr>
            <a:r>
              <a:rPr lang="en-US" sz="1500" dirty="0">
                <a:solidFill>
                  <a:srgbClr val="A3ABCB"/>
                </a:solidFill>
                <a:latin typeface="Calibri" pitchFamily="34" charset="0"/>
                <a:ea typeface="Calibri" pitchFamily="34" charset="-122"/>
                <a:cs typeface="Calibri" pitchFamily="34" charset="-120"/>
              </a:rPr>
              <a:t>Freeze intent in docs, ADRs and a plan. No code.</a:t>
            </a:r>
            <a:endParaRPr lang="en-US" sz="1500" dirty="0"/>
          </a:p>
        </p:txBody>
      </p:sp>
      <p:sp>
        <p:nvSpPr>
          <p:cNvPr id="15" name="Shape 13"/>
          <p:cNvSpPr/>
          <p:nvPr/>
        </p:nvSpPr>
        <p:spPr>
          <a:xfrm>
            <a:off x="4835530" y="1920240"/>
            <a:ext cx="640080" cy="640080"/>
          </a:xfrm>
          <a:prstGeom prst="ellipse">
            <a:avLst/>
          </a:prstGeom>
          <a:solidFill>
            <a:srgbClr val="212B57"/>
          </a:solidFill>
          <a:ln w="25400">
            <a:solidFill>
              <a:srgbClr val="FFB000"/>
            </a:solidFill>
            <a:prstDash val="solid"/>
          </a:ln>
        </p:spPr>
      </p:sp>
      <p:sp>
        <p:nvSpPr>
          <p:cNvPr id="16" name="Text 14"/>
          <p:cNvSpPr txBox="1"/>
          <p:nvPr/>
        </p:nvSpPr>
        <p:spPr>
          <a:xfrm>
            <a:off x="4835530" y="1920240"/>
            <a:ext cx="640080" cy="640080"/>
          </a:xfrm>
          <a:prstGeom prst="rect">
            <a:avLst/>
          </a:prstGeom>
          <a:noFill/>
          <a:ln/>
        </p:spPr>
        <p:txBody>
          <a:bodyPr wrap="square" lIns="0" tIns="0" rIns="0" bIns="0" rtlCol="0" anchor="ctr"/>
          <a:lstStyle/>
          <a:p>
            <a:pPr algn="ctr" indent="0" marL="0">
              <a:buNone/>
            </a:pPr>
            <a:r>
              <a:rPr lang="en-US" sz="1600" b="1" dirty="0">
                <a:solidFill>
                  <a:srgbClr val="FFB000"/>
                </a:solidFill>
                <a:latin typeface="Courier New" pitchFamily="34" charset="0"/>
                <a:ea typeface="Courier New" pitchFamily="34" charset="-122"/>
                <a:cs typeface="Courier New" pitchFamily="34" charset="-120"/>
              </a:rPr>
              <a:t>03</a:t>
            </a:r>
            <a:endParaRPr lang="en-US" sz="1600" dirty="0"/>
          </a:p>
        </p:txBody>
      </p:sp>
      <p:sp>
        <p:nvSpPr>
          <p:cNvPr id="17" name="Shape 15"/>
          <p:cNvSpPr/>
          <p:nvPr/>
        </p:nvSpPr>
        <p:spPr>
          <a:xfrm>
            <a:off x="4309750" y="2834640"/>
            <a:ext cx="1691640" cy="2286000"/>
          </a:xfrm>
          <a:prstGeom prst="roundRect">
            <a:avLst>
              <a:gd name="adj" fmla="val 4324"/>
            </a:avLst>
          </a:prstGeom>
          <a:solidFill>
            <a:srgbClr val="182041"/>
          </a:solidFill>
          <a:ln w="12700">
            <a:solidFill>
              <a:srgbClr val="182041"/>
            </a:solidFill>
            <a:prstDash val="solid"/>
          </a:ln>
        </p:spPr>
      </p:sp>
      <p:sp>
        <p:nvSpPr>
          <p:cNvPr id="18" name="Text 16"/>
          <p:cNvSpPr txBox="1"/>
          <p:nvPr/>
        </p:nvSpPr>
        <p:spPr>
          <a:xfrm>
            <a:off x="4474342" y="3017520"/>
            <a:ext cx="1362456" cy="685800"/>
          </a:xfrm>
          <a:prstGeom prst="rect">
            <a:avLst/>
          </a:prstGeom>
          <a:noFill/>
          <a:ln/>
        </p:spPr>
        <p:txBody>
          <a:bodyPr wrap="square" lIns="0" tIns="0" rIns="0" bIns="0" rtlCol="0" anchor="t"/>
          <a:lstStyle/>
          <a:p>
            <a:pPr indent="0" marL="0">
              <a:buNone/>
            </a:pPr>
            <a:r>
              <a:rPr lang="en-US" sz="1800" b="1" dirty="0">
                <a:solidFill>
                  <a:srgbClr val="EEF0F8"/>
                </a:solidFill>
                <a:latin typeface="Calibri" pitchFamily="34" charset="0"/>
                <a:ea typeface="Calibri" pitchFamily="34" charset="-122"/>
                <a:cs typeface="Calibri" pitchFamily="34" charset="-120"/>
              </a:rPr>
              <a:t>Build &amp; Test</a:t>
            </a:r>
            <a:endParaRPr lang="en-US" sz="1800" dirty="0"/>
          </a:p>
        </p:txBody>
      </p:sp>
      <p:sp>
        <p:nvSpPr>
          <p:cNvPr id="19" name="Text 17"/>
          <p:cNvSpPr txBox="1"/>
          <p:nvPr/>
        </p:nvSpPr>
        <p:spPr>
          <a:xfrm>
            <a:off x="4474342" y="3749040"/>
            <a:ext cx="1362456" cy="1280160"/>
          </a:xfrm>
          <a:prstGeom prst="rect">
            <a:avLst/>
          </a:prstGeom>
          <a:noFill/>
          <a:ln/>
        </p:spPr>
        <p:txBody>
          <a:bodyPr wrap="square" lIns="0" tIns="0" rIns="0" bIns="0" rtlCol="0" anchor="t"/>
          <a:lstStyle/>
          <a:p>
            <a:pPr indent="0" marL="0">
              <a:buNone/>
            </a:pPr>
            <a:r>
              <a:rPr lang="en-US" sz="1500" dirty="0">
                <a:solidFill>
                  <a:srgbClr val="A3ABCB"/>
                </a:solidFill>
                <a:latin typeface="Calibri" pitchFamily="34" charset="0"/>
                <a:ea typeface="Calibri" pitchFamily="34" charset="-122"/>
                <a:cs typeface="Calibri" pitchFamily="34" charset="-120"/>
              </a:rPr>
              <a:t>Turn the plan into a working multi-user product.</a:t>
            </a:r>
            <a:endParaRPr lang="en-US" sz="1500" dirty="0"/>
          </a:p>
        </p:txBody>
      </p:sp>
      <p:sp>
        <p:nvSpPr>
          <p:cNvPr id="20" name="Shape 18"/>
          <p:cNvSpPr/>
          <p:nvPr/>
        </p:nvSpPr>
        <p:spPr>
          <a:xfrm>
            <a:off x="6716085" y="1920240"/>
            <a:ext cx="640080" cy="640080"/>
          </a:xfrm>
          <a:prstGeom prst="ellipse">
            <a:avLst/>
          </a:prstGeom>
          <a:solidFill>
            <a:srgbClr val="212B57"/>
          </a:solidFill>
          <a:ln w="25400">
            <a:solidFill>
              <a:srgbClr val="FFB000"/>
            </a:solidFill>
            <a:prstDash val="solid"/>
          </a:ln>
        </p:spPr>
      </p:sp>
      <p:sp>
        <p:nvSpPr>
          <p:cNvPr id="21" name="Text 19"/>
          <p:cNvSpPr txBox="1"/>
          <p:nvPr/>
        </p:nvSpPr>
        <p:spPr>
          <a:xfrm>
            <a:off x="6716085" y="1920240"/>
            <a:ext cx="640080" cy="640080"/>
          </a:xfrm>
          <a:prstGeom prst="rect">
            <a:avLst/>
          </a:prstGeom>
          <a:noFill/>
          <a:ln/>
        </p:spPr>
        <p:txBody>
          <a:bodyPr wrap="square" lIns="0" tIns="0" rIns="0" bIns="0" rtlCol="0" anchor="ctr"/>
          <a:lstStyle/>
          <a:p>
            <a:pPr algn="ctr" indent="0" marL="0">
              <a:buNone/>
            </a:pPr>
            <a:r>
              <a:rPr lang="en-US" sz="1600" b="1" dirty="0">
                <a:solidFill>
                  <a:srgbClr val="FFB000"/>
                </a:solidFill>
                <a:latin typeface="Courier New" pitchFamily="34" charset="0"/>
                <a:ea typeface="Courier New" pitchFamily="34" charset="-122"/>
                <a:cs typeface="Courier New" pitchFamily="34" charset="-120"/>
              </a:rPr>
              <a:t>04</a:t>
            </a:r>
            <a:endParaRPr lang="en-US" sz="1600" dirty="0"/>
          </a:p>
        </p:txBody>
      </p:sp>
      <p:sp>
        <p:nvSpPr>
          <p:cNvPr id="22" name="Shape 20"/>
          <p:cNvSpPr/>
          <p:nvPr/>
        </p:nvSpPr>
        <p:spPr>
          <a:xfrm>
            <a:off x="6190305" y="2834640"/>
            <a:ext cx="1691640" cy="2286000"/>
          </a:xfrm>
          <a:prstGeom prst="roundRect">
            <a:avLst>
              <a:gd name="adj" fmla="val 4324"/>
            </a:avLst>
          </a:prstGeom>
          <a:solidFill>
            <a:srgbClr val="182041"/>
          </a:solidFill>
          <a:ln w="12700">
            <a:solidFill>
              <a:srgbClr val="182041"/>
            </a:solidFill>
            <a:prstDash val="solid"/>
          </a:ln>
        </p:spPr>
      </p:sp>
      <p:sp>
        <p:nvSpPr>
          <p:cNvPr id="23" name="Text 21"/>
          <p:cNvSpPr txBox="1"/>
          <p:nvPr/>
        </p:nvSpPr>
        <p:spPr>
          <a:xfrm>
            <a:off x="6354897" y="3017520"/>
            <a:ext cx="1362456" cy="685800"/>
          </a:xfrm>
          <a:prstGeom prst="rect">
            <a:avLst/>
          </a:prstGeom>
          <a:noFill/>
          <a:ln/>
        </p:spPr>
        <p:txBody>
          <a:bodyPr wrap="square" lIns="0" tIns="0" rIns="0" bIns="0" rtlCol="0" anchor="t"/>
          <a:lstStyle/>
          <a:p>
            <a:pPr indent="0" marL="0">
              <a:buNone/>
            </a:pPr>
            <a:r>
              <a:rPr lang="en-US" sz="1800" b="1" dirty="0">
                <a:solidFill>
                  <a:srgbClr val="EEF0F8"/>
                </a:solidFill>
                <a:latin typeface="Calibri" pitchFamily="34" charset="0"/>
                <a:ea typeface="Calibri" pitchFamily="34" charset="-122"/>
                <a:cs typeface="Calibri" pitchFamily="34" charset="-120"/>
              </a:rPr>
              <a:t>Harden &amp; Secure</a:t>
            </a:r>
            <a:endParaRPr lang="en-US" sz="1800" dirty="0"/>
          </a:p>
        </p:txBody>
      </p:sp>
      <p:sp>
        <p:nvSpPr>
          <p:cNvPr id="24" name="Text 22"/>
          <p:cNvSpPr txBox="1"/>
          <p:nvPr/>
        </p:nvSpPr>
        <p:spPr>
          <a:xfrm>
            <a:off x="6354897" y="3749040"/>
            <a:ext cx="1362456" cy="1280160"/>
          </a:xfrm>
          <a:prstGeom prst="rect">
            <a:avLst/>
          </a:prstGeom>
          <a:noFill/>
          <a:ln/>
        </p:spPr>
        <p:txBody>
          <a:bodyPr wrap="square" lIns="0" tIns="0" rIns="0" bIns="0" rtlCol="0" anchor="t"/>
          <a:lstStyle/>
          <a:p>
            <a:pPr indent="0" marL="0">
              <a:buNone/>
            </a:pPr>
            <a:r>
              <a:rPr lang="en-US" sz="1500" dirty="0">
                <a:solidFill>
                  <a:srgbClr val="A3ABCB"/>
                </a:solidFill>
                <a:latin typeface="Calibri" pitchFamily="34" charset="0"/>
                <a:ea typeface="Calibri" pitchFamily="34" charset="-122"/>
                <a:cs typeface="Calibri" pitchFamily="34" charset="-120"/>
              </a:rPr>
              <a:t>No new features. Tests, threats and fixes.</a:t>
            </a:r>
            <a:endParaRPr lang="en-US" sz="1500" dirty="0"/>
          </a:p>
        </p:txBody>
      </p:sp>
      <p:sp>
        <p:nvSpPr>
          <p:cNvPr id="25" name="Shape 23"/>
          <p:cNvSpPr/>
          <p:nvPr/>
        </p:nvSpPr>
        <p:spPr>
          <a:xfrm>
            <a:off x="8596640" y="1920240"/>
            <a:ext cx="640080" cy="640080"/>
          </a:xfrm>
          <a:prstGeom prst="ellipse">
            <a:avLst/>
          </a:prstGeom>
          <a:solidFill>
            <a:srgbClr val="212B57"/>
          </a:solidFill>
          <a:ln w="25400">
            <a:solidFill>
              <a:srgbClr val="FFB000"/>
            </a:solidFill>
            <a:prstDash val="solid"/>
          </a:ln>
        </p:spPr>
      </p:sp>
      <p:sp>
        <p:nvSpPr>
          <p:cNvPr id="26" name="Text 24"/>
          <p:cNvSpPr txBox="1"/>
          <p:nvPr/>
        </p:nvSpPr>
        <p:spPr>
          <a:xfrm>
            <a:off x="8596640" y="1920240"/>
            <a:ext cx="640080" cy="640080"/>
          </a:xfrm>
          <a:prstGeom prst="rect">
            <a:avLst/>
          </a:prstGeom>
          <a:noFill/>
          <a:ln/>
        </p:spPr>
        <p:txBody>
          <a:bodyPr wrap="square" lIns="0" tIns="0" rIns="0" bIns="0" rtlCol="0" anchor="ctr"/>
          <a:lstStyle/>
          <a:p>
            <a:pPr algn="ctr" indent="0" marL="0">
              <a:buNone/>
            </a:pPr>
            <a:r>
              <a:rPr lang="en-US" sz="1600" b="1" dirty="0">
                <a:solidFill>
                  <a:srgbClr val="FFB000"/>
                </a:solidFill>
                <a:latin typeface="Courier New" pitchFamily="34" charset="0"/>
                <a:ea typeface="Courier New" pitchFamily="34" charset="-122"/>
                <a:cs typeface="Courier New" pitchFamily="34" charset="-120"/>
              </a:rPr>
              <a:t>05</a:t>
            </a:r>
            <a:endParaRPr lang="en-US" sz="1600" dirty="0"/>
          </a:p>
        </p:txBody>
      </p:sp>
      <p:sp>
        <p:nvSpPr>
          <p:cNvPr id="27" name="Shape 25"/>
          <p:cNvSpPr/>
          <p:nvPr/>
        </p:nvSpPr>
        <p:spPr>
          <a:xfrm>
            <a:off x="8070860" y="2834640"/>
            <a:ext cx="1691640" cy="2286000"/>
          </a:xfrm>
          <a:prstGeom prst="roundRect">
            <a:avLst>
              <a:gd name="adj" fmla="val 4324"/>
            </a:avLst>
          </a:prstGeom>
          <a:solidFill>
            <a:srgbClr val="182041"/>
          </a:solidFill>
          <a:ln w="12700">
            <a:solidFill>
              <a:srgbClr val="182041"/>
            </a:solidFill>
            <a:prstDash val="solid"/>
          </a:ln>
        </p:spPr>
      </p:sp>
      <p:sp>
        <p:nvSpPr>
          <p:cNvPr id="28" name="Text 26"/>
          <p:cNvSpPr txBox="1"/>
          <p:nvPr/>
        </p:nvSpPr>
        <p:spPr>
          <a:xfrm>
            <a:off x="8235452" y="3017520"/>
            <a:ext cx="1362456" cy="685800"/>
          </a:xfrm>
          <a:prstGeom prst="rect">
            <a:avLst/>
          </a:prstGeom>
          <a:noFill/>
          <a:ln/>
        </p:spPr>
        <p:txBody>
          <a:bodyPr wrap="square" lIns="0" tIns="0" rIns="0" bIns="0" rtlCol="0" anchor="t"/>
          <a:lstStyle/>
          <a:p>
            <a:pPr indent="0" marL="0">
              <a:buNone/>
            </a:pPr>
            <a:r>
              <a:rPr lang="en-US" sz="1800" b="1" dirty="0">
                <a:solidFill>
                  <a:srgbClr val="EEF0F8"/>
                </a:solidFill>
                <a:latin typeface="Calibri" pitchFamily="34" charset="0"/>
                <a:ea typeface="Calibri" pitchFamily="34" charset="-122"/>
                <a:cs typeface="Calibri" pitchFamily="34" charset="-120"/>
              </a:rPr>
              <a:t>Operate</a:t>
            </a:r>
            <a:endParaRPr lang="en-US" sz="1800" dirty="0"/>
          </a:p>
        </p:txBody>
      </p:sp>
      <p:sp>
        <p:nvSpPr>
          <p:cNvPr id="29" name="Text 27"/>
          <p:cNvSpPr txBox="1"/>
          <p:nvPr/>
        </p:nvSpPr>
        <p:spPr>
          <a:xfrm>
            <a:off x="8235452" y="3749040"/>
            <a:ext cx="1362456" cy="1280160"/>
          </a:xfrm>
          <a:prstGeom prst="rect">
            <a:avLst/>
          </a:prstGeom>
          <a:noFill/>
          <a:ln/>
        </p:spPr>
        <p:txBody>
          <a:bodyPr wrap="square" lIns="0" tIns="0" rIns="0" bIns="0" rtlCol="0" anchor="t"/>
          <a:lstStyle/>
          <a:p>
            <a:pPr indent="0" marL="0">
              <a:buNone/>
            </a:pPr>
            <a:r>
              <a:rPr lang="en-US" sz="1500" dirty="0">
                <a:solidFill>
                  <a:srgbClr val="A3ABCB"/>
                </a:solidFill>
                <a:latin typeface="Calibri" pitchFamily="34" charset="0"/>
                <a:ea typeface="Calibri" pitchFamily="34" charset="-122"/>
                <a:cs typeface="Calibri" pitchFamily="34" charset="-120"/>
              </a:rPr>
              <a:t>IaC, cloud deploy, logging, runbooks, review.</a:t>
            </a:r>
            <a:endParaRPr lang="en-US" sz="1500" dirty="0"/>
          </a:p>
        </p:txBody>
      </p:sp>
      <p:sp>
        <p:nvSpPr>
          <p:cNvPr id="30" name="Shape 28"/>
          <p:cNvSpPr/>
          <p:nvPr/>
        </p:nvSpPr>
        <p:spPr>
          <a:xfrm>
            <a:off x="10477195" y="1920240"/>
            <a:ext cx="640080" cy="640080"/>
          </a:xfrm>
          <a:prstGeom prst="ellipse">
            <a:avLst/>
          </a:prstGeom>
          <a:solidFill>
            <a:srgbClr val="FFB000"/>
          </a:solidFill>
          <a:ln w="25400">
            <a:solidFill>
              <a:srgbClr val="FFB000"/>
            </a:solidFill>
            <a:prstDash val="solid"/>
          </a:ln>
        </p:spPr>
      </p:sp>
      <p:sp>
        <p:nvSpPr>
          <p:cNvPr id="31" name="Text 29"/>
          <p:cNvSpPr txBox="1"/>
          <p:nvPr/>
        </p:nvSpPr>
        <p:spPr>
          <a:xfrm>
            <a:off x="10477195" y="1920240"/>
            <a:ext cx="640080" cy="640080"/>
          </a:xfrm>
          <a:prstGeom prst="rect">
            <a:avLst/>
          </a:prstGeom>
          <a:noFill/>
          <a:ln/>
        </p:spPr>
        <p:txBody>
          <a:bodyPr wrap="square" lIns="0" tIns="0" rIns="0" bIns="0" rtlCol="0" anchor="ctr"/>
          <a:lstStyle/>
          <a:p>
            <a:pPr algn="ctr" indent="0" marL="0">
              <a:buNone/>
            </a:pPr>
            <a:r>
              <a:rPr lang="en-US" sz="1600" b="1" dirty="0">
                <a:solidFill>
                  <a:srgbClr val="0D1224"/>
                </a:solidFill>
                <a:latin typeface="Courier New" pitchFamily="34" charset="0"/>
                <a:ea typeface="Courier New" pitchFamily="34" charset="-122"/>
                <a:cs typeface="Courier New" pitchFamily="34" charset="-120"/>
              </a:rPr>
              <a:t>06</a:t>
            </a:r>
            <a:endParaRPr lang="en-US" sz="1600" dirty="0"/>
          </a:p>
        </p:txBody>
      </p:sp>
      <p:sp>
        <p:nvSpPr>
          <p:cNvPr id="32" name="Shape 30"/>
          <p:cNvSpPr/>
          <p:nvPr/>
        </p:nvSpPr>
        <p:spPr>
          <a:xfrm>
            <a:off x="9951415" y="2834640"/>
            <a:ext cx="1691640" cy="2286000"/>
          </a:xfrm>
          <a:prstGeom prst="roundRect">
            <a:avLst>
              <a:gd name="adj" fmla="val 4324"/>
            </a:avLst>
          </a:prstGeom>
          <a:solidFill>
            <a:srgbClr val="212B57"/>
          </a:solidFill>
          <a:ln w="12700">
            <a:solidFill>
              <a:srgbClr val="212B57"/>
            </a:solidFill>
            <a:prstDash val="solid"/>
          </a:ln>
        </p:spPr>
      </p:sp>
      <p:sp>
        <p:nvSpPr>
          <p:cNvPr id="33" name="Text 31"/>
          <p:cNvSpPr txBox="1"/>
          <p:nvPr/>
        </p:nvSpPr>
        <p:spPr>
          <a:xfrm>
            <a:off x="10116007" y="3017520"/>
            <a:ext cx="1362456" cy="685800"/>
          </a:xfrm>
          <a:prstGeom prst="rect">
            <a:avLst/>
          </a:prstGeom>
          <a:noFill/>
          <a:ln/>
        </p:spPr>
        <p:txBody>
          <a:bodyPr wrap="square" lIns="0" tIns="0" rIns="0" bIns="0" rtlCol="0" anchor="t"/>
          <a:lstStyle/>
          <a:p>
            <a:pPr indent="0" marL="0">
              <a:buNone/>
            </a:pPr>
            <a:r>
              <a:rPr lang="en-US" sz="1800" b="1" dirty="0">
                <a:solidFill>
                  <a:srgbClr val="FFB000"/>
                </a:solidFill>
                <a:latin typeface="Calibri" pitchFamily="34" charset="0"/>
                <a:ea typeface="Calibri" pitchFamily="34" charset="-122"/>
                <a:cs typeface="Calibri" pitchFamily="34" charset="-120"/>
              </a:rPr>
              <a:t>Change &amp; Rewrite</a:t>
            </a:r>
            <a:endParaRPr lang="en-US" sz="1800" dirty="0"/>
          </a:p>
        </p:txBody>
      </p:sp>
      <p:sp>
        <p:nvSpPr>
          <p:cNvPr id="34" name="Text 32"/>
          <p:cNvSpPr txBox="1"/>
          <p:nvPr/>
        </p:nvSpPr>
        <p:spPr>
          <a:xfrm>
            <a:off x="10116007" y="3749040"/>
            <a:ext cx="1362456" cy="1280160"/>
          </a:xfrm>
          <a:prstGeom prst="rect">
            <a:avLst/>
          </a:prstGeom>
          <a:noFill/>
          <a:ln/>
        </p:spPr>
        <p:txBody>
          <a:bodyPr wrap="square" lIns="0" tIns="0" rIns="0" bIns="0" rtlCol="0" anchor="t"/>
          <a:lstStyle/>
          <a:p>
            <a:pPr indent="0" marL="0">
              <a:buNone/>
            </a:pPr>
            <a:r>
              <a:rPr lang="en-US" sz="1500" dirty="0">
                <a:solidFill>
                  <a:srgbClr val="A3ABCB"/>
                </a:solidFill>
                <a:latin typeface="Calibri" pitchFamily="34" charset="0"/>
                <a:ea typeface="Calibri" pitchFamily="34" charset="-122"/>
                <a:cs typeface="Calibri" pitchFamily="34" charset="-120"/>
              </a:rPr>
              <a:t>A new requirement after release. Two rewrites.</a:t>
            </a:r>
            <a:endParaRPr lang="en-US" sz="1500" dirty="0"/>
          </a:p>
        </p:txBody>
      </p:sp>
      <p:sp>
        <p:nvSpPr>
          <p:cNvPr id="35" name="Text 33"/>
          <p:cNvSpPr txBox="1"/>
          <p:nvPr/>
        </p:nvSpPr>
        <p:spPr>
          <a:xfrm>
            <a:off x="548640" y="5486400"/>
            <a:ext cx="11094415" cy="365760"/>
          </a:xfrm>
          <a:prstGeom prst="rect">
            <a:avLst/>
          </a:prstGeom>
          <a:noFill/>
          <a:ln/>
        </p:spPr>
        <p:txBody>
          <a:bodyPr wrap="square" lIns="0" tIns="0" rIns="0" bIns="0" rtlCol="0" anchor="t"/>
          <a:lstStyle/>
          <a:p>
            <a:pPr indent="0" marL="0">
              <a:buNone/>
            </a:pPr>
            <a:r>
              <a:rPr lang="en-US" sz="1500" i="1" dirty="0">
                <a:solidFill>
                  <a:srgbClr val="A3ABCB"/>
                </a:solidFill>
                <a:latin typeface="Calibri" pitchFamily="34" charset="0"/>
                <a:ea typeface="Calibri" pitchFamily="34" charset="-122"/>
                <a:cs typeface="Calibri" pitchFamily="34" charset="-120"/>
              </a:rPr>
              <a:t>Each phase is forked from the previous one and never edited again: phase-01 … phase-06 in the repo.</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224"/>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t"/>
          <a:lstStyle/>
          <a:p>
            <a:pPr indent="0" marL="0">
              <a:buNone/>
            </a:pPr>
            <a:r>
              <a:rPr lang="en-US" sz="1400" b="1" dirty="0">
                <a:solidFill>
                  <a:srgbClr val="FFB000"/>
                </a:solidFill>
                <a:latin typeface="Courier New" pitchFamily="34" charset="0"/>
                <a:ea typeface="Courier New" pitchFamily="34" charset="-122"/>
                <a:cs typeface="Courier New" pitchFamily="34" charset="-120"/>
              </a:rPr>
              <a:t>C:\&gt; PHASE_01 · IDEATE &amp; SPIKE</a:t>
            </a:r>
            <a:endParaRPr lang="en-US" sz="1400" dirty="0"/>
          </a:p>
        </p:txBody>
      </p:sp>
      <p:sp>
        <p:nvSpPr>
          <p:cNvPr id="3" name="Text 1"/>
          <p:cNvSpPr txBox="1"/>
          <p:nvPr/>
        </p:nvSpPr>
        <p:spPr>
          <a:xfrm>
            <a:off x="548640" y="777240"/>
            <a:ext cx="11094415" cy="685800"/>
          </a:xfrm>
          <a:prstGeom prst="rect">
            <a:avLst/>
          </a:prstGeom>
          <a:noFill/>
          <a:ln/>
        </p:spPr>
        <p:txBody>
          <a:bodyPr wrap="square" lIns="0" tIns="0" rIns="0" bIns="0" rtlCol="0" anchor="ctr"/>
          <a:lstStyle/>
          <a:p>
            <a:pPr indent="0" marL="0">
              <a:buNone/>
            </a:pPr>
            <a:r>
              <a:rPr lang="en-US" sz="3200" b="1" dirty="0">
                <a:solidFill>
                  <a:srgbClr val="EEF0F8"/>
                </a:solidFill>
                <a:latin typeface="Courier New" pitchFamily="34" charset="0"/>
                <a:ea typeface="Courier New" pitchFamily="34" charset="-122"/>
                <a:cs typeface="Courier New" pitchFamily="34" charset="-120"/>
              </a:rPr>
              <a:t>Spike the scariest assumption first</a:t>
            </a:r>
            <a:endParaRPr lang="en-US" sz="3200" dirty="0"/>
          </a:p>
        </p:txBody>
      </p:sp>
      <p:sp>
        <p:nvSpPr>
          <p:cNvPr id="4" name="Text 2"/>
          <p:cNvSpPr txBox="1"/>
          <p:nvPr/>
        </p:nvSpPr>
        <p:spPr>
          <a:xfrm>
            <a:off x="548640" y="1737360"/>
            <a:ext cx="5303520" cy="274320"/>
          </a:xfrm>
          <a:prstGeom prst="rect">
            <a:avLst/>
          </a:prstGeom>
          <a:noFill/>
          <a:ln/>
        </p:spPr>
        <p:txBody>
          <a:bodyPr wrap="square" lIns="0" tIns="0" rIns="0" bIns="0" rtlCol="0" anchor="t"/>
          <a:lstStyle/>
          <a:p>
            <a:pPr indent="0" marL="0">
              <a:buNone/>
            </a:pPr>
            <a:r>
              <a:rPr lang="en-US" sz="1200" b="1" dirty="0">
                <a:solidFill>
                  <a:srgbClr val="FFB000"/>
                </a:solidFill>
                <a:latin typeface="Courier New" pitchFamily="34" charset="0"/>
                <a:ea typeface="Courier New" pitchFamily="34" charset="-122"/>
                <a:cs typeface="Courier New" pitchFamily="34" charset="-120"/>
              </a:rPr>
              <a:t>INTENT</a:t>
            </a:r>
            <a:endParaRPr lang="en-US" sz="1200" dirty="0"/>
          </a:p>
        </p:txBody>
      </p:sp>
      <p:sp>
        <p:nvSpPr>
          <p:cNvPr id="5" name="Text 3"/>
          <p:cNvSpPr txBox="1"/>
          <p:nvPr/>
        </p:nvSpPr>
        <p:spPr>
          <a:xfrm>
            <a:off x="548640" y="2011680"/>
            <a:ext cx="5303520" cy="822960"/>
          </a:xfrm>
          <a:prstGeom prst="rect">
            <a:avLst/>
          </a:prstGeom>
          <a:noFill/>
          <a:ln/>
        </p:spPr>
        <p:txBody>
          <a:bodyPr wrap="square" lIns="0" tIns="0" rIns="0" bIns="0" rtlCol="0" anchor="t"/>
          <a:lstStyle/>
          <a:p>
            <a:pPr indent="0" marL="0">
              <a:buNone/>
            </a:pPr>
            <a:r>
              <a:rPr lang="en-US" sz="1900" dirty="0">
                <a:solidFill>
                  <a:srgbClr val="4FD1E8"/>
                </a:solidFill>
                <a:latin typeface="Calibri" pitchFamily="34" charset="0"/>
                <a:ea typeface="Calibri" pitchFamily="34" charset="-122"/>
                <a:cs typeface="Calibri" pitchFamily="34" charset="-120"/>
              </a:rPr>
              <a:t>Can a DOS game in the browser run against a C: drive that lives on the server?</a:t>
            </a:r>
            <a:endParaRPr lang="en-US" sz="1900" dirty="0"/>
          </a:p>
        </p:txBody>
      </p:sp>
      <p:sp>
        <p:nvSpPr>
          <p:cNvPr id="6" name="Text 4"/>
          <p:cNvSpPr txBox="1"/>
          <p:nvPr/>
        </p:nvSpPr>
        <p:spPr>
          <a:xfrm>
            <a:off x="548640" y="2971800"/>
            <a:ext cx="5303520" cy="274320"/>
          </a:xfrm>
          <a:prstGeom prst="rect">
            <a:avLst/>
          </a:prstGeom>
          <a:noFill/>
          <a:ln/>
        </p:spPr>
        <p:txBody>
          <a:bodyPr wrap="square" lIns="0" tIns="0" rIns="0" bIns="0" rtlCol="0" anchor="t"/>
          <a:lstStyle/>
          <a:p>
            <a:pPr indent="0" marL="0">
              <a:buNone/>
            </a:pPr>
            <a:r>
              <a:rPr lang="en-US" sz="1200" b="1" dirty="0">
                <a:solidFill>
                  <a:srgbClr val="FFB000"/>
                </a:solidFill>
                <a:latin typeface="Courier New" pitchFamily="34" charset="0"/>
                <a:ea typeface="Courier New" pitchFamily="34" charset="-122"/>
                <a:cs typeface="Courier New" pitchFamily="34" charset="-120"/>
              </a:rPr>
              <a:t>WHAT WE BUILT</a:t>
            </a:r>
            <a:endParaRPr lang="en-US" sz="1200" dirty="0"/>
          </a:p>
        </p:txBody>
      </p:sp>
      <p:sp>
        <p:nvSpPr>
          <p:cNvPr id="7" name="Text 5"/>
          <p:cNvSpPr txBox="1"/>
          <p:nvPr/>
        </p:nvSpPr>
        <p:spPr>
          <a:xfrm>
            <a:off x="548640" y="3291840"/>
            <a:ext cx="5303520" cy="201168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EEF0F8"/>
                </a:solidFill>
                <a:latin typeface="Calibri" pitchFamily="34" charset="0"/>
                <a:ea typeface="Calibri" pitchFamily="34" charset="-122"/>
                <a:cs typeface="Calibri" pitchFamily="34" charset="-120"/>
              </a:rPr>
              <a:t>A single-player Commander Keen prototype</a:t>
            </a:r>
            <a:endParaRPr lang="en-US" sz="1600" dirty="0"/>
          </a:p>
          <a:p>
            <a:pPr marL="203200" indent="-203200">
              <a:spcAft>
                <a:spcPts val="800"/>
              </a:spcAft>
              <a:buSzPct val="100000"/>
              <a:buChar char="•"/>
            </a:pPr>
            <a:r>
              <a:rPr lang="en-US" sz="1600" dirty="0">
                <a:solidFill>
                  <a:srgbClr val="EEF0F8"/>
                </a:solidFill>
                <a:latin typeface="Calibri" pitchFamily="34" charset="0"/>
                <a:ea typeface="Calibri" pitchFamily="34" charset="-122"/>
                <a:cs typeface="Calibri" pitchFamily="34" charset="-120"/>
              </a:rPr>
              <a:t>REMOTEFS: DOSBox reads and writes a server-authoritative drive</a:t>
            </a:r>
            <a:endParaRPr lang="en-US" sz="1600" dirty="0"/>
          </a:p>
          <a:p>
            <a:pPr marL="203200" indent="-203200">
              <a:spcAft>
                <a:spcPts val="800"/>
              </a:spcAft>
              <a:buSzPct val="100000"/>
              <a:buChar char="•"/>
            </a:pPr>
            <a:r>
              <a:rPr lang="en-US" sz="1600" dirty="0">
                <a:solidFill>
                  <a:srgbClr val="EEF0F8"/>
                </a:solidFill>
                <a:latin typeface="Calibri" pitchFamily="34" charset="0"/>
                <a:ea typeface="Calibri" pitchFamily="34" charset="-122"/>
                <a:cs typeface="Calibri" pitchFamily="34" charset="-120"/>
              </a:rPr>
              <a:t>Requirements, feasibility notes and technical findings</a:t>
            </a:r>
            <a:endParaRPr lang="en-US" sz="1600" dirty="0"/>
          </a:p>
        </p:txBody>
      </p:sp>
      <p:sp>
        <p:nvSpPr>
          <p:cNvPr id="8" name="Shape 6"/>
          <p:cNvSpPr/>
          <p:nvPr/>
        </p:nvSpPr>
        <p:spPr>
          <a:xfrm>
            <a:off x="6309360" y="1783080"/>
            <a:ext cx="5333695" cy="1645920"/>
          </a:xfrm>
          <a:prstGeom prst="roundRect">
            <a:avLst>
              <a:gd name="adj" fmla="val 4444"/>
            </a:avLst>
          </a:prstGeom>
          <a:solidFill>
            <a:srgbClr val="182041"/>
          </a:solidFill>
          <a:ln w="12700">
            <a:solidFill>
              <a:srgbClr val="182041"/>
            </a:solidFill>
            <a:prstDash val="solid"/>
          </a:ln>
        </p:spPr>
      </p:sp>
      <p:sp>
        <p:nvSpPr>
          <p:cNvPr id="9" name="Shape 7"/>
          <p:cNvSpPr/>
          <p:nvPr/>
        </p:nvSpPr>
        <p:spPr>
          <a:xfrm>
            <a:off x="6537960" y="2011680"/>
            <a:ext cx="502920" cy="502920"/>
          </a:xfrm>
          <a:prstGeom prst="ellipse">
            <a:avLst/>
          </a:prstGeom>
          <a:solidFill>
            <a:srgbClr val="FF6B6B"/>
          </a:solidFill>
          <a:ln w="12700">
            <a:solidFill>
              <a:srgbClr val="FF6B6B"/>
            </a:solidFill>
            <a:prstDash val="solid"/>
          </a:ln>
        </p:spPr>
      </p:sp>
      <p:pic>
        <p:nvPicPr>
          <p:cNvPr id="10" name="Image 0" descr="preencoded.png">    </p:cNvPr>
          <p:cNvPicPr>
            <a:picLocks noChangeAspect="1"/>
          </p:cNvPicPr>
          <p:nvPr/>
        </p:nvPicPr>
        <p:blipFill>
          <a:blip r:embed="rId1"/>
          <a:stretch>
            <a:fillRect/>
          </a:stretch>
        </p:blipFill>
        <p:spPr>
          <a:xfrm>
            <a:off x="6648602" y="2122322"/>
            <a:ext cx="281635" cy="281635"/>
          </a:xfrm>
          <a:prstGeom prst="rect">
            <a:avLst/>
          </a:prstGeom>
        </p:spPr>
      </p:pic>
      <p:sp>
        <p:nvSpPr>
          <p:cNvPr id="11" name="Text 8"/>
          <p:cNvSpPr txBox="1"/>
          <p:nvPr/>
        </p:nvSpPr>
        <p:spPr>
          <a:xfrm>
            <a:off x="7223760" y="1965960"/>
            <a:ext cx="4236415" cy="594360"/>
          </a:xfrm>
          <a:prstGeom prst="rect">
            <a:avLst/>
          </a:prstGeom>
          <a:noFill/>
          <a:ln/>
        </p:spPr>
        <p:txBody>
          <a:bodyPr wrap="square" lIns="0" tIns="0" rIns="0" bIns="0" rtlCol="0" anchor="t"/>
          <a:lstStyle/>
          <a:p>
            <a:pPr indent="0" marL="0">
              <a:buNone/>
            </a:pPr>
            <a:r>
              <a:rPr lang="en-US" sz="1600" b="1" dirty="0">
                <a:solidFill>
                  <a:srgbClr val="EEF0F8"/>
                </a:solidFill>
                <a:latin typeface="Calibri" pitchFamily="34" charset="0"/>
                <a:ea typeface="Calibri" pitchFamily="34" charset="-122"/>
                <a:cs typeface="Calibri" pitchFamily="34" charset="-120"/>
              </a:rPr>
              <a:t>Try 1: SharedArrayBuffer + Atomics over WebSocket</a:t>
            </a:r>
            <a:endParaRPr lang="en-US" sz="1600" dirty="0"/>
          </a:p>
        </p:txBody>
      </p:sp>
      <p:sp>
        <p:nvSpPr>
          <p:cNvPr id="12" name="Text 9"/>
          <p:cNvSpPr txBox="1"/>
          <p:nvPr/>
        </p:nvSpPr>
        <p:spPr>
          <a:xfrm>
            <a:off x="7223760" y="2606040"/>
            <a:ext cx="4236415" cy="731520"/>
          </a:xfrm>
          <a:prstGeom prst="rect">
            <a:avLst/>
          </a:prstGeom>
          <a:noFill/>
          <a:ln/>
        </p:spPr>
        <p:txBody>
          <a:bodyPr wrap="square" lIns="0" tIns="0" rIns="0" bIns="0" rtlCol="0" anchor="t"/>
          <a:lstStyle/>
          <a:p>
            <a:pPr indent="0" marL="0">
              <a:buNone/>
            </a:pPr>
            <a:r>
              <a:rPr lang="en-US" sz="1300" dirty="0">
                <a:solidFill>
                  <a:srgbClr val="A3ABCB"/>
                </a:solidFill>
                <a:latin typeface="Calibri" pitchFamily="34" charset="0"/>
                <a:ea typeface="Calibri" pitchFamily="34" charset="-122"/>
                <a:cs typeface="Calibri" pitchFamily="34" charset="-120"/>
              </a:rPr>
              <a:t>Worked on localhost and HTTPS. Failed on plain LAN HTTP, because it needs a cross-origin-isolated secure context.</a:t>
            </a:r>
            <a:endParaRPr lang="en-US" sz="1300" dirty="0"/>
          </a:p>
        </p:txBody>
      </p:sp>
      <p:sp>
        <p:nvSpPr>
          <p:cNvPr id="13" name="Shape 10"/>
          <p:cNvSpPr/>
          <p:nvPr/>
        </p:nvSpPr>
        <p:spPr>
          <a:xfrm>
            <a:off x="6309360" y="3611880"/>
            <a:ext cx="5333695" cy="1645920"/>
          </a:xfrm>
          <a:prstGeom prst="roundRect">
            <a:avLst>
              <a:gd name="adj" fmla="val 4444"/>
            </a:avLst>
          </a:prstGeom>
          <a:solidFill>
            <a:srgbClr val="182041"/>
          </a:solidFill>
          <a:ln w="12700">
            <a:solidFill>
              <a:srgbClr val="182041"/>
            </a:solidFill>
            <a:prstDash val="solid"/>
          </a:ln>
        </p:spPr>
      </p:sp>
      <p:sp>
        <p:nvSpPr>
          <p:cNvPr id="14" name="Shape 11"/>
          <p:cNvSpPr/>
          <p:nvPr/>
        </p:nvSpPr>
        <p:spPr>
          <a:xfrm>
            <a:off x="6537960" y="3840480"/>
            <a:ext cx="502920" cy="502920"/>
          </a:xfrm>
          <a:prstGeom prst="ellipse">
            <a:avLst/>
          </a:prstGeom>
          <a:solidFill>
            <a:srgbClr val="5EE08A"/>
          </a:solidFill>
          <a:ln w="12700">
            <a:solidFill>
              <a:srgbClr val="5EE08A"/>
            </a:solidFill>
            <a:prstDash val="solid"/>
          </a:ln>
        </p:spPr>
      </p:sp>
      <p:pic>
        <p:nvPicPr>
          <p:cNvPr id="15" name="Image 1" descr="preencoded.png">    </p:cNvPr>
          <p:cNvPicPr>
            <a:picLocks noChangeAspect="1"/>
          </p:cNvPicPr>
          <p:nvPr/>
        </p:nvPicPr>
        <p:blipFill>
          <a:blip r:embed="rId2"/>
          <a:stretch>
            <a:fillRect/>
          </a:stretch>
        </p:blipFill>
        <p:spPr>
          <a:xfrm>
            <a:off x="6648602" y="3951122"/>
            <a:ext cx="281635" cy="281635"/>
          </a:xfrm>
          <a:prstGeom prst="rect">
            <a:avLst/>
          </a:prstGeom>
        </p:spPr>
      </p:pic>
      <p:sp>
        <p:nvSpPr>
          <p:cNvPr id="16" name="Text 12"/>
          <p:cNvSpPr txBox="1"/>
          <p:nvPr/>
        </p:nvSpPr>
        <p:spPr>
          <a:xfrm>
            <a:off x="7223760" y="3794760"/>
            <a:ext cx="4236415" cy="594360"/>
          </a:xfrm>
          <a:prstGeom prst="rect">
            <a:avLst/>
          </a:prstGeom>
          <a:noFill/>
          <a:ln/>
        </p:spPr>
        <p:txBody>
          <a:bodyPr wrap="square" lIns="0" tIns="0" rIns="0" bIns="0" rtlCol="0" anchor="t"/>
          <a:lstStyle/>
          <a:p>
            <a:pPr indent="0" marL="0">
              <a:buNone/>
            </a:pPr>
            <a:r>
              <a:rPr lang="en-US" sz="1600" b="1" dirty="0">
                <a:solidFill>
                  <a:srgbClr val="EEF0F8"/>
                </a:solidFill>
                <a:latin typeface="Calibri" pitchFamily="34" charset="0"/>
                <a:ea typeface="Calibri" pitchFamily="34" charset="-122"/>
                <a:cs typeface="Calibri" pitchFamily="34" charset="-120"/>
              </a:rPr>
              <a:t>Try 2: synchronous XHR inside the DOSBox worker</a:t>
            </a:r>
            <a:endParaRPr lang="en-US" sz="1600" dirty="0"/>
          </a:p>
        </p:txBody>
      </p:sp>
      <p:sp>
        <p:nvSpPr>
          <p:cNvPr id="17" name="Text 13"/>
          <p:cNvSpPr txBox="1"/>
          <p:nvPr/>
        </p:nvSpPr>
        <p:spPr>
          <a:xfrm>
            <a:off x="7223760" y="4434840"/>
            <a:ext cx="4236415" cy="731520"/>
          </a:xfrm>
          <a:prstGeom prst="rect">
            <a:avLst/>
          </a:prstGeom>
          <a:noFill/>
          <a:ln/>
        </p:spPr>
        <p:txBody>
          <a:bodyPr wrap="square" lIns="0" tIns="0" rIns="0" bIns="0" rtlCol="0" anchor="t"/>
          <a:lstStyle/>
          <a:p>
            <a:pPr indent="0" marL="0">
              <a:buNone/>
            </a:pPr>
            <a:r>
              <a:rPr lang="en-US" sz="1300" dirty="0">
                <a:solidFill>
                  <a:srgbClr val="A3ABCB"/>
                </a:solidFill>
                <a:latin typeface="Calibri" pitchFamily="34" charset="0"/>
                <a:ea typeface="Calibri" pitchFamily="34" charset="-122"/>
                <a:cs typeface="Calibri" pitchFamily="34" charset="-120"/>
              </a:rPr>
              <a:t>DOS expects blocking file calls, and a Web Worker is allowed to block. Only the emulator waits; the UI stays responsive.</a:t>
            </a:r>
            <a:endParaRPr lang="en-US" sz="1300" dirty="0"/>
          </a:p>
        </p:txBody>
      </p:sp>
      <p:sp>
        <p:nvSpPr>
          <p:cNvPr id="18" name="Shape 14"/>
          <p:cNvSpPr/>
          <p:nvPr/>
        </p:nvSpPr>
        <p:spPr>
          <a:xfrm>
            <a:off x="548640" y="5532120"/>
            <a:ext cx="11094415" cy="868680"/>
          </a:xfrm>
          <a:prstGeom prst="roundRect">
            <a:avLst>
              <a:gd name="adj" fmla="val 8421"/>
            </a:avLst>
          </a:prstGeom>
          <a:solidFill>
            <a:srgbClr val="2A2310"/>
          </a:solidFill>
          <a:ln w="12700">
            <a:solidFill>
              <a:srgbClr val="2A2310"/>
            </a:solidFill>
            <a:prstDash val="solid"/>
          </a:ln>
        </p:spPr>
      </p:sp>
      <p:sp>
        <p:nvSpPr>
          <p:cNvPr id="19" name="Shape 15"/>
          <p:cNvSpPr/>
          <p:nvPr/>
        </p:nvSpPr>
        <p:spPr>
          <a:xfrm>
            <a:off x="777240" y="5715000"/>
            <a:ext cx="502920" cy="502920"/>
          </a:xfrm>
          <a:prstGeom prst="ellipse">
            <a:avLst/>
          </a:prstGeom>
          <a:solidFill>
            <a:srgbClr val="FFB000"/>
          </a:solidFill>
          <a:ln w="12700">
            <a:solidFill>
              <a:srgbClr val="FFB000"/>
            </a:solidFill>
            <a:prstDash val="solid"/>
          </a:ln>
        </p:spPr>
      </p:sp>
      <p:pic>
        <p:nvPicPr>
          <p:cNvPr id="20" name="Image 2" descr="preencoded.png">    </p:cNvPr>
          <p:cNvPicPr>
            <a:picLocks noChangeAspect="1"/>
          </p:cNvPicPr>
          <p:nvPr/>
        </p:nvPicPr>
        <p:blipFill>
          <a:blip r:embed="rId3"/>
          <a:stretch>
            <a:fillRect/>
          </a:stretch>
        </p:blipFill>
        <p:spPr>
          <a:xfrm>
            <a:off x="887882" y="5825642"/>
            <a:ext cx="281635" cy="281635"/>
          </a:xfrm>
          <a:prstGeom prst="rect">
            <a:avLst/>
          </a:prstGeom>
        </p:spPr>
      </p:pic>
      <p:sp>
        <p:nvSpPr>
          <p:cNvPr id="21" name="Text 16"/>
          <p:cNvSpPr txBox="1"/>
          <p:nvPr/>
        </p:nvSpPr>
        <p:spPr>
          <a:xfrm>
            <a:off x="1508760" y="5678424"/>
            <a:ext cx="1828800" cy="228600"/>
          </a:xfrm>
          <a:prstGeom prst="rect">
            <a:avLst/>
          </a:prstGeom>
          <a:noFill/>
          <a:ln/>
        </p:spPr>
        <p:txBody>
          <a:bodyPr wrap="square" lIns="0" tIns="0" rIns="0" bIns="0" rtlCol="0" anchor="t"/>
          <a:lstStyle/>
          <a:p>
            <a:pPr indent="0" marL="0">
              <a:buNone/>
            </a:pPr>
            <a:r>
              <a:rPr lang="en-US" sz="1100" b="1" dirty="0">
                <a:solidFill>
                  <a:srgbClr val="FFB000"/>
                </a:solidFill>
                <a:latin typeface="Courier New" pitchFamily="34" charset="0"/>
                <a:ea typeface="Courier New" pitchFamily="34" charset="-122"/>
                <a:cs typeface="Courier New" pitchFamily="34" charset="-120"/>
              </a:rPr>
              <a:t>AI LESSON</a:t>
            </a:r>
            <a:endParaRPr lang="en-US" sz="1100" dirty="0"/>
          </a:p>
        </p:txBody>
      </p:sp>
      <p:sp>
        <p:nvSpPr>
          <p:cNvPr id="22" name="Text 17"/>
          <p:cNvSpPr txBox="1"/>
          <p:nvPr/>
        </p:nvSpPr>
        <p:spPr>
          <a:xfrm>
            <a:off x="1508760" y="5916168"/>
            <a:ext cx="9905695" cy="411480"/>
          </a:xfrm>
          <a:prstGeom prst="rect">
            <a:avLst/>
          </a:prstGeom>
          <a:noFill/>
          <a:ln/>
        </p:spPr>
        <p:txBody>
          <a:bodyPr wrap="square" lIns="0" tIns="0" rIns="0" bIns="0" rtlCol="0" anchor="t"/>
          <a:lstStyle/>
          <a:p>
            <a:pPr indent="0" marL="0">
              <a:buNone/>
            </a:pPr>
            <a:r>
              <a:rPr lang="en-US" sz="1500" dirty="0">
                <a:solidFill>
                  <a:srgbClr val="EEF0F8"/>
                </a:solidFill>
                <a:latin typeface="Calibri" pitchFamily="34" charset="0"/>
                <a:ea typeface="Calibri" pitchFamily="34" charset="-122"/>
                <a:cs typeface="Calibri" pitchFamily="34" charset="-120"/>
              </a:rPr>
              <a:t>Spikes are now nearly free. Use them to kill wrong assumptions in hours, and keep spike code out of production.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224"/>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t"/>
          <a:lstStyle/>
          <a:p>
            <a:pPr indent="0" marL="0">
              <a:buNone/>
            </a:pPr>
            <a:r>
              <a:rPr lang="en-US" sz="1400" b="1" dirty="0">
                <a:solidFill>
                  <a:srgbClr val="FFB000"/>
                </a:solidFill>
                <a:latin typeface="Courier New" pitchFamily="34" charset="0"/>
                <a:ea typeface="Courier New" pitchFamily="34" charset="-122"/>
                <a:cs typeface="Courier New" pitchFamily="34" charset="-120"/>
              </a:rPr>
              <a:t>C:\&gt; PHASE_02 · ARCHITECT &amp; PLAN</a:t>
            </a:r>
            <a:endParaRPr lang="en-US" sz="1400" dirty="0"/>
          </a:p>
        </p:txBody>
      </p:sp>
      <p:sp>
        <p:nvSpPr>
          <p:cNvPr id="3" name="Text 1"/>
          <p:cNvSpPr txBox="1"/>
          <p:nvPr/>
        </p:nvSpPr>
        <p:spPr>
          <a:xfrm>
            <a:off x="548640" y="777240"/>
            <a:ext cx="11094415" cy="685800"/>
          </a:xfrm>
          <a:prstGeom prst="rect">
            <a:avLst/>
          </a:prstGeom>
          <a:noFill/>
          <a:ln/>
        </p:spPr>
        <p:txBody>
          <a:bodyPr wrap="square" lIns="0" tIns="0" rIns="0" bIns="0" rtlCol="0" anchor="ctr"/>
          <a:lstStyle/>
          <a:p>
            <a:pPr indent="0" marL="0">
              <a:buNone/>
            </a:pPr>
            <a:r>
              <a:rPr lang="en-US" sz="3200" b="1" dirty="0">
                <a:solidFill>
                  <a:srgbClr val="EEF0F8"/>
                </a:solidFill>
                <a:latin typeface="Courier New" pitchFamily="34" charset="0"/>
                <a:ea typeface="Courier New" pitchFamily="34" charset="-122"/>
                <a:cs typeface="Courier New" pitchFamily="34" charset="-120"/>
              </a:rPr>
              <a:t>Write the intent down before generating code</a:t>
            </a:r>
            <a:endParaRPr lang="en-US" sz="3200" dirty="0"/>
          </a:p>
        </p:txBody>
      </p:sp>
      <p:sp>
        <p:nvSpPr>
          <p:cNvPr id="4" name="Shape 2"/>
          <p:cNvSpPr/>
          <p:nvPr/>
        </p:nvSpPr>
        <p:spPr>
          <a:xfrm>
            <a:off x="548640" y="1783080"/>
            <a:ext cx="3931920" cy="3520440"/>
          </a:xfrm>
          <a:prstGeom prst="roundRect">
            <a:avLst>
              <a:gd name="adj" fmla="val 2078"/>
            </a:avLst>
          </a:prstGeom>
          <a:solidFill>
            <a:srgbClr val="182041"/>
          </a:solidFill>
          <a:ln w="12700">
            <a:solidFill>
              <a:srgbClr val="182041"/>
            </a:solidFill>
            <a:prstDash val="solid"/>
          </a:ln>
        </p:spPr>
      </p:sp>
      <p:sp>
        <p:nvSpPr>
          <p:cNvPr id="5" name="Text 3"/>
          <p:cNvSpPr txBox="1"/>
          <p:nvPr/>
        </p:nvSpPr>
        <p:spPr>
          <a:xfrm>
            <a:off x="822960" y="1874520"/>
            <a:ext cx="3383280" cy="1188720"/>
          </a:xfrm>
          <a:prstGeom prst="rect">
            <a:avLst/>
          </a:prstGeom>
          <a:noFill/>
          <a:ln/>
        </p:spPr>
        <p:txBody>
          <a:bodyPr wrap="square" lIns="0" tIns="0" rIns="0" bIns="0" rtlCol="0" anchor="t"/>
          <a:lstStyle/>
          <a:p>
            <a:pPr indent="0" marL="0">
              <a:buNone/>
            </a:pPr>
            <a:r>
              <a:rPr lang="en-US" sz="8000" b="1" dirty="0">
                <a:solidFill>
                  <a:srgbClr val="FFB000"/>
                </a:solidFill>
                <a:latin typeface="Courier New" pitchFamily="34" charset="0"/>
                <a:ea typeface="Courier New" pitchFamily="34" charset="-122"/>
                <a:cs typeface="Courier New" pitchFamily="34" charset="-120"/>
              </a:rPr>
              <a:t>0</a:t>
            </a:r>
            <a:endParaRPr lang="en-US" sz="8000" dirty="0"/>
          </a:p>
        </p:txBody>
      </p:sp>
      <p:sp>
        <p:nvSpPr>
          <p:cNvPr id="6" name="Text 4"/>
          <p:cNvSpPr txBox="1"/>
          <p:nvPr/>
        </p:nvSpPr>
        <p:spPr>
          <a:xfrm>
            <a:off x="822960" y="3063240"/>
            <a:ext cx="3383280" cy="640080"/>
          </a:xfrm>
          <a:prstGeom prst="rect">
            <a:avLst/>
          </a:prstGeom>
          <a:noFill/>
          <a:ln/>
        </p:spPr>
        <p:txBody>
          <a:bodyPr wrap="square" lIns="0" tIns="0" rIns="0" bIns="0" rtlCol="0" anchor="t"/>
          <a:lstStyle/>
          <a:p>
            <a:pPr indent="0" marL="0">
              <a:buNone/>
            </a:pPr>
            <a:r>
              <a:rPr lang="en-US" sz="1500" dirty="0">
                <a:solidFill>
                  <a:srgbClr val="EEF0F8"/>
                </a:solidFill>
                <a:latin typeface="Calibri" pitchFamily="34" charset="0"/>
                <a:ea typeface="Calibri" pitchFamily="34" charset="-122"/>
                <a:cs typeface="Calibri" pitchFamily="34" charset="-120"/>
              </a:rPr>
              <a:t>lines of product code changed in this phase</a:t>
            </a:r>
            <a:endParaRPr lang="en-US" sz="1500" dirty="0"/>
          </a:p>
        </p:txBody>
      </p:sp>
      <p:sp>
        <p:nvSpPr>
          <p:cNvPr id="7" name="Text 5"/>
          <p:cNvSpPr txBox="1"/>
          <p:nvPr/>
        </p:nvSpPr>
        <p:spPr>
          <a:xfrm>
            <a:off x="822960" y="3931920"/>
            <a:ext cx="3383280" cy="1188720"/>
          </a:xfrm>
          <a:prstGeom prst="rect">
            <a:avLst/>
          </a:prstGeom>
          <a:noFill/>
          <a:ln/>
        </p:spPr>
        <p:txBody>
          <a:bodyPr wrap="square" lIns="0" tIns="0" rIns="0" bIns="0" rtlCol="0" anchor="t"/>
          <a:lstStyle/>
          <a:p>
            <a:pPr indent="0" marL="0">
              <a:buNone/>
            </a:pPr>
            <a:r>
              <a:rPr lang="en-US" sz="1400" dirty="0">
                <a:solidFill>
                  <a:srgbClr val="A3ABCB"/>
                </a:solidFill>
                <a:latin typeface="Calibri" pitchFamily="34" charset="0"/>
                <a:ea typeface="Calibri" pitchFamily="34" charset="-122"/>
                <a:cs typeface="Calibri" pitchFamily="34" charset="-120"/>
              </a:rPr>
              <a:t>Outputs: architecture doc, implementation plan with milestones, diagrams and five ADRs.</a:t>
            </a:r>
            <a:endParaRPr lang="en-US" sz="1400" dirty="0"/>
          </a:p>
        </p:txBody>
      </p:sp>
      <p:sp>
        <p:nvSpPr>
          <p:cNvPr id="8" name="Shape 6"/>
          <p:cNvSpPr/>
          <p:nvPr/>
        </p:nvSpPr>
        <p:spPr>
          <a:xfrm>
            <a:off x="4846320" y="1783080"/>
            <a:ext cx="3261208" cy="1005840"/>
          </a:xfrm>
          <a:prstGeom prst="roundRect">
            <a:avLst>
              <a:gd name="adj" fmla="val 7273"/>
            </a:avLst>
          </a:prstGeom>
          <a:solidFill>
            <a:srgbClr val="182041"/>
          </a:solidFill>
          <a:ln w="12700">
            <a:solidFill>
              <a:srgbClr val="182041"/>
            </a:solidFill>
            <a:prstDash val="solid"/>
          </a:ln>
        </p:spPr>
      </p:sp>
      <p:sp>
        <p:nvSpPr>
          <p:cNvPr id="9" name="Text 7"/>
          <p:cNvSpPr txBox="1"/>
          <p:nvPr/>
        </p:nvSpPr>
        <p:spPr>
          <a:xfrm>
            <a:off x="5074920" y="1920240"/>
            <a:ext cx="2804008" cy="274320"/>
          </a:xfrm>
          <a:prstGeom prst="rect">
            <a:avLst/>
          </a:prstGeom>
          <a:noFill/>
          <a:ln/>
        </p:spPr>
        <p:txBody>
          <a:bodyPr wrap="square" lIns="0" tIns="0" rIns="0" bIns="0" rtlCol="0" anchor="t"/>
          <a:lstStyle/>
          <a:p>
            <a:pPr indent="0" marL="0">
              <a:buNone/>
            </a:pPr>
            <a:r>
              <a:rPr lang="en-US" sz="1200" b="1" dirty="0">
                <a:solidFill>
                  <a:srgbClr val="FFB000"/>
                </a:solidFill>
                <a:latin typeface="Courier New" pitchFamily="34" charset="0"/>
                <a:ea typeface="Courier New" pitchFamily="34" charset="-122"/>
                <a:cs typeface="Courier New" pitchFamily="34" charset="-120"/>
              </a:rPr>
              <a:t>ADR 0001</a:t>
            </a:r>
            <a:endParaRPr lang="en-US" sz="1200" dirty="0"/>
          </a:p>
        </p:txBody>
      </p:sp>
      <p:sp>
        <p:nvSpPr>
          <p:cNvPr id="10" name="Text 8"/>
          <p:cNvSpPr txBox="1"/>
          <p:nvPr/>
        </p:nvSpPr>
        <p:spPr>
          <a:xfrm>
            <a:off x="5074920" y="2194560"/>
            <a:ext cx="2804008" cy="548640"/>
          </a:xfrm>
          <a:prstGeom prst="rect">
            <a:avLst/>
          </a:prstGeom>
          <a:noFill/>
          <a:ln/>
        </p:spPr>
        <p:txBody>
          <a:bodyPr wrap="square" lIns="0" tIns="0" rIns="0" bIns="0" rtlCol="0" anchor="t"/>
          <a:lstStyle/>
          <a:p>
            <a:pPr indent="0" marL="0">
              <a:buNone/>
            </a:pPr>
            <a:r>
              <a:rPr lang="en-US" sz="1500" b="1" dirty="0">
                <a:solidFill>
                  <a:srgbClr val="EEF0F8"/>
                </a:solidFill>
                <a:latin typeface="Calibri" pitchFamily="34" charset="0"/>
                <a:ea typeface="Calibri" pitchFamily="34" charset="-122"/>
                <a:cs typeface="Calibri" pitchFamily="34" charset="-120"/>
              </a:rPr>
              <a:t>Server-authoritative user drive</a:t>
            </a:r>
            <a:endParaRPr lang="en-US" sz="1500" dirty="0"/>
          </a:p>
        </p:txBody>
      </p:sp>
      <p:sp>
        <p:nvSpPr>
          <p:cNvPr id="11" name="Shape 9"/>
          <p:cNvSpPr/>
          <p:nvPr/>
        </p:nvSpPr>
        <p:spPr>
          <a:xfrm>
            <a:off x="8381848" y="1783080"/>
            <a:ext cx="3261208" cy="1005840"/>
          </a:xfrm>
          <a:prstGeom prst="roundRect">
            <a:avLst>
              <a:gd name="adj" fmla="val 7273"/>
            </a:avLst>
          </a:prstGeom>
          <a:solidFill>
            <a:srgbClr val="182041"/>
          </a:solidFill>
          <a:ln w="12700">
            <a:solidFill>
              <a:srgbClr val="182041"/>
            </a:solidFill>
            <a:prstDash val="solid"/>
          </a:ln>
        </p:spPr>
      </p:sp>
      <p:sp>
        <p:nvSpPr>
          <p:cNvPr id="12" name="Text 10"/>
          <p:cNvSpPr txBox="1"/>
          <p:nvPr/>
        </p:nvSpPr>
        <p:spPr>
          <a:xfrm>
            <a:off x="8610448" y="1920240"/>
            <a:ext cx="2804008" cy="274320"/>
          </a:xfrm>
          <a:prstGeom prst="rect">
            <a:avLst/>
          </a:prstGeom>
          <a:noFill/>
          <a:ln/>
        </p:spPr>
        <p:txBody>
          <a:bodyPr wrap="square" lIns="0" tIns="0" rIns="0" bIns="0" rtlCol="0" anchor="t"/>
          <a:lstStyle/>
          <a:p>
            <a:pPr indent="0" marL="0">
              <a:buNone/>
            </a:pPr>
            <a:r>
              <a:rPr lang="en-US" sz="1200" b="1" dirty="0">
                <a:solidFill>
                  <a:srgbClr val="FFB000"/>
                </a:solidFill>
                <a:latin typeface="Courier New" pitchFamily="34" charset="0"/>
                <a:ea typeface="Courier New" pitchFamily="34" charset="-122"/>
                <a:cs typeface="Courier New" pitchFamily="34" charset="-120"/>
              </a:rPr>
              <a:t>ADR 0002</a:t>
            </a:r>
            <a:endParaRPr lang="en-US" sz="1200" dirty="0"/>
          </a:p>
        </p:txBody>
      </p:sp>
      <p:sp>
        <p:nvSpPr>
          <p:cNvPr id="13" name="Text 11"/>
          <p:cNvSpPr txBox="1"/>
          <p:nvPr/>
        </p:nvSpPr>
        <p:spPr>
          <a:xfrm>
            <a:off x="8610448" y="2194560"/>
            <a:ext cx="2804008" cy="548640"/>
          </a:xfrm>
          <a:prstGeom prst="rect">
            <a:avLst/>
          </a:prstGeom>
          <a:noFill/>
          <a:ln/>
        </p:spPr>
        <p:txBody>
          <a:bodyPr wrap="square" lIns="0" tIns="0" rIns="0" bIns="0" rtlCol="0" anchor="t"/>
          <a:lstStyle/>
          <a:p>
            <a:pPr indent="0" marL="0">
              <a:buNone/>
            </a:pPr>
            <a:r>
              <a:rPr lang="en-US" sz="1500" b="1" dirty="0">
                <a:solidFill>
                  <a:srgbClr val="EEF0F8"/>
                </a:solidFill>
                <a:latin typeface="Calibri" pitchFamily="34" charset="0"/>
                <a:ea typeface="Calibri" pitchFamily="34" charset="-122"/>
                <a:cs typeface="Calibri" pitchFamily="34" charset="-120"/>
              </a:rPr>
              <a:t>Catalog package install model</a:t>
            </a:r>
            <a:endParaRPr lang="en-US" sz="1500" dirty="0"/>
          </a:p>
        </p:txBody>
      </p:sp>
      <p:sp>
        <p:nvSpPr>
          <p:cNvPr id="14" name="Shape 12"/>
          <p:cNvSpPr/>
          <p:nvPr/>
        </p:nvSpPr>
        <p:spPr>
          <a:xfrm>
            <a:off x="4846320" y="3040380"/>
            <a:ext cx="3261208" cy="1005840"/>
          </a:xfrm>
          <a:prstGeom prst="roundRect">
            <a:avLst>
              <a:gd name="adj" fmla="val 7273"/>
            </a:avLst>
          </a:prstGeom>
          <a:solidFill>
            <a:srgbClr val="182041"/>
          </a:solidFill>
          <a:ln w="12700">
            <a:solidFill>
              <a:srgbClr val="182041"/>
            </a:solidFill>
            <a:prstDash val="solid"/>
          </a:ln>
        </p:spPr>
      </p:sp>
      <p:sp>
        <p:nvSpPr>
          <p:cNvPr id="15" name="Text 13"/>
          <p:cNvSpPr txBox="1"/>
          <p:nvPr/>
        </p:nvSpPr>
        <p:spPr>
          <a:xfrm>
            <a:off x="5074920" y="3177540"/>
            <a:ext cx="2804008" cy="274320"/>
          </a:xfrm>
          <a:prstGeom prst="rect">
            <a:avLst/>
          </a:prstGeom>
          <a:noFill/>
          <a:ln/>
        </p:spPr>
        <p:txBody>
          <a:bodyPr wrap="square" lIns="0" tIns="0" rIns="0" bIns="0" rtlCol="0" anchor="t"/>
          <a:lstStyle/>
          <a:p>
            <a:pPr indent="0" marL="0">
              <a:buNone/>
            </a:pPr>
            <a:r>
              <a:rPr lang="en-US" sz="1200" b="1" dirty="0">
                <a:solidFill>
                  <a:srgbClr val="FFB000"/>
                </a:solidFill>
                <a:latin typeface="Courier New" pitchFamily="34" charset="0"/>
                <a:ea typeface="Courier New" pitchFamily="34" charset="-122"/>
                <a:cs typeface="Courier New" pitchFamily="34" charset="-120"/>
              </a:rPr>
              <a:t>ADR 0003</a:t>
            </a:r>
            <a:endParaRPr lang="en-US" sz="1200" dirty="0"/>
          </a:p>
        </p:txBody>
      </p:sp>
      <p:sp>
        <p:nvSpPr>
          <p:cNvPr id="16" name="Text 14"/>
          <p:cNvSpPr txBox="1"/>
          <p:nvPr/>
        </p:nvSpPr>
        <p:spPr>
          <a:xfrm>
            <a:off x="5074920" y="3451860"/>
            <a:ext cx="2804008" cy="548640"/>
          </a:xfrm>
          <a:prstGeom prst="rect">
            <a:avLst/>
          </a:prstGeom>
          <a:noFill/>
          <a:ln/>
        </p:spPr>
        <p:txBody>
          <a:bodyPr wrap="square" lIns="0" tIns="0" rIns="0" bIns="0" rtlCol="0" anchor="t"/>
          <a:lstStyle/>
          <a:p>
            <a:pPr indent="0" marL="0">
              <a:buNone/>
            </a:pPr>
            <a:r>
              <a:rPr lang="en-US" sz="1500" b="1" dirty="0">
                <a:solidFill>
                  <a:srgbClr val="EEF0F8"/>
                </a:solidFill>
                <a:latin typeface="Calibri" pitchFamily="34" charset="0"/>
                <a:ea typeface="Calibri" pitchFamily="34" charset="-122"/>
                <a:cs typeface="Calibri" pitchFamily="34" charset="-120"/>
              </a:rPr>
              <a:t>Metadata-driven launch</a:t>
            </a:r>
            <a:endParaRPr lang="en-US" sz="1500" dirty="0"/>
          </a:p>
        </p:txBody>
      </p:sp>
      <p:sp>
        <p:nvSpPr>
          <p:cNvPr id="17" name="Shape 15"/>
          <p:cNvSpPr/>
          <p:nvPr/>
        </p:nvSpPr>
        <p:spPr>
          <a:xfrm>
            <a:off x="8381848" y="3040380"/>
            <a:ext cx="3261208" cy="1005840"/>
          </a:xfrm>
          <a:prstGeom prst="roundRect">
            <a:avLst>
              <a:gd name="adj" fmla="val 7273"/>
            </a:avLst>
          </a:prstGeom>
          <a:solidFill>
            <a:srgbClr val="182041"/>
          </a:solidFill>
          <a:ln w="12700">
            <a:solidFill>
              <a:srgbClr val="182041"/>
            </a:solidFill>
            <a:prstDash val="solid"/>
          </a:ln>
        </p:spPr>
      </p:sp>
      <p:sp>
        <p:nvSpPr>
          <p:cNvPr id="18" name="Text 16"/>
          <p:cNvSpPr txBox="1"/>
          <p:nvPr/>
        </p:nvSpPr>
        <p:spPr>
          <a:xfrm>
            <a:off x="8610448" y="3177540"/>
            <a:ext cx="2804008" cy="274320"/>
          </a:xfrm>
          <a:prstGeom prst="rect">
            <a:avLst/>
          </a:prstGeom>
          <a:noFill/>
          <a:ln/>
        </p:spPr>
        <p:txBody>
          <a:bodyPr wrap="square" lIns="0" tIns="0" rIns="0" bIns="0" rtlCol="0" anchor="t"/>
          <a:lstStyle/>
          <a:p>
            <a:pPr indent="0" marL="0">
              <a:buNone/>
            </a:pPr>
            <a:r>
              <a:rPr lang="en-US" sz="1200" b="1" dirty="0">
                <a:solidFill>
                  <a:srgbClr val="FFB000"/>
                </a:solidFill>
                <a:latin typeface="Courier New" pitchFamily="34" charset="0"/>
                <a:ea typeface="Courier New" pitchFamily="34" charset="-122"/>
                <a:cs typeface="Courier New" pitchFamily="34" charset="-120"/>
              </a:rPr>
              <a:t>ADR 0004</a:t>
            </a:r>
            <a:endParaRPr lang="en-US" sz="1200" dirty="0"/>
          </a:p>
        </p:txBody>
      </p:sp>
      <p:sp>
        <p:nvSpPr>
          <p:cNvPr id="19" name="Text 17"/>
          <p:cNvSpPr txBox="1"/>
          <p:nvPr/>
        </p:nvSpPr>
        <p:spPr>
          <a:xfrm>
            <a:off x="8610448" y="3451860"/>
            <a:ext cx="2804008" cy="548640"/>
          </a:xfrm>
          <a:prstGeom prst="rect">
            <a:avLst/>
          </a:prstGeom>
          <a:noFill/>
          <a:ln/>
        </p:spPr>
        <p:txBody>
          <a:bodyPr wrap="square" lIns="0" tIns="0" rIns="0" bIns="0" rtlCol="0" anchor="t"/>
          <a:lstStyle/>
          <a:p>
            <a:pPr indent="0" marL="0">
              <a:buNone/>
            </a:pPr>
            <a:r>
              <a:rPr lang="en-US" sz="1500" b="1" dirty="0">
                <a:solidFill>
                  <a:srgbClr val="EEF0F8"/>
                </a:solidFill>
                <a:latin typeface="Calibri" pitchFamily="34" charset="0"/>
                <a:ea typeface="Calibri" pitchFamily="34" charset="-122"/>
                <a:cs typeface="Calibri" pitchFamily="34" charset="-120"/>
              </a:rPr>
              <a:t>Modular monolith</a:t>
            </a:r>
            <a:endParaRPr lang="en-US" sz="1500" dirty="0"/>
          </a:p>
        </p:txBody>
      </p:sp>
      <p:sp>
        <p:nvSpPr>
          <p:cNvPr id="20" name="Shape 18"/>
          <p:cNvSpPr/>
          <p:nvPr/>
        </p:nvSpPr>
        <p:spPr>
          <a:xfrm>
            <a:off x="4846320" y="4297680"/>
            <a:ext cx="3261208" cy="1005840"/>
          </a:xfrm>
          <a:prstGeom prst="roundRect">
            <a:avLst>
              <a:gd name="adj" fmla="val 7273"/>
            </a:avLst>
          </a:prstGeom>
          <a:solidFill>
            <a:srgbClr val="182041"/>
          </a:solidFill>
          <a:ln w="12700">
            <a:solidFill>
              <a:srgbClr val="182041"/>
            </a:solidFill>
            <a:prstDash val="solid"/>
          </a:ln>
        </p:spPr>
      </p:sp>
      <p:sp>
        <p:nvSpPr>
          <p:cNvPr id="21" name="Text 19"/>
          <p:cNvSpPr txBox="1"/>
          <p:nvPr/>
        </p:nvSpPr>
        <p:spPr>
          <a:xfrm>
            <a:off x="5074920" y="4434840"/>
            <a:ext cx="2804008" cy="274320"/>
          </a:xfrm>
          <a:prstGeom prst="rect">
            <a:avLst/>
          </a:prstGeom>
          <a:noFill/>
          <a:ln/>
        </p:spPr>
        <p:txBody>
          <a:bodyPr wrap="square" lIns="0" tIns="0" rIns="0" bIns="0" rtlCol="0" anchor="t"/>
          <a:lstStyle/>
          <a:p>
            <a:pPr indent="0" marL="0">
              <a:buNone/>
            </a:pPr>
            <a:r>
              <a:rPr lang="en-US" sz="1200" b="1" dirty="0">
                <a:solidFill>
                  <a:srgbClr val="FFB000"/>
                </a:solidFill>
                <a:latin typeface="Courier New" pitchFamily="34" charset="0"/>
                <a:ea typeface="Courier New" pitchFamily="34" charset="-122"/>
                <a:cs typeface="Courier New" pitchFamily="34" charset="-120"/>
              </a:rPr>
              <a:t>ADR 0005</a:t>
            </a:r>
            <a:endParaRPr lang="en-US" sz="1200" dirty="0"/>
          </a:p>
        </p:txBody>
      </p:sp>
      <p:sp>
        <p:nvSpPr>
          <p:cNvPr id="22" name="Text 20"/>
          <p:cNvSpPr txBox="1"/>
          <p:nvPr/>
        </p:nvSpPr>
        <p:spPr>
          <a:xfrm>
            <a:off x="5074920" y="4709160"/>
            <a:ext cx="2804008" cy="548640"/>
          </a:xfrm>
          <a:prstGeom prst="rect">
            <a:avLst/>
          </a:prstGeom>
          <a:noFill/>
          <a:ln/>
        </p:spPr>
        <p:txBody>
          <a:bodyPr wrap="square" lIns="0" tIns="0" rIns="0" bIns="0" rtlCol="0" anchor="t"/>
          <a:lstStyle/>
          <a:p>
            <a:pPr indent="0" marL="0">
              <a:buNone/>
            </a:pPr>
            <a:r>
              <a:rPr lang="en-US" sz="1500" b="1" dirty="0">
                <a:solidFill>
                  <a:srgbClr val="EEF0F8"/>
                </a:solidFill>
                <a:latin typeface="Calibri" pitchFamily="34" charset="0"/>
                <a:ea typeface="Calibri" pitchFamily="34" charset="-122"/>
                <a:cs typeface="Calibri" pitchFamily="34" charset="-120"/>
              </a:rPr>
              <a:t>Separate IPX data plane</a:t>
            </a:r>
            <a:endParaRPr lang="en-US" sz="1500" dirty="0"/>
          </a:p>
        </p:txBody>
      </p:sp>
      <p:sp>
        <p:nvSpPr>
          <p:cNvPr id="23" name="Shape 21"/>
          <p:cNvSpPr/>
          <p:nvPr/>
        </p:nvSpPr>
        <p:spPr>
          <a:xfrm>
            <a:off x="8381848" y="4297680"/>
            <a:ext cx="3261208" cy="1005840"/>
          </a:xfrm>
          <a:prstGeom prst="roundRect">
            <a:avLst>
              <a:gd name="adj" fmla="val 7273"/>
            </a:avLst>
          </a:prstGeom>
          <a:solidFill>
            <a:srgbClr val="0D1224"/>
          </a:solidFill>
          <a:ln w="12700">
            <a:solidFill>
              <a:srgbClr val="0D1224"/>
            </a:solidFill>
            <a:prstDash val="solid"/>
          </a:ln>
        </p:spPr>
      </p:sp>
      <p:sp>
        <p:nvSpPr>
          <p:cNvPr id="24" name="Shape 22"/>
          <p:cNvSpPr/>
          <p:nvPr/>
        </p:nvSpPr>
        <p:spPr>
          <a:xfrm>
            <a:off x="8381848" y="4297680"/>
            <a:ext cx="3261208" cy="1005840"/>
          </a:xfrm>
          <a:prstGeom prst="roundRect">
            <a:avLst>
              <a:gd name="adj" fmla="val 7273"/>
            </a:avLst>
          </a:prstGeom>
          <a:solidFill>
            <a:srgbClr val="0D1224"/>
          </a:solidFill>
          <a:ln w="19050">
            <a:solidFill>
              <a:srgbClr val="212B57"/>
            </a:solidFill>
            <a:prstDash val="dash"/>
          </a:ln>
        </p:spPr>
      </p:sp>
      <p:sp>
        <p:nvSpPr>
          <p:cNvPr id="25" name="Text 23"/>
          <p:cNvSpPr txBox="1"/>
          <p:nvPr/>
        </p:nvSpPr>
        <p:spPr>
          <a:xfrm>
            <a:off x="8610448" y="4434840"/>
            <a:ext cx="2804008" cy="274320"/>
          </a:xfrm>
          <a:prstGeom prst="rect">
            <a:avLst/>
          </a:prstGeom>
          <a:noFill/>
          <a:ln/>
        </p:spPr>
        <p:txBody>
          <a:bodyPr wrap="square" lIns="0" tIns="0" rIns="0" bIns="0" rtlCol="0" anchor="t"/>
          <a:lstStyle/>
          <a:p>
            <a:pPr indent="0" marL="0">
              <a:buNone/>
            </a:pPr>
            <a:r>
              <a:rPr lang="en-US" sz="1200" b="1" dirty="0">
                <a:solidFill>
                  <a:srgbClr val="A3ABCB"/>
                </a:solidFill>
                <a:latin typeface="Courier New" pitchFamily="34" charset="0"/>
                <a:ea typeface="Courier New" pitchFamily="34" charset="-122"/>
                <a:cs typeface="Courier New" pitchFamily="34" charset="-120"/>
              </a:rPr>
              <a:t>ADR 0006</a:t>
            </a:r>
            <a:endParaRPr lang="en-US" sz="1200" dirty="0"/>
          </a:p>
        </p:txBody>
      </p:sp>
      <p:sp>
        <p:nvSpPr>
          <p:cNvPr id="26" name="Text 24"/>
          <p:cNvSpPr txBox="1"/>
          <p:nvPr/>
        </p:nvSpPr>
        <p:spPr>
          <a:xfrm>
            <a:off x="8610448" y="4709160"/>
            <a:ext cx="2804008" cy="548640"/>
          </a:xfrm>
          <a:prstGeom prst="rect">
            <a:avLst/>
          </a:prstGeom>
          <a:noFill/>
          <a:ln/>
        </p:spPr>
        <p:txBody>
          <a:bodyPr wrap="square" lIns="0" tIns="0" rIns="0" bIns="0" rtlCol="0" anchor="t"/>
          <a:lstStyle/>
          <a:p>
            <a:pPr indent="0" marL="0">
              <a:buNone/>
            </a:pPr>
            <a:r>
              <a:rPr lang="en-US" sz="1500" dirty="0">
                <a:solidFill>
                  <a:srgbClr val="A3ABCB"/>
                </a:solidFill>
                <a:latin typeface="Calibri" pitchFamily="34" charset="0"/>
                <a:ea typeface="Calibri" pitchFamily="34" charset="-122"/>
                <a:cs typeface="Calibri" pitchFamily="34" charset="-120"/>
              </a:rPr>
              <a:t>Server-brokered IPX over WebSocket (added in Phase 6)</a:t>
            </a:r>
            <a:endParaRPr lang="en-US" sz="1500" dirty="0"/>
          </a:p>
        </p:txBody>
      </p:sp>
      <p:sp>
        <p:nvSpPr>
          <p:cNvPr id="27" name="Shape 25"/>
          <p:cNvSpPr/>
          <p:nvPr/>
        </p:nvSpPr>
        <p:spPr>
          <a:xfrm>
            <a:off x="548640" y="5532120"/>
            <a:ext cx="11094415" cy="868680"/>
          </a:xfrm>
          <a:prstGeom prst="roundRect">
            <a:avLst>
              <a:gd name="adj" fmla="val 8421"/>
            </a:avLst>
          </a:prstGeom>
          <a:solidFill>
            <a:srgbClr val="2A2310"/>
          </a:solidFill>
          <a:ln w="12700">
            <a:solidFill>
              <a:srgbClr val="2A2310"/>
            </a:solidFill>
            <a:prstDash val="solid"/>
          </a:ln>
        </p:spPr>
      </p:sp>
      <p:sp>
        <p:nvSpPr>
          <p:cNvPr id="28" name="Shape 26"/>
          <p:cNvSpPr/>
          <p:nvPr/>
        </p:nvSpPr>
        <p:spPr>
          <a:xfrm>
            <a:off x="777240" y="5715000"/>
            <a:ext cx="502920" cy="502920"/>
          </a:xfrm>
          <a:prstGeom prst="ellipse">
            <a:avLst/>
          </a:prstGeom>
          <a:solidFill>
            <a:srgbClr val="FFB000"/>
          </a:solidFill>
          <a:ln w="12700">
            <a:solidFill>
              <a:srgbClr val="FFB000"/>
            </a:solidFill>
            <a:prstDash val="solid"/>
          </a:ln>
        </p:spPr>
      </p:sp>
      <p:pic>
        <p:nvPicPr>
          <p:cNvPr id="29" name="Image 0" descr="preencoded.png">    </p:cNvPr>
          <p:cNvPicPr>
            <a:picLocks noChangeAspect="1"/>
          </p:cNvPicPr>
          <p:nvPr/>
        </p:nvPicPr>
        <p:blipFill>
          <a:blip r:embed="rId1"/>
          <a:stretch>
            <a:fillRect/>
          </a:stretch>
        </p:blipFill>
        <p:spPr>
          <a:xfrm>
            <a:off x="887882" y="5825642"/>
            <a:ext cx="281635" cy="281635"/>
          </a:xfrm>
          <a:prstGeom prst="rect">
            <a:avLst/>
          </a:prstGeom>
        </p:spPr>
      </p:pic>
      <p:sp>
        <p:nvSpPr>
          <p:cNvPr id="30" name="Text 27"/>
          <p:cNvSpPr txBox="1"/>
          <p:nvPr/>
        </p:nvSpPr>
        <p:spPr>
          <a:xfrm>
            <a:off x="1508760" y="5678424"/>
            <a:ext cx="1828800" cy="228600"/>
          </a:xfrm>
          <a:prstGeom prst="rect">
            <a:avLst/>
          </a:prstGeom>
          <a:noFill/>
          <a:ln/>
        </p:spPr>
        <p:txBody>
          <a:bodyPr wrap="square" lIns="0" tIns="0" rIns="0" bIns="0" rtlCol="0" anchor="t"/>
          <a:lstStyle/>
          <a:p>
            <a:pPr indent="0" marL="0">
              <a:buNone/>
            </a:pPr>
            <a:r>
              <a:rPr lang="en-US" sz="1100" b="1" dirty="0">
                <a:solidFill>
                  <a:srgbClr val="FFB000"/>
                </a:solidFill>
                <a:latin typeface="Courier New" pitchFamily="34" charset="0"/>
                <a:ea typeface="Courier New" pitchFamily="34" charset="-122"/>
                <a:cs typeface="Courier New" pitchFamily="34" charset="-120"/>
              </a:rPr>
              <a:t>AI LESSON</a:t>
            </a:r>
            <a:endParaRPr lang="en-US" sz="1100" dirty="0"/>
          </a:p>
        </p:txBody>
      </p:sp>
      <p:sp>
        <p:nvSpPr>
          <p:cNvPr id="31" name="Text 28"/>
          <p:cNvSpPr txBox="1"/>
          <p:nvPr/>
        </p:nvSpPr>
        <p:spPr>
          <a:xfrm>
            <a:off x="1508760" y="5916168"/>
            <a:ext cx="9905695" cy="411480"/>
          </a:xfrm>
          <a:prstGeom prst="rect">
            <a:avLst/>
          </a:prstGeom>
          <a:noFill/>
          <a:ln/>
        </p:spPr>
        <p:txBody>
          <a:bodyPr wrap="square" lIns="0" tIns="0" rIns="0" bIns="0" rtlCol="0" anchor="t"/>
          <a:lstStyle/>
          <a:p>
            <a:pPr indent="0" marL="0">
              <a:buNone/>
            </a:pPr>
            <a:r>
              <a:rPr lang="en-US" sz="1500" dirty="0">
                <a:solidFill>
                  <a:srgbClr val="EEF0F8"/>
                </a:solidFill>
                <a:latin typeface="Calibri" pitchFamily="34" charset="0"/>
                <a:ea typeface="Calibri" pitchFamily="34" charset="-122"/>
                <a:cs typeface="Calibri" pitchFamily="34" charset="-120"/>
              </a:rPr>
              <a:t>Docs and ADRs are the AI's long-term memory: they keep a fast generator aimed at one target.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224"/>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t"/>
          <a:lstStyle/>
          <a:p>
            <a:pPr indent="0" marL="0">
              <a:buNone/>
            </a:pPr>
            <a:r>
              <a:rPr lang="en-US" sz="1400" b="1" dirty="0">
                <a:solidFill>
                  <a:srgbClr val="FFB000"/>
                </a:solidFill>
                <a:latin typeface="Courier New" pitchFamily="34" charset="0"/>
                <a:ea typeface="Courier New" pitchFamily="34" charset="-122"/>
                <a:cs typeface="Courier New" pitchFamily="34" charset="-120"/>
              </a:rPr>
              <a:t>C:\&gt; BUILD /INSIDE-OUT /OUTSIDE-IN</a:t>
            </a:r>
            <a:endParaRPr lang="en-US" sz="1400" dirty="0"/>
          </a:p>
        </p:txBody>
      </p:sp>
      <p:sp>
        <p:nvSpPr>
          <p:cNvPr id="3" name="Text 1"/>
          <p:cNvSpPr txBox="1"/>
          <p:nvPr/>
        </p:nvSpPr>
        <p:spPr>
          <a:xfrm>
            <a:off x="548640" y="777240"/>
            <a:ext cx="11094415" cy="685800"/>
          </a:xfrm>
          <a:prstGeom prst="rect">
            <a:avLst/>
          </a:prstGeom>
          <a:noFill/>
          <a:ln/>
        </p:spPr>
        <p:txBody>
          <a:bodyPr wrap="square" lIns="0" tIns="0" rIns="0" bIns="0" rtlCol="0" anchor="ctr"/>
          <a:lstStyle/>
          <a:p>
            <a:pPr indent="0" marL="0">
              <a:buNone/>
            </a:pPr>
            <a:r>
              <a:rPr lang="en-US" sz="3200" b="1" dirty="0">
                <a:solidFill>
                  <a:srgbClr val="EEF0F8"/>
                </a:solidFill>
                <a:latin typeface="Courier New" pitchFamily="34" charset="0"/>
                <a:ea typeface="Courier New" pitchFamily="34" charset="-122"/>
                <a:cs typeface="Courier New" pitchFamily="34" charset="-120"/>
              </a:rPr>
              <a:t>Two ways to build, and when to vibe</a:t>
            </a:r>
            <a:endParaRPr lang="en-US" sz="3200" dirty="0"/>
          </a:p>
        </p:txBody>
      </p:sp>
      <p:sp>
        <p:nvSpPr>
          <p:cNvPr id="4" name="Shape 2"/>
          <p:cNvSpPr/>
          <p:nvPr/>
        </p:nvSpPr>
        <p:spPr>
          <a:xfrm>
            <a:off x="548640" y="1737360"/>
            <a:ext cx="5410048" cy="2423160"/>
          </a:xfrm>
          <a:prstGeom prst="roundRect">
            <a:avLst>
              <a:gd name="adj" fmla="val 3019"/>
            </a:avLst>
          </a:prstGeom>
          <a:solidFill>
            <a:srgbClr val="182041"/>
          </a:solidFill>
          <a:ln w="12700">
            <a:solidFill>
              <a:srgbClr val="182041"/>
            </a:solidFill>
            <a:prstDash val="solid"/>
          </a:ln>
        </p:spPr>
      </p:sp>
      <p:sp>
        <p:nvSpPr>
          <p:cNvPr id="5" name="Shape 3"/>
          <p:cNvSpPr/>
          <p:nvPr/>
        </p:nvSpPr>
        <p:spPr>
          <a:xfrm>
            <a:off x="822960" y="2194560"/>
            <a:ext cx="1463040" cy="1463040"/>
          </a:xfrm>
          <a:prstGeom prst="ellipse">
            <a:avLst/>
          </a:prstGeom>
          <a:solidFill>
            <a:srgbClr val="182041"/>
          </a:solidFill>
          <a:ln w="15875">
            <a:solidFill>
              <a:srgbClr val="A3ABCB"/>
            </a:solidFill>
            <a:prstDash val="dash"/>
          </a:ln>
        </p:spPr>
      </p:sp>
      <p:sp>
        <p:nvSpPr>
          <p:cNvPr id="6" name="Shape 4"/>
          <p:cNvSpPr/>
          <p:nvPr/>
        </p:nvSpPr>
        <p:spPr>
          <a:xfrm>
            <a:off x="1097280" y="2468880"/>
            <a:ext cx="914400" cy="914400"/>
          </a:xfrm>
          <a:prstGeom prst="ellipse">
            <a:avLst/>
          </a:prstGeom>
          <a:solidFill>
            <a:srgbClr val="212B57"/>
          </a:solidFill>
          <a:ln w="19050">
            <a:solidFill>
              <a:srgbClr val="4FD1E8"/>
            </a:solidFill>
            <a:prstDash val="solid"/>
          </a:ln>
        </p:spPr>
      </p:sp>
      <p:sp>
        <p:nvSpPr>
          <p:cNvPr id="7" name="Shape 5"/>
          <p:cNvSpPr/>
          <p:nvPr/>
        </p:nvSpPr>
        <p:spPr>
          <a:xfrm>
            <a:off x="1344168" y="2715768"/>
            <a:ext cx="420624" cy="420624"/>
          </a:xfrm>
          <a:prstGeom prst="ellipse">
            <a:avLst/>
          </a:prstGeom>
          <a:solidFill>
            <a:srgbClr val="FFB000"/>
          </a:solidFill>
          <a:ln w="12700">
            <a:solidFill>
              <a:srgbClr val="FFB000"/>
            </a:solidFill>
            <a:prstDash val="solid"/>
          </a:ln>
        </p:spPr>
      </p:sp>
      <p:sp>
        <p:nvSpPr>
          <p:cNvPr id="8" name="Text 6"/>
          <p:cNvSpPr txBox="1"/>
          <p:nvPr/>
        </p:nvSpPr>
        <p:spPr>
          <a:xfrm>
            <a:off x="2606040" y="1965960"/>
            <a:ext cx="3124048" cy="274320"/>
          </a:xfrm>
          <a:prstGeom prst="rect">
            <a:avLst/>
          </a:prstGeom>
          <a:noFill/>
          <a:ln/>
        </p:spPr>
        <p:txBody>
          <a:bodyPr wrap="square" lIns="0" tIns="0" rIns="0" bIns="0" rtlCol="0" anchor="t"/>
          <a:lstStyle/>
          <a:p>
            <a:pPr indent="0" marL="0">
              <a:buNone/>
            </a:pPr>
            <a:r>
              <a:rPr lang="en-US" sz="1200" b="1" dirty="0">
                <a:solidFill>
                  <a:srgbClr val="FFB000"/>
                </a:solidFill>
                <a:latin typeface="Courier New" pitchFamily="34" charset="0"/>
                <a:ea typeface="Courier New" pitchFamily="34" charset="-122"/>
                <a:cs typeface="Courier New" pitchFamily="34" charset="-120"/>
              </a:rPr>
              <a:t>INSIDE-OUT · PHASE 01</a:t>
            </a:r>
            <a:endParaRPr lang="en-US" sz="1200" dirty="0"/>
          </a:p>
        </p:txBody>
      </p:sp>
      <p:sp>
        <p:nvSpPr>
          <p:cNvPr id="9" name="Text 7"/>
          <p:cNvSpPr txBox="1"/>
          <p:nvPr/>
        </p:nvSpPr>
        <p:spPr>
          <a:xfrm>
            <a:off x="2606040" y="2267712"/>
            <a:ext cx="3124048" cy="365760"/>
          </a:xfrm>
          <a:prstGeom prst="rect">
            <a:avLst/>
          </a:prstGeom>
          <a:noFill/>
          <a:ln/>
        </p:spPr>
        <p:txBody>
          <a:bodyPr wrap="square" lIns="0" tIns="0" rIns="0" bIns="0" rtlCol="0" anchor="t"/>
          <a:lstStyle/>
          <a:p>
            <a:pPr indent="0" marL="0">
              <a:buNone/>
            </a:pPr>
            <a:r>
              <a:rPr lang="en-US" sz="1800" b="1" dirty="0">
                <a:solidFill>
                  <a:srgbClr val="EEF0F8"/>
                </a:solidFill>
                <a:latin typeface="Calibri" pitchFamily="34" charset="0"/>
                <a:ea typeface="Calibri" pitchFamily="34" charset="-122"/>
                <a:cs typeface="Calibri" pitchFamily="34" charset="-120"/>
              </a:rPr>
              <a:t>Start at the core, build outward</a:t>
            </a:r>
            <a:endParaRPr lang="en-US" sz="1800" dirty="0"/>
          </a:p>
        </p:txBody>
      </p:sp>
      <p:sp>
        <p:nvSpPr>
          <p:cNvPr id="10" name="Text 8"/>
          <p:cNvSpPr txBox="1"/>
          <p:nvPr/>
        </p:nvSpPr>
        <p:spPr>
          <a:xfrm>
            <a:off x="2606040" y="2743200"/>
            <a:ext cx="3124048" cy="12801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EEF0F8"/>
                </a:solidFill>
                <a:latin typeface="Calibri" pitchFamily="34" charset="0"/>
                <a:ea typeface="Calibri" pitchFamily="34" charset="-122"/>
                <a:cs typeface="Calibri" pitchFamily="34" charset="-120"/>
              </a:rPr>
              <a:t>Spikes, small projects, prototypes</a:t>
            </a:r>
            <a:endParaRPr lang="en-US" sz="1400" dirty="0"/>
          </a:p>
          <a:p>
            <a:pPr marL="203200" indent="-203200">
              <a:spcAft>
                <a:spcPts val="600"/>
              </a:spcAft>
              <a:buSzPct val="100000"/>
              <a:buChar char="•"/>
            </a:pPr>
            <a:r>
              <a:rPr lang="en-US" sz="1400" dirty="0">
                <a:solidFill>
                  <a:srgbClr val="EEF0F8"/>
                </a:solidFill>
                <a:latin typeface="Calibri" pitchFamily="34" charset="0"/>
                <a:ea typeface="Calibri" pitchFamily="34" charset="-122"/>
                <a:cs typeface="Calibri" pitchFamily="34" charset="-120"/>
              </a:rPr>
              <a:t>One core idea; grow around it</a:t>
            </a:r>
            <a:endParaRPr lang="en-US" sz="1400" dirty="0"/>
          </a:p>
          <a:p>
            <a:pPr marL="203200" indent="-203200">
              <a:spcAft>
                <a:spcPts val="600"/>
              </a:spcAft>
              <a:buSzPct val="100000"/>
              <a:buChar char="•"/>
            </a:pPr>
            <a:r>
              <a:rPr lang="en-US" sz="1400" dirty="0">
                <a:solidFill>
                  <a:srgbClr val="EEF0F8"/>
                </a:solidFill>
                <a:latin typeface="Calibri" pitchFamily="34" charset="0"/>
                <a:ea typeface="Calibri" pitchFamily="34" charset="-122"/>
                <a:cs typeface="Calibri" pitchFamily="34" charset="-120"/>
              </a:rPr>
              <a:t>See fast how the pieces fit</a:t>
            </a:r>
            <a:endParaRPr lang="en-US" sz="1400" dirty="0"/>
          </a:p>
          <a:p>
            <a:pPr marL="203200" indent="-203200">
              <a:spcAft>
                <a:spcPts val="600"/>
              </a:spcAft>
              <a:buSzPct val="100000"/>
              <a:buChar char="•"/>
            </a:pPr>
            <a:r>
              <a:rPr lang="en-US" sz="1400" dirty="0">
                <a:solidFill>
                  <a:srgbClr val="EEF0F8"/>
                </a:solidFill>
                <a:latin typeface="Calibri" pitchFamily="34" charset="0"/>
                <a:ea typeface="Calibri" pitchFamily="34" charset="-122"/>
                <a:cs typeface="Calibri" pitchFamily="34" charset="-120"/>
              </a:rPr>
              <a:t>Trade-off: architecture is accidental</a:t>
            </a:r>
            <a:endParaRPr lang="en-US" sz="1400" dirty="0"/>
          </a:p>
        </p:txBody>
      </p:sp>
      <p:sp>
        <p:nvSpPr>
          <p:cNvPr id="11" name="Shape 9"/>
          <p:cNvSpPr/>
          <p:nvPr/>
        </p:nvSpPr>
        <p:spPr>
          <a:xfrm>
            <a:off x="6233008" y="1737360"/>
            <a:ext cx="5410048" cy="2423160"/>
          </a:xfrm>
          <a:prstGeom prst="roundRect">
            <a:avLst>
              <a:gd name="adj" fmla="val 3019"/>
            </a:avLst>
          </a:prstGeom>
          <a:solidFill>
            <a:srgbClr val="212B57"/>
          </a:solidFill>
          <a:ln w="12700">
            <a:solidFill>
              <a:srgbClr val="212B57"/>
            </a:solidFill>
            <a:prstDash val="solid"/>
          </a:ln>
        </p:spPr>
      </p:sp>
      <p:sp>
        <p:nvSpPr>
          <p:cNvPr id="12" name="Shape 10"/>
          <p:cNvSpPr/>
          <p:nvPr/>
        </p:nvSpPr>
        <p:spPr>
          <a:xfrm>
            <a:off x="6507328" y="2194560"/>
            <a:ext cx="1463040" cy="1463040"/>
          </a:xfrm>
          <a:prstGeom prst="roundRect">
            <a:avLst>
              <a:gd name="adj" fmla="val 3125"/>
            </a:avLst>
          </a:prstGeom>
          <a:solidFill>
            <a:srgbClr val="212B57"/>
          </a:solidFill>
          <a:ln w="25400">
            <a:solidFill>
              <a:srgbClr val="FFB000"/>
            </a:solidFill>
            <a:prstDash val="solid"/>
          </a:ln>
        </p:spPr>
      </p:sp>
      <p:sp>
        <p:nvSpPr>
          <p:cNvPr id="13" name="Shape 11"/>
          <p:cNvSpPr/>
          <p:nvPr/>
        </p:nvSpPr>
        <p:spPr>
          <a:xfrm>
            <a:off x="6617056" y="2304288"/>
            <a:ext cx="365760" cy="365760"/>
          </a:xfrm>
          <a:prstGeom prst="rect">
            <a:avLst/>
          </a:prstGeom>
          <a:solidFill>
            <a:srgbClr val="4FD1E8"/>
          </a:solidFill>
          <a:ln w="12700">
            <a:solidFill>
              <a:srgbClr val="4FD1E8"/>
            </a:solidFill>
            <a:prstDash val="solid"/>
          </a:ln>
        </p:spPr>
      </p:sp>
      <p:sp>
        <p:nvSpPr>
          <p:cNvPr id="14" name="Shape 12"/>
          <p:cNvSpPr/>
          <p:nvPr/>
        </p:nvSpPr>
        <p:spPr>
          <a:xfrm>
            <a:off x="7055968" y="2304288"/>
            <a:ext cx="365760" cy="365760"/>
          </a:xfrm>
          <a:prstGeom prst="rect">
            <a:avLst/>
          </a:prstGeom>
          <a:solidFill>
            <a:srgbClr val="4FD1E8"/>
          </a:solidFill>
          <a:ln w="12700">
            <a:solidFill>
              <a:srgbClr val="4FD1E8"/>
            </a:solidFill>
            <a:prstDash val="solid"/>
          </a:ln>
        </p:spPr>
      </p:sp>
      <p:sp>
        <p:nvSpPr>
          <p:cNvPr id="15" name="Shape 13"/>
          <p:cNvSpPr/>
          <p:nvPr/>
        </p:nvSpPr>
        <p:spPr>
          <a:xfrm>
            <a:off x="7494880" y="2304288"/>
            <a:ext cx="365760" cy="365760"/>
          </a:xfrm>
          <a:prstGeom prst="rect">
            <a:avLst/>
          </a:prstGeom>
          <a:solidFill>
            <a:srgbClr val="4FD1E8"/>
          </a:solidFill>
          <a:ln w="12700">
            <a:solidFill>
              <a:srgbClr val="4FD1E8"/>
            </a:solidFill>
            <a:prstDash val="solid"/>
          </a:ln>
        </p:spPr>
      </p:sp>
      <p:sp>
        <p:nvSpPr>
          <p:cNvPr id="16" name="Shape 14"/>
          <p:cNvSpPr/>
          <p:nvPr/>
        </p:nvSpPr>
        <p:spPr>
          <a:xfrm>
            <a:off x="6617056" y="2743200"/>
            <a:ext cx="365760" cy="365760"/>
          </a:xfrm>
          <a:prstGeom prst="rect">
            <a:avLst/>
          </a:prstGeom>
          <a:solidFill>
            <a:srgbClr val="4FD1E8"/>
          </a:solidFill>
          <a:ln w="12700">
            <a:solidFill>
              <a:srgbClr val="4FD1E8"/>
            </a:solidFill>
            <a:prstDash val="solid"/>
          </a:ln>
        </p:spPr>
      </p:sp>
      <p:sp>
        <p:nvSpPr>
          <p:cNvPr id="17" name="Shape 15"/>
          <p:cNvSpPr/>
          <p:nvPr/>
        </p:nvSpPr>
        <p:spPr>
          <a:xfrm>
            <a:off x="7055968" y="2743200"/>
            <a:ext cx="365760" cy="365760"/>
          </a:xfrm>
          <a:prstGeom prst="rect">
            <a:avLst/>
          </a:prstGeom>
          <a:solidFill>
            <a:srgbClr val="4FD1E8"/>
          </a:solidFill>
          <a:ln w="12700">
            <a:solidFill>
              <a:srgbClr val="4FD1E8"/>
            </a:solidFill>
            <a:prstDash val="solid"/>
          </a:ln>
        </p:spPr>
      </p:sp>
      <p:sp>
        <p:nvSpPr>
          <p:cNvPr id="18" name="Shape 16"/>
          <p:cNvSpPr/>
          <p:nvPr/>
        </p:nvSpPr>
        <p:spPr>
          <a:xfrm>
            <a:off x="7494880" y="2743200"/>
            <a:ext cx="365760" cy="365760"/>
          </a:xfrm>
          <a:prstGeom prst="rect">
            <a:avLst/>
          </a:prstGeom>
          <a:solidFill>
            <a:srgbClr val="212B57"/>
          </a:solidFill>
          <a:ln w="12700">
            <a:solidFill>
              <a:srgbClr val="A3ABCB"/>
            </a:solidFill>
            <a:prstDash val="dash"/>
          </a:ln>
        </p:spPr>
      </p:sp>
      <p:sp>
        <p:nvSpPr>
          <p:cNvPr id="19" name="Shape 17"/>
          <p:cNvSpPr/>
          <p:nvPr/>
        </p:nvSpPr>
        <p:spPr>
          <a:xfrm>
            <a:off x="6617056" y="3182112"/>
            <a:ext cx="365760" cy="365760"/>
          </a:xfrm>
          <a:prstGeom prst="rect">
            <a:avLst/>
          </a:prstGeom>
          <a:solidFill>
            <a:srgbClr val="212B57"/>
          </a:solidFill>
          <a:ln w="12700">
            <a:solidFill>
              <a:srgbClr val="A3ABCB"/>
            </a:solidFill>
            <a:prstDash val="dash"/>
          </a:ln>
        </p:spPr>
      </p:sp>
      <p:sp>
        <p:nvSpPr>
          <p:cNvPr id="20" name="Shape 18"/>
          <p:cNvSpPr/>
          <p:nvPr/>
        </p:nvSpPr>
        <p:spPr>
          <a:xfrm>
            <a:off x="7055968" y="3182112"/>
            <a:ext cx="365760" cy="365760"/>
          </a:xfrm>
          <a:prstGeom prst="rect">
            <a:avLst/>
          </a:prstGeom>
          <a:solidFill>
            <a:srgbClr val="212B57"/>
          </a:solidFill>
          <a:ln w="12700">
            <a:solidFill>
              <a:srgbClr val="A3ABCB"/>
            </a:solidFill>
            <a:prstDash val="dash"/>
          </a:ln>
        </p:spPr>
      </p:sp>
      <p:sp>
        <p:nvSpPr>
          <p:cNvPr id="21" name="Shape 19"/>
          <p:cNvSpPr/>
          <p:nvPr/>
        </p:nvSpPr>
        <p:spPr>
          <a:xfrm>
            <a:off x="7494880" y="3182112"/>
            <a:ext cx="365760" cy="365760"/>
          </a:xfrm>
          <a:prstGeom prst="rect">
            <a:avLst/>
          </a:prstGeom>
          <a:solidFill>
            <a:srgbClr val="212B57"/>
          </a:solidFill>
          <a:ln w="12700">
            <a:solidFill>
              <a:srgbClr val="A3ABCB"/>
            </a:solidFill>
            <a:prstDash val="dash"/>
          </a:ln>
        </p:spPr>
      </p:sp>
      <p:sp>
        <p:nvSpPr>
          <p:cNvPr id="22" name="Text 20"/>
          <p:cNvSpPr txBox="1"/>
          <p:nvPr/>
        </p:nvSpPr>
        <p:spPr>
          <a:xfrm>
            <a:off x="8290408" y="1965960"/>
            <a:ext cx="3124048" cy="274320"/>
          </a:xfrm>
          <a:prstGeom prst="rect">
            <a:avLst/>
          </a:prstGeom>
          <a:noFill/>
          <a:ln/>
        </p:spPr>
        <p:txBody>
          <a:bodyPr wrap="square" lIns="0" tIns="0" rIns="0" bIns="0" rtlCol="0" anchor="t"/>
          <a:lstStyle/>
          <a:p>
            <a:pPr indent="0" marL="0">
              <a:buNone/>
            </a:pPr>
            <a:r>
              <a:rPr lang="en-US" sz="1200" b="1" dirty="0">
                <a:solidFill>
                  <a:srgbClr val="FFB000"/>
                </a:solidFill>
                <a:latin typeface="Courier New" pitchFamily="34" charset="0"/>
                <a:ea typeface="Courier New" pitchFamily="34" charset="-122"/>
                <a:cs typeface="Courier New" pitchFamily="34" charset="-120"/>
              </a:rPr>
              <a:t>OUTSIDE-IN · PHASES 02–03</a:t>
            </a:r>
            <a:endParaRPr lang="en-US" sz="1200" dirty="0"/>
          </a:p>
        </p:txBody>
      </p:sp>
      <p:sp>
        <p:nvSpPr>
          <p:cNvPr id="23" name="Text 21"/>
          <p:cNvSpPr txBox="1"/>
          <p:nvPr/>
        </p:nvSpPr>
        <p:spPr>
          <a:xfrm>
            <a:off x="8290408" y="2267712"/>
            <a:ext cx="3124048" cy="365760"/>
          </a:xfrm>
          <a:prstGeom prst="rect">
            <a:avLst/>
          </a:prstGeom>
          <a:noFill/>
          <a:ln/>
        </p:spPr>
        <p:txBody>
          <a:bodyPr wrap="square" lIns="0" tIns="0" rIns="0" bIns="0" rtlCol="0" anchor="t"/>
          <a:lstStyle/>
          <a:p>
            <a:pPr indent="0" marL="0">
              <a:buNone/>
            </a:pPr>
            <a:r>
              <a:rPr lang="en-US" sz="1800" b="1" dirty="0">
                <a:solidFill>
                  <a:srgbClr val="EEF0F8"/>
                </a:solidFill>
                <a:latin typeface="Calibri" pitchFamily="34" charset="0"/>
                <a:ea typeface="Calibri" pitchFamily="34" charset="-122"/>
                <a:cs typeface="Calibri" pitchFamily="34" charset="-120"/>
              </a:rPr>
              <a:t>Frame it first, then fill it in</a:t>
            </a:r>
            <a:endParaRPr lang="en-US" sz="1800" dirty="0"/>
          </a:p>
        </p:txBody>
      </p:sp>
      <p:sp>
        <p:nvSpPr>
          <p:cNvPr id="24" name="Text 22"/>
          <p:cNvSpPr txBox="1"/>
          <p:nvPr/>
        </p:nvSpPr>
        <p:spPr>
          <a:xfrm>
            <a:off x="8290408" y="2743200"/>
            <a:ext cx="3124048" cy="12801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EEF0F8"/>
                </a:solidFill>
                <a:latin typeface="Calibri" pitchFamily="34" charset="0"/>
                <a:ea typeface="Calibri" pitchFamily="34" charset="-122"/>
                <a:cs typeface="Calibri" pitchFamily="34" charset="-120"/>
              </a:rPr>
              <a:t>Start from a plan and an architecture</a:t>
            </a:r>
            <a:endParaRPr lang="en-US" sz="1400" dirty="0"/>
          </a:p>
          <a:p>
            <a:pPr marL="203200" indent="-203200">
              <a:spcAft>
                <a:spcPts val="600"/>
              </a:spcAft>
              <a:buSzPct val="100000"/>
              <a:buChar char="•"/>
            </a:pPr>
            <a:r>
              <a:rPr lang="en-US" sz="1400" dirty="0">
                <a:solidFill>
                  <a:srgbClr val="EEF0F8"/>
                </a:solidFill>
                <a:latin typeface="Calibri" pitchFamily="34" charset="0"/>
                <a:ea typeface="Calibri" pitchFamily="34" charset="-122"/>
                <a:cs typeface="Calibri" pitchFamily="34" charset="-120"/>
              </a:rPr>
              <a:t>AI scaffolds the project structure</a:t>
            </a:r>
            <a:endParaRPr lang="en-US" sz="1400" dirty="0"/>
          </a:p>
          <a:p>
            <a:pPr marL="203200" indent="-203200">
              <a:spcAft>
                <a:spcPts val="600"/>
              </a:spcAft>
              <a:buSzPct val="100000"/>
              <a:buChar char="•"/>
            </a:pPr>
            <a:r>
              <a:rPr lang="en-US" sz="1400" dirty="0">
                <a:solidFill>
                  <a:srgbClr val="EEF0F8"/>
                </a:solidFill>
                <a:latin typeface="Calibri" pitchFamily="34" charset="0"/>
                <a:ea typeface="Calibri" pitchFamily="34" charset="-122"/>
                <a:cs typeface="Calibri" pitchFamily="34" charset="-120"/>
              </a:rPr>
              <a:t>Fill in one feature at a time</a:t>
            </a:r>
            <a:endParaRPr lang="en-US" sz="1400" dirty="0"/>
          </a:p>
          <a:p>
            <a:pPr marL="203200" indent="-203200">
              <a:spcAft>
                <a:spcPts val="600"/>
              </a:spcAft>
              <a:buSzPct val="100000"/>
              <a:buChar char="•"/>
            </a:pPr>
            <a:r>
              <a:rPr lang="en-US" sz="1400" dirty="0">
                <a:solidFill>
                  <a:srgbClr val="EEF0F8"/>
                </a:solidFill>
                <a:latin typeface="Calibri" pitchFamily="34" charset="0"/>
                <a:ea typeface="Calibri" pitchFamily="34" charset="-122"/>
                <a:cs typeface="Calibri" pitchFamily="34" charset="-120"/>
              </a:rPr>
              <a:t>Architecture is built into the code</a:t>
            </a:r>
            <a:endParaRPr lang="en-US" sz="1400" dirty="0"/>
          </a:p>
        </p:txBody>
      </p:sp>
      <p:sp>
        <p:nvSpPr>
          <p:cNvPr id="25" name="Text 23"/>
          <p:cNvSpPr txBox="1"/>
          <p:nvPr/>
        </p:nvSpPr>
        <p:spPr>
          <a:xfrm>
            <a:off x="548640" y="4389120"/>
            <a:ext cx="11094415" cy="274320"/>
          </a:xfrm>
          <a:prstGeom prst="rect">
            <a:avLst/>
          </a:prstGeom>
          <a:noFill/>
          <a:ln/>
        </p:spPr>
        <p:txBody>
          <a:bodyPr wrap="square" lIns="0" tIns="0" rIns="0" bIns="0" rtlCol="0" anchor="t"/>
          <a:lstStyle/>
          <a:p>
            <a:pPr indent="0" marL="0">
              <a:buNone/>
            </a:pPr>
            <a:r>
              <a:rPr lang="en-US" sz="1200" b="1" dirty="0">
                <a:solidFill>
                  <a:srgbClr val="FFB000"/>
                </a:solidFill>
                <a:latin typeface="Courier New" pitchFamily="34" charset="0"/>
                <a:ea typeface="Courier New" pitchFamily="34" charset="-122"/>
                <a:cs typeface="Courier New" pitchFamily="34" charset="-120"/>
              </a:rPr>
              <a:t>WHERE VIBE CODING REALLY WORKS: USE BOTH, IN ORDER</a:t>
            </a:r>
            <a:endParaRPr lang="en-US" sz="1200" dirty="0"/>
          </a:p>
        </p:txBody>
      </p:sp>
      <p:sp>
        <p:nvSpPr>
          <p:cNvPr id="26" name="Shape 24"/>
          <p:cNvSpPr/>
          <p:nvPr/>
        </p:nvSpPr>
        <p:spPr>
          <a:xfrm>
            <a:off x="548640" y="4754880"/>
            <a:ext cx="2036003" cy="1234440"/>
          </a:xfrm>
          <a:prstGeom prst="roundRect">
            <a:avLst>
              <a:gd name="adj" fmla="val 5926"/>
            </a:avLst>
          </a:prstGeom>
          <a:solidFill>
            <a:srgbClr val="182041"/>
          </a:solidFill>
          <a:ln w="12700">
            <a:solidFill>
              <a:srgbClr val="182041"/>
            </a:solidFill>
            <a:prstDash val="solid"/>
          </a:ln>
        </p:spPr>
      </p:sp>
      <p:sp>
        <p:nvSpPr>
          <p:cNvPr id="27" name="Text 25"/>
          <p:cNvSpPr txBox="1"/>
          <p:nvPr/>
        </p:nvSpPr>
        <p:spPr>
          <a:xfrm>
            <a:off x="731520" y="4864608"/>
            <a:ext cx="548640" cy="365760"/>
          </a:xfrm>
          <a:prstGeom prst="rect">
            <a:avLst/>
          </a:prstGeom>
          <a:noFill/>
          <a:ln/>
        </p:spPr>
        <p:txBody>
          <a:bodyPr wrap="square" lIns="0" tIns="0" rIns="0" bIns="0" rtlCol="0" anchor="t"/>
          <a:lstStyle/>
          <a:p>
            <a:pPr indent="0" marL="0">
              <a:buNone/>
            </a:pPr>
            <a:r>
              <a:rPr lang="en-US" sz="1800" b="1" dirty="0">
                <a:solidFill>
                  <a:srgbClr val="FFB000"/>
                </a:solidFill>
                <a:latin typeface="Courier New" pitchFamily="34" charset="0"/>
                <a:ea typeface="Courier New" pitchFamily="34" charset="-122"/>
                <a:cs typeface="Courier New" pitchFamily="34" charset="-120"/>
              </a:rPr>
              <a:t>01</a:t>
            </a:r>
            <a:endParaRPr lang="en-US" sz="1800" dirty="0"/>
          </a:p>
        </p:txBody>
      </p:sp>
      <p:sp>
        <p:nvSpPr>
          <p:cNvPr id="28" name="Text 26"/>
          <p:cNvSpPr txBox="1"/>
          <p:nvPr/>
        </p:nvSpPr>
        <p:spPr>
          <a:xfrm>
            <a:off x="731520" y="5212080"/>
            <a:ext cx="1670243" cy="713232"/>
          </a:xfrm>
          <a:prstGeom prst="rect">
            <a:avLst/>
          </a:prstGeom>
          <a:noFill/>
          <a:ln/>
        </p:spPr>
        <p:txBody>
          <a:bodyPr wrap="square" lIns="0" tIns="0" rIns="0" bIns="0" rtlCol="0" anchor="t"/>
          <a:lstStyle/>
          <a:p>
            <a:pPr indent="0" marL="0">
              <a:buNone/>
            </a:pPr>
            <a:r>
              <a:rPr lang="en-US" sz="1200" dirty="0">
                <a:solidFill>
                  <a:srgbClr val="EEF0F8"/>
                </a:solidFill>
                <a:latin typeface="Calibri" pitchFamily="34" charset="0"/>
                <a:ea typeface="Calibri" pitchFamily="34" charset="-122"/>
                <a:cs typeface="Calibri" pitchFamily="34" charset="-120"/>
              </a:rPr>
              <a:t>Vibe-code a quick prototype</a:t>
            </a:r>
            <a:endParaRPr lang="en-US" sz="1200" dirty="0"/>
          </a:p>
        </p:txBody>
      </p:sp>
      <p:sp>
        <p:nvSpPr>
          <p:cNvPr id="29" name="Shape 27"/>
          <p:cNvSpPr/>
          <p:nvPr/>
        </p:nvSpPr>
        <p:spPr>
          <a:xfrm>
            <a:off x="2813243" y="4754880"/>
            <a:ext cx="2036003" cy="1234440"/>
          </a:xfrm>
          <a:prstGeom prst="roundRect">
            <a:avLst>
              <a:gd name="adj" fmla="val 5926"/>
            </a:avLst>
          </a:prstGeom>
          <a:solidFill>
            <a:srgbClr val="182041"/>
          </a:solidFill>
          <a:ln w="12700">
            <a:solidFill>
              <a:srgbClr val="182041"/>
            </a:solidFill>
            <a:prstDash val="solid"/>
          </a:ln>
        </p:spPr>
      </p:sp>
      <p:sp>
        <p:nvSpPr>
          <p:cNvPr id="30" name="Text 28"/>
          <p:cNvSpPr txBox="1"/>
          <p:nvPr/>
        </p:nvSpPr>
        <p:spPr>
          <a:xfrm>
            <a:off x="2996123" y="4864608"/>
            <a:ext cx="548640" cy="365760"/>
          </a:xfrm>
          <a:prstGeom prst="rect">
            <a:avLst/>
          </a:prstGeom>
          <a:noFill/>
          <a:ln/>
        </p:spPr>
        <p:txBody>
          <a:bodyPr wrap="square" lIns="0" tIns="0" rIns="0" bIns="0" rtlCol="0" anchor="t"/>
          <a:lstStyle/>
          <a:p>
            <a:pPr indent="0" marL="0">
              <a:buNone/>
            </a:pPr>
            <a:r>
              <a:rPr lang="en-US" sz="1800" b="1" dirty="0">
                <a:solidFill>
                  <a:srgbClr val="FFB000"/>
                </a:solidFill>
                <a:latin typeface="Courier New" pitchFamily="34" charset="0"/>
                <a:ea typeface="Courier New" pitchFamily="34" charset="-122"/>
                <a:cs typeface="Courier New" pitchFamily="34" charset="-120"/>
              </a:rPr>
              <a:t>02</a:t>
            </a:r>
            <a:endParaRPr lang="en-US" sz="1800" dirty="0"/>
          </a:p>
        </p:txBody>
      </p:sp>
      <p:sp>
        <p:nvSpPr>
          <p:cNvPr id="31" name="Text 29"/>
          <p:cNvSpPr txBox="1"/>
          <p:nvPr/>
        </p:nvSpPr>
        <p:spPr>
          <a:xfrm>
            <a:off x="2996123" y="5212080"/>
            <a:ext cx="1670243" cy="713232"/>
          </a:xfrm>
          <a:prstGeom prst="rect">
            <a:avLst/>
          </a:prstGeom>
          <a:noFill/>
          <a:ln/>
        </p:spPr>
        <p:txBody>
          <a:bodyPr wrap="square" lIns="0" tIns="0" rIns="0" bIns="0" rtlCol="0" anchor="t"/>
          <a:lstStyle/>
          <a:p>
            <a:pPr indent="0" marL="0">
              <a:buNone/>
            </a:pPr>
            <a:r>
              <a:rPr lang="en-US" sz="1200" dirty="0">
                <a:solidFill>
                  <a:srgbClr val="EEF0F8"/>
                </a:solidFill>
                <a:latin typeface="Calibri" pitchFamily="34" charset="0"/>
                <a:ea typeface="Calibri" pitchFamily="34" charset="-122"/>
                <a:cs typeface="Calibri" pitchFamily="34" charset="-120"/>
              </a:rPr>
              <a:t>Validate the risky assumptions</a:t>
            </a:r>
            <a:endParaRPr lang="en-US" sz="1200" dirty="0"/>
          </a:p>
        </p:txBody>
      </p:sp>
      <p:sp>
        <p:nvSpPr>
          <p:cNvPr id="32" name="Shape 30"/>
          <p:cNvSpPr/>
          <p:nvPr/>
        </p:nvSpPr>
        <p:spPr>
          <a:xfrm>
            <a:off x="5077846" y="4754880"/>
            <a:ext cx="2036003" cy="1234440"/>
          </a:xfrm>
          <a:prstGeom prst="roundRect">
            <a:avLst>
              <a:gd name="adj" fmla="val 5926"/>
            </a:avLst>
          </a:prstGeom>
          <a:solidFill>
            <a:srgbClr val="182041"/>
          </a:solidFill>
          <a:ln w="12700">
            <a:solidFill>
              <a:srgbClr val="182041"/>
            </a:solidFill>
            <a:prstDash val="solid"/>
          </a:ln>
        </p:spPr>
      </p:sp>
      <p:sp>
        <p:nvSpPr>
          <p:cNvPr id="33" name="Text 31"/>
          <p:cNvSpPr txBox="1"/>
          <p:nvPr/>
        </p:nvSpPr>
        <p:spPr>
          <a:xfrm>
            <a:off x="5260726" y="4864608"/>
            <a:ext cx="548640" cy="365760"/>
          </a:xfrm>
          <a:prstGeom prst="rect">
            <a:avLst/>
          </a:prstGeom>
          <a:noFill/>
          <a:ln/>
        </p:spPr>
        <p:txBody>
          <a:bodyPr wrap="square" lIns="0" tIns="0" rIns="0" bIns="0" rtlCol="0" anchor="t"/>
          <a:lstStyle/>
          <a:p>
            <a:pPr indent="0" marL="0">
              <a:buNone/>
            </a:pPr>
            <a:r>
              <a:rPr lang="en-US" sz="1800" b="1" dirty="0">
                <a:solidFill>
                  <a:srgbClr val="FFB000"/>
                </a:solidFill>
                <a:latin typeface="Courier New" pitchFamily="34" charset="0"/>
                <a:ea typeface="Courier New" pitchFamily="34" charset="-122"/>
                <a:cs typeface="Courier New" pitchFamily="34" charset="-120"/>
              </a:rPr>
              <a:t>03</a:t>
            </a:r>
            <a:endParaRPr lang="en-US" sz="1800" dirty="0"/>
          </a:p>
        </p:txBody>
      </p:sp>
      <p:sp>
        <p:nvSpPr>
          <p:cNvPr id="34" name="Text 32"/>
          <p:cNvSpPr txBox="1"/>
          <p:nvPr/>
        </p:nvSpPr>
        <p:spPr>
          <a:xfrm>
            <a:off x="5260726" y="5212080"/>
            <a:ext cx="1670243" cy="713232"/>
          </a:xfrm>
          <a:prstGeom prst="rect">
            <a:avLst/>
          </a:prstGeom>
          <a:noFill/>
          <a:ln/>
        </p:spPr>
        <p:txBody>
          <a:bodyPr wrap="square" lIns="0" tIns="0" rIns="0" bIns="0" rtlCol="0" anchor="t"/>
          <a:lstStyle/>
          <a:p>
            <a:pPr indent="0" marL="0">
              <a:buNone/>
            </a:pPr>
            <a:r>
              <a:rPr lang="en-US" sz="1200" dirty="0">
                <a:solidFill>
                  <a:srgbClr val="EEF0F8"/>
                </a:solidFill>
                <a:latin typeface="Calibri" pitchFamily="34" charset="0"/>
                <a:ea typeface="Calibri" pitchFamily="34" charset="-122"/>
                <a:cs typeface="Calibri" pitchFamily="34" charset="-120"/>
              </a:rPr>
              <a:t>New project, with the prototype as the AI's baseline</a:t>
            </a:r>
            <a:endParaRPr lang="en-US" sz="1200" dirty="0"/>
          </a:p>
        </p:txBody>
      </p:sp>
      <p:sp>
        <p:nvSpPr>
          <p:cNvPr id="35" name="Shape 33"/>
          <p:cNvSpPr/>
          <p:nvPr/>
        </p:nvSpPr>
        <p:spPr>
          <a:xfrm>
            <a:off x="7342449" y="4754880"/>
            <a:ext cx="2036003" cy="1234440"/>
          </a:xfrm>
          <a:prstGeom prst="roundRect">
            <a:avLst>
              <a:gd name="adj" fmla="val 5926"/>
            </a:avLst>
          </a:prstGeom>
          <a:solidFill>
            <a:srgbClr val="182041"/>
          </a:solidFill>
          <a:ln w="12700">
            <a:solidFill>
              <a:srgbClr val="182041"/>
            </a:solidFill>
            <a:prstDash val="solid"/>
          </a:ln>
        </p:spPr>
      </p:sp>
      <p:sp>
        <p:nvSpPr>
          <p:cNvPr id="36" name="Text 34"/>
          <p:cNvSpPr txBox="1"/>
          <p:nvPr/>
        </p:nvSpPr>
        <p:spPr>
          <a:xfrm>
            <a:off x="7525329" y="4864608"/>
            <a:ext cx="548640" cy="365760"/>
          </a:xfrm>
          <a:prstGeom prst="rect">
            <a:avLst/>
          </a:prstGeom>
          <a:noFill/>
          <a:ln/>
        </p:spPr>
        <p:txBody>
          <a:bodyPr wrap="square" lIns="0" tIns="0" rIns="0" bIns="0" rtlCol="0" anchor="t"/>
          <a:lstStyle/>
          <a:p>
            <a:pPr indent="0" marL="0">
              <a:buNone/>
            </a:pPr>
            <a:r>
              <a:rPr lang="en-US" sz="1800" b="1" dirty="0">
                <a:solidFill>
                  <a:srgbClr val="FFB000"/>
                </a:solidFill>
                <a:latin typeface="Courier New" pitchFamily="34" charset="0"/>
                <a:ea typeface="Courier New" pitchFamily="34" charset="-122"/>
                <a:cs typeface="Courier New" pitchFamily="34" charset="-120"/>
              </a:rPr>
              <a:t>04</a:t>
            </a:r>
            <a:endParaRPr lang="en-US" sz="1800" dirty="0"/>
          </a:p>
        </p:txBody>
      </p:sp>
      <p:sp>
        <p:nvSpPr>
          <p:cNvPr id="37" name="Text 35"/>
          <p:cNvSpPr txBox="1"/>
          <p:nvPr/>
        </p:nvSpPr>
        <p:spPr>
          <a:xfrm>
            <a:off x="7525329" y="5212080"/>
            <a:ext cx="1670243" cy="713232"/>
          </a:xfrm>
          <a:prstGeom prst="rect">
            <a:avLst/>
          </a:prstGeom>
          <a:noFill/>
          <a:ln/>
        </p:spPr>
        <p:txBody>
          <a:bodyPr wrap="square" lIns="0" tIns="0" rIns="0" bIns="0" rtlCol="0" anchor="t"/>
          <a:lstStyle/>
          <a:p>
            <a:pPr indent="0" marL="0">
              <a:buNone/>
            </a:pPr>
            <a:r>
              <a:rPr lang="en-US" sz="1200" dirty="0">
                <a:solidFill>
                  <a:srgbClr val="EEF0F8"/>
                </a:solidFill>
                <a:latin typeface="Calibri" pitchFamily="34" charset="0"/>
                <a:ea typeface="Calibri" pitchFamily="34" charset="-122"/>
                <a:cs typeface="Calibri" pitchFamily="34" charset="-120"/>
              </a:rPr>
              <a:t>Plan and diagram the architecture you want</a:t>
            </a:r>
            <a:endParaRPr lang="en-US" sz="1200" dirty="0"/>
          </a:p>
        </p:txBody>
      </p:sp>
      <p:sp>
        <p:nvSpPr>
          <p:cNvPr id="38" name="Shape 36"/>
          <p:cNvSpPr/>
          <p:nvPr/>
        </p:nvSpPr>
        <p:spPr>
          <a:xfrm>
            <a:off x="9607052" y="4754880"/>
            <a:ext cx="2036003" cy="1234440"/>
          </a:xfrm>
          <a:prstGeom prst="roundRect">
            <a:avLst>
              <a:gd name="adj" fmla="val 5926"/>
            </a:avLst>
          </a:prstGeom>
          <a:solidFill>
            <a:srgbClr val="182041"/>
          </a:solidFill>
          <a:ln w="12700">
            <a:solidFill>
              <a:srgbClr val="182041"/>
            </a:solidFill>
            <a:prstDash val="solid"/>
          </a:ln>
        </p:spPr>
      </p:sp>
      <p:sp>
        <p:nvSpPr>
          <p:cNvPr id="39" name="Text 37"/>
          <p:cNvSpPr txBox="1"/>
          <p:nvPr/>
        </p:nvSpPr>
        <p:spPr>
          <a:xfrm>
            <a:off x="9789932" y="4864608"/>
            <a:ext cx="548640" cy="365760"/>
          </a:xfrm>
          <a:prstGeom prst="rect">
            <a:avLst/>
          </a:prstGeom>
          <a:noFill/>
          <a:ln/>
        </p:spPr>
        <p:txBody>
          <a:bodyPr wrap="square" lIns="0" tIns="0" rIns="0" bIns="0" rtlCol="0" anchor="t"/>
          <a:lstStyle/>
          <a:p>
            <a:pPr indent="0" marL="0">
              <a:buNone/>
            </a:pPr>
            <a:r>
              <a:rPr lang="en-US" sz="1800" b="1" dirty="0">
                <a:solidFill>
                  <a:srgbClr val="FFB000"/>
                </a:solidFill>
                <a:latin typeface="Courier New" pitchFamily="34" charset="0"/>
                <a:ea typeface="Courier New" pitchFamily="34" charset="-122"/>
                <a:cs typeface="Courier New" pitchFamily="34" charset="-120"/>
              </a:rPr>
              <a:t>05</a:t>
            </a:r>
            <a:endParaRPr lang="en-US" sz="1800" dirty="0"/>
          </a:p>
        </p:txBody>
      </p:sp>
      <p:sp>
        <p:nvSpPr>
          <p:cNvPr id="40" name="Text 38"/>
          <p:cNvSpPr txBox="1"/>
          <p:nvPr/>
        </p:nvSpPr>
        <p:spPr>
          <a:xfrm>
            <a:off x="9789932" y="5212080"/>
            <a:ext cx="1670243" cy="713232"/>
          </a:xfrm>
          <a:prstGeom prst="rect">
            <a:avLst/>
          </a:prstGeom>
          <a:noFill/>
          <a:ln/>
        </p:spPr>
        <p:txBody>
          <a:bodyPr wrap="square" lIns="0" tIns="0" rIns="0" bIns="0" rtlCol="0" anchor="t"/>
          <a:lstStyle/>
          <a:p>
            <a:pPr indent="0" marL="0">
              <a:buNone/>
            </a:pPr>
            <a:r>
              <a:rPr lang="en-US" sz="1200" dirty="0">
                <a:solidFill>
                  <a:srgbClr val="EEF0F8"/>
                </a:solidFill>
                <a:latin typeface="Calibri" pitchFamily="34" charset="0"/>
                <a:ea typeface="Calibri" pitchFamily="34" charset="-122"/>
                <a:cs typeface="Calibri" pitchFamily="34" charset="-120"/>
              </a:rPr>
              <a:t>AI scaffolds it; fill in each feature</a:t>
            </a:r>
            <a:endParaRPr lang="en-US" sz="1200" dirty="0"/>
          </a:p>
        </p:txBody>
      </p:sp>
      <p:sp>
        <p:nvSpPr>
          <p:cNvPr id="41" name="Text 39"/>
          <p:cNvSpPr txBox="1"/>
          <p:nvPr/>
        </p:nvSpPr>
        <p:spPr>
          <a:xfrm>
            <a:off x="548640" y="6144768"/>
            <a:ext cx="11094415" cy="411480"/>
          </a:xfrm>
          <a:prstGeom prst="rect">
            <a:avLst/>
          </a:prstGeom>
          <a:noFill/>
          <a:ln/>
        </p:spPr>
        <p:txBody>
          <a:bodyPr wrap="square" lIns="0" tIns="0" rIns="0" bIns="0" rtlCol="0" anchor="ctr"/>
          <a:lstStyle/>
          <a:p>
            <a:pPr algn="ctr" indent="0" marL="0">
              <a:buNone/>
            </a:pPr>
            <a:r>
              <a:rPr lang="en-US" sz="2000" b="1" i="1" dirty="0">
                <a:solidFill>
                  <a:srgbClr val="FFB000"/>
                </a:solidFill>
                <a:latin typeface="Courier New" pitchFamily="34" charset="0"/>
                <a:ea typeface="Courier New" pitchFamily="34" charset="-122"/>
                <a:cs typeface="Courier New" pitchFamily="34" charset="-120"/>
              </a:rPr>
              <a:t>Vibe-code to learn. Architect to build.</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224"/>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t"/>
          <a:lstStyle/>
          <a:p>
            <a:pPr indent="0" marL="0">
              <a:buNone/>
            </a:pPr>
            <a:r>
              <a:rPr lang="en-US" sz="1400" b="1" dirty="0">
                <a:solidFill>
                  <a:srgbClr val="FFB000"/>
                </a:solidFill>
                <a:latin typeface="Courier New" pitchFamily="34" charset="0"/>
                <a:ea typeface="Courier New" pitchFamily="34" charset="-122"/>
                <a:cs typeface="Courier New" pitchFamily="34" charset="-120"/>
              </a:rPr>
              <a:t>C:\&gt; PHASE_03 · BUILD &amp; TEST</a:t>
            </a:r>
            <a:endParaRPr lang="en-US" sz="1400" dirty="0"/>
          </a:p>
        </p:txBody>
      </p:sp>
      <p:sp>
        <p:nvSpPr>
          <p:cNvPr id="3" name="Text 1"/>
          <p:cNvSpPr txBox="1"/>
          <p:nvPr/>
        </p:nvSpPr>
        <p:spPr>
          <a:xfrm>
            <a:off x="548640" y="777240"/>
            <a:ext cx="11094415" cy="685800"/>
          </a:xfrm>
          <a:prstGeom prst="rect">
            <a:avLst/>
          </a:prstGeom>
          <a:noFill/>
          <a:ln/>
        </p:spPr>
        <p:txBody>
          <a:bodyPr wrap="square" lIns="0" tIns="0" rIns="0" bIns="0" rtlCol="0" anchor="ctr"/>
          <a:lstStyle/>
          <a:p>
            <a:pPr indent="0" marL="0">
              <a:buNone/>
            </a:pPr>
            <a:r>
              <a:rPr lang="en-US" sz="3200" b="1" dirty="0">
                <a:solidFill>
                  <a:srgbClr val="EEF0F8"/>
                </a:solidFill>
                <a:latin typeface="Courier New" pitchFamily="34" charset="0"/>
                <a:ea typeface="Courier New" pitchFamily="34" charset="-122"/>
                <a:cs typeface="Courier New" pitchFamily="34" charset="-120"/>
              </a:rPr>
              <a:t>Build it, and let tests define done</a:t>
            </a:r>
            <a:endParaRPr lang="en-US" sz="3200" dirty="0"/>
          </a:p>
        </p:txBody>
      </p:sp>
      <p:sp>
        <p:nvSpPr>
          <p:cNvPr id="4" name="Shape 2"/>
          <p:cNvSpPr/>
          <p:nvPr/>
        </p:nvSpPr>
        <p:spPr>
          <a:xfrm>
            <a:off x="548640" y="1783080"/>
            <a:ext cx="2567864" cy="1600200"/>
          </a:xfrm>
          <a:prstGeom prst="roundRect">
            <a:avLst>
              <a:gd name="adj" fmla="val 4571"/>
            </a:avLst>
          </a:prstGeom>
          <a:solidFill>
            <a:srgbClr val="182041"/>
          </a:solidFill>
          <a:ln w="12700">
            <a:solidFill>
              <a:srgbClr val="182041"/>
            </a:solidFill>
            <a:prstDash val="solid"/>
          </a:ln>
        </p:spPr>
      </p:sp>
      <p:sp>
        <p:nvSpPr>
          <p:cNvPr id="5" name="Text 3"/>
          <p:cNvSpPr txBox="1"/>
          <p:nvPr/>
        </p:nvSpPr>
        <p:spPr>
          <a:xfrm>
            <a:off x="777240" y="1828800"/>
            <a:ext cx="2110664" cy="868680"/>
          </a:xfrm>
          <a:prstGeom prst="rect">
            <a:avLst/>
          </a:prstGeom>
          <a:noFill/>
          <a:ln/>
        </p:spPr>
        <p:txBody>
          <a:bodyPr wrap="square" lIns="0" tIns="0" rIns="0" bIns="0" rtlCol="0" anchor="t"/>
          <a:lstStyle/>
          <a:p>
            <a:pPr indent="0" marL="0">
              <a:buNone/>
            </a:pPr>
            <a:r>
              <a:rPr lang="en-US" sz="4800" b="1" dirty="0">
                <a:solidFill>
                  <a:srgbClr val="FFB000"/>
                </a:solidFill>
                <a:latin typeface="Courier New" pitchFamily="34" charset="0"/>
                <a:ea typeface="Courier New" pitchFamily="34" charset="-122"/>
                <a:cs typeface="Courier New" pitchFamily="34" charset="-120"/>
              </a:rPr>
              <a:t>15</a:t>
            </a:r>
            <a:endParaRPr lang="en-US" sz="4800" dirty="0"/>
          </a:p>
        </p:txBody>
      </p:sp>
      <p:sp>
        <p:nvSpPr>
          <p:cNvPr id="6" name="Text 4"/>
          <p:cNvSpPr txBox="1"/>
          <p:nvPr/>
        </p:nvSpPr>
        <p:spPr>
          <a:xfrm>
            <a:off x="777240" y="2697480"/>
            <a:ext cx="2110664" cy="594360"/>
          </a:xfrm>
          <a:prstGeom prst="rect">
            <a:avLst/>
          </a:prstGeom>
          <a:noFill/>
          <a:ln/>
        </p:spPr>
        <p:txBody>
          <a:bodyPr wrap="square" lIns="0" tIns="0" rIns="0" bIns="0" rtlCol="0" anchor="t"/>
          <a:lstStyle/>
          <a:p>
            <a:pPr indent="0" marL="0">
              <a:buNone/>
            </a:pPr>
            <a:r>
              <a:rPr lang="en-US" sz="1400" dirty="0">
                <a:solidFill>
                  <a:srgbClr val="A3ABCB"/>
                </a:solidFill>
                <a:latin typeface="Calibri" pitchFamily="34" charset="0"/>
                <a:ea typeface="Calibri" pitchFamily="34" charset="-122"/>
                <a:cs typeface="Calibri" pitchFamily="34" charset="-120"/>
              </a:rPr>
              <a:t>shareware titles, SHA-256 verified</a:t>
            </a:r>
            <a:endParaRPr lang="en-US" sz="1400" dirty="0"/>
          </a:p>
        </p:txBody>
      </p:sp>
      <p:sp>
        <p:nvSpPr>
          <p:cNvPr id="7" name="Shape 5"/>
          <p:cNvSpPr/>
          <p:nvPr/>
        </p:nvSpPr>
        <p:spPr>
          <a:xfrm>
            <a:off x="3390824" y="1783080"/>
            <a:ext cx="2567864" cy="1600200"/>
          </a:xfrm>
          <a:prstGeom prst="roundRect">
            <a:avLst>
              <a:gd name="adj" fmla="val 4571"/>
            </a:avLst>
          </a:prstGeom>
          <a:solidFill>
            <a:srgbClr val="182041"/>
          </a:solidFill>
          <a:ln w="12700">
            <a:solidFill>
              <a:srgbClr val="182041"/>
            </a:solidFill>
            <a:prstDash val="solid"/>
          </a:ln>
        </p:spPr>
      </p:sp>
      <p:sp>
        <p:nvSpPr>
          <p:cNvPr id="8" name="Text 6"/>
          <p:cNvSpPr txBox="1"/>
          <p:nvPr/>
        </p:nvSpPr>
        <p:spPr>
          <a:xfrm>
            <a:off x="3619424" y="1828800"/>
            <a:ext cx="2110664" cy="868680"/>
          </a:xfrm>
          <a:prstGeom prst="rect">
            <a:avLst/>
          </a:prstGeom>
          <a:noFill/>
          <a:ln/>
        </p:spPr>
        <p:txBody>
          <a:bodyPr wrap="square" lIns="0" tIns="0" rIns="0" bIns="0" rtlCol="0" anchor="t"/>
          <a:lstStyle/>
          <a:p>
            <a:pPr indent="0" marL="0">
              <a:buNone/>
            </a:pPr>
            <a:r>
              <a:rPr lang="en-US" sz="4800" b="1" dirty="0">
                <a:solidFill>
                  <a:srgbClr val="FFB000"/>
                </a:solidFill>
                <a:latin typeface="Courier New" pitchFamily="34" charset="0"/>
                <a:ea typeface="Courier New" pitchFamily="34" charset="-122"/>
                <a:cs typeface="Courier New" pitchFamily="34" charset="-120"/>
              </a:rPr>
              <a:t>5</a:t>
            </a:r>
            <a:endParaRPr lang="en-US" sz="4800" dirty="0"/>
          </a:p>
        </p:txBody>
      </p:sp>
      <p:sp>
        <p:nvSpPr>
          <p:cNvPr id="9" name="Text 7"/>
          <p:cNvSpPr txBox="1"/>
          <p:nvPr/>
        </p:nvSpPr>
        <p:spPr>
          <a:xfrm>
            <a:off x="3619424" y="2697480"/>
            <a:ext cx="2110664" cy="594360"/>
          </a:xfrm>
          <a:prstGeom prst="rect">
            <a:avLst/>
          </a:prstGeom>
          <a:noFill/>
          <a:ln/>
        </p:spPr>
        <p:txBody>
          <a:bodyPr wrap="square" lIns="0" tIns="0" rIns="0" bIns="0" rtlCol="0" anchor="t"/>
          <a:lstStyle/>
          <a:p>
            <a:pPr indent="0" marL="0">
              <a:buNone/>
            </a:pPr>
            <a:r>
              <a:rPr lang="en-US" sz="1400" dirty="0">
                <a:solidFill>
                  <a:srgbClr val="A3ABCB"/>
                </a:solidFill>
                <a:latin typeface="Calibri" pitchFamily="34" charset="0"/>
                <a:ea typeface="Calibri" pitchFamily="34" charset="-122"/>
                <a:cs typeface="Calibri" pitchFamily="34" charset="-120"/>
              </a:rPr>
              <a:t>seeded demo users</a:t>
            </a:r>
            <a:endParaRPr lang="en-US" sz="1400" dirty="0"/>
          </a:p>
        </p:txBody>
      </p:sp>
      <p:sp>
        <p:nvSpPr>
          <p:cNvPr id="10" name="Shape 8"/>
          <p:cNvSpPr/>
          <p:nvPr/>
        </p:nvSpPr>
        <p:spPr>
          <a:xfrm>
            <a:off x="6233008" y="1783080"/>
            <a:ext cx="2567864" cy="1600200"/>
          </a:xfrm>
          <a:prstGeom prst="roundRect">
            <a:avLst>
              <a:gd name="adj" fmla="val 4571"/>
            </a:avLst>
          </a:prstGeom>
          <a:solidFill>
            <a:srgbClr val="182041"/>
          </a:solidFill>
          <a:ln w="12700">
            <a:solidFill>
              <a:srgbClr val="182041"/>
            </a:solidFill>
            <a:prstDash val="solid"/>
          </a:ln>
        </p:spPr>
      </p:sp>
      <p:sp>
        <p:nvSpPr>
          <p:cNvPr id="11" name="Text 9"/>
          <p:cNvSpPr txBox="1"/>
          <p:nvPr/>
        </p:nvSpPr>
        <p:spPr>
          <a:xfrm>
            <a:off x="6461608" y="1828800"/>
            <a:ext cx="2110664" cy="868680"/>
          </a:xfrm>
          <a:prstGeom prst="rect">
            <a:avLst/>
          </a:prstGeom>
          <a:noFill/>
          <a:ln/>
        </p:spPr>
        <p:txBody>
          <a:bodyPr wrap="square" lIns="0" tIns="0" rIns="0" bIns="0" rtlCol="0" anchor="t"/>
          <a:lstStyle/>
          <a:p>
            <a:pPr indent="0" marL="0">
              <a:buNone/>
            </a:pPr>
            <a:r>
              <a:rPr lang="en-US" sz="4800" b="1" dirty="0">
                <a:solidFill>
                  <a:srgbClr val="FFB000"/>
                </a:solidFill>
                <a:latin typeface="Courier New" pitchFamily="34" charset="0"/>
                <a:ea typeface="Courier New" pitchFamily="34" charset="-122"/>
                <a:cs typeface="Courier New" pitchFamily="34" charset="-120"/>
              </a:rPr>
              <a:t>0</a:t>
            </a:r>
            <a:endParaRPr lang="en-US" sz="4800" dirty="0"/>
          </a:p>
        </p:txBody>
      </p:sp>
      <p:sp>
        <p:nvSpPr>
          <p:cNvPr id="12" name="Text 10"/>
          <p:cNvSpPr txBox="1"/>
          <p:nvPr/>
        </p:nvSpPr>
        <p:spPr>
          <a:xfrm>
            <a:off x="6461608" y="2697480"/>
            <a:ext cx="2110664" cy="594360"/>
          </a:xfrm>
          <a:prstGeom prst="rect">
            <a:avLst/>
          </a:prstGeom>
          <a:noFill/>
          <a:ln/>
        </p:spPr>
        <p:txBody>
          <a:bodyPr wrap="square" lIns="0" tIns="0" rIns="0" bIns="0" rtlCol="0" anchor="t"/>
          <a:lstStyle/>
          <a:p>
            <a:pPr indent="0" marL="0">
              <a:buNone/>
            </a:pPr>
            <a:r>
              <a:rPr lang="en-US" sz="1400" dirty="0">
                <a:solidFill>
                  <a:srgbClr val="A3ABCB"/>
                </a:solidFill>
                <a:latin typeface="Calibri" pitchFamily="34" charset="0"/>
                <a:ea typeface="Calibri" pitchFamily="34" charset="-122"/>
                <a:cs typeface="Calibri" pitchFamily="34" charset="-120"/>
              </a:rPr>
              <a:t>lines of game-specific launch code</a:t>
            </a:r>
            <a:endParaRPr lang="en-US" sz="1400" dirty="0"/>
          </a:p>
        </p:txBody>
      </p:sp>
      <p:sp>
        <p:nvSpPr>
          <p:cNvPr id="13" name="Shape 11"/>
          <p:cNvSpPr/>
          <p:nvPr/>
        </p:nvSpPr>
        <p:spPr>
          <a:xfrm>
            <a:off x="9075191" y="1783080"/>
            <a:ext cx="2567864" cy="1600200"/>
          </a:xfrm>
          <a:prstGeom prst="roundRect">
            <a:avLst>
              <a:gd name="adj" fmla="val 4571"/>
            </a:avLst>
          </a:prstGeom>
          <a:solidFill>
            <a:srgbClr val="182041"/>
          </a:solidFill>
          <a:ln w="12700">
            <a:solidFill>
              <a:srgbClr val="182041"/>
            </a:solidFill>
            <a:prstDash val="solid"/>
          </a:ln>
        </p:spPr>
      </p:sp>
      <p:sp>
        <p:nvSpPr>
          <p:cNvPr id="14" name="Text 12"/>
          <p:cNvSpPr txBox="1"/>
          <p:nvPr/>
        </p:nvSpPr>
        <p:spPr>
          <a:xfrm>
            <a:off x="9303791" y="1828800"/>
            <a:ext cx="2110664" cy="868680"/>
          </a:xfrm>
          <a:prstGeom prst="rect">
            <a:avLst/>
          </a:prstGeom>
          <a:noFill/>
          <a:ln/>
        </p:spPr>
        <p:txBody>
          <a:bodyPr wrap="square" lIns="0" tIns="0" rIns="0" bIns="0" rtlCol="0" anchor="t"/>
          <a:lstStyle/>
          <a:p>
            <a:pPr indent="0" marL="0">
              <a:buNone/>
            </a:pPr>
            <a:r>
              <a:rPr lang="en-US" sz="4800" b="1" dirty="0">
                <a:solidFill>
                  <a:srgbClr val="FFB000"/>
                </a:solidFill>
                <a:latin typeface="Courier New" pitchFamily="34" charset="0"/>
                <a:ea typeface="Courier New" pitchFamily="34" charset="-122"/>
                <a:cs typeface="Courier New" pitchFamily="34" charset="-120"/>
              </a:rPr>
              <a:t>12</a:t>
            </a:r>
            <a:endParaRPr lang="en-US" sz="4800" dirty="0"/>
          </a:p>
        </p:txBody>
      </p:sp>
      <p:sp>
        <p:nvSpPr>
          <p:cNvPr id="15" name="Text 13"/>
          <p:cNvSpPr txBox="1"/>
          <p:nvPr/>
        </p:nvSpPr>
        <p:spPr>
          <a:xfrm>
            <a:off x="9303791" y="2697480"/>
            <a:ext cx="2110664" cy="594360"/>
          </a:xfrm>
          <a:prstGeom prst="rect">
            <a:avLst/>
          </a:prstGeom>
          <a:noFill/>
          <a:ln/>
        </p:spPr>
        <p:txBody>
          <a:bodyPr wrap="square" lIns="0" tIns="0" rIns="0" bIns="0" rtlCol="0" anchor="t"/>
          <a:lstStyle/>
          <a:p>
            <a:pPr indent="0" marL="0">
              <a:buNone/>
            </a:pPr>
            <a:r>
              <a:rPr lang="en-US" sz="1400" dirty="0">
                <a:solidFill>
                  <a:srgbClr val="A3ABCB"/>
                </a:solidFill>
                <a:latin typeface="Calibri" pitchFamily="34" charset="0"/>
                <a:ea typeface="Calibri" pitchFamily="34" charset="-122"/>
                <a:cs typeface="Calibri" pitchFamily="34" charset="-120"/>
              </a:rPr>
              <a:t>automated tests + real-browser runs</a:t>
            </a:r>
            <a:endParaRPr lang="en-US" sz="1400" dirty="0"/>
          </a:p>
        </p:txBody>
      </p:sp>
      <p:sp>
        <p:nvSpPr>
          <p:cNvPr id="16" name="Text 14"/>
          <p:cNvSpPr txBox="1"/>
          <p:nvPr/>
        </p:nvSpPr>
        <p:spPr>
          <a:xfrm>
            <a:off x="548640" y="3703320"/>
            <a:ext cx="5394960" cy="164592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EEF0F8"/>
                </a:solidFill>
                <a:latin typeface="Calibri" pitchFamily="34" charset="0"/>
                <a:ea typeface="Calibri" pitchFamily="34" charset="-122"/>
                <a:cs typeface="Calibri" pitchFamily="34" charset="-120"/>
              </a:rPr>
              <a:t>Private, server-authoritative C: drive for every user</a:t>
            </a:r>
            <a:endParaRPr lang="en-US" sz="1600" dirty="0"/>
          </a:p>
          <a:p>
            <a:pPr marL="203200" indent="-203200">
              <a:spcAft>
                <a:spcPts val="800"/>
              </a:spcAft>
              <a:buSzPct val="100000"/>
              <a:buChar char="•"/>
            </a:pPr>
            <a:r>
              <a:rPr lang="en-US" sz="1600" dirty="0">
                <a:solidFill>
                  <a:srgbClr val="EEF0F8"/>
                </a:solidFill>
                <a:latin typeface="Calibri" pitchFamily="34" charset="0"/>
                <a:ea typeface="Calibri" pitchFamily="34" charset="-122"/>
                <a:cs typeface="Calibri" pitchFamily="34" charset="-120"/>
              </a:rPr>
              <a:t>Checksum-verified server-side install into C:\GAMES</a:t>
            </a:r>
            <a:endParaRPr lang="en-US" sz="1600" dirty="0"/>
          </a:p>
          <a:p>
            <a:pPr marL="203200" indent="-203200">
              <a:spcAft>
                <a:spcPts val="800"/>
              </a:spcAft>
              <a:buSzPct val="100000"/>
              <a:buChar char="•"/>
            </a:pPr>
            <a:r>
              <a:rPr lang="en-US" sz="1600" dirty="0">
                <a:solidFill>
                  <a:srgbClr val="EEF0F8"/>
                </a:solidFill>
                <a:latin typeface="Calibri" pitchFamily="34" charset="0"/>
                <a:ea typeface="Calibri" pitchFamily="34" charset="-122"/>
                <a:cs typeface="Calibri" pitchFamily="34" charset="-120"/>
              </a:rPr>
              <a:t>Netflix-style catalog and library</a:t>
            </a:r>
            <a:endParaRPr lang="en-US" sz="1600" dirty="0"/>
          </a:p>
        </p:txBody>
      </p:sp>
      <p:sp>
        <p:nvSpPr>
          <p:cNvPr id="17" name="Text 15"/>
          <p:cNvSpPr txBox="1"/>
          <p:nvPr/>
        </p:nvSpPr>
        <p:spPr>
          <a:xfrm>
            <a:off x="6309360" y="3703320"/>
            <a:ext cx="5303520" cy="164592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EEF0F8"/>
                </a:solidFill>
                <a:latin typeface="Calibri" pitchFamily="34" charset="0"/>
                <a:ea typeface="Calibri" pitchFamily="34" charset="-122"/>
                <a:cs typeface="Calibri" pitchFamily="34" charset="-120"/>
              </a:rPr>
              <a:t>Metadata-driven launch from package manifests</a:t>
            </a:r>
            <a:endParaRPr lang="en-US" sz="1600" dirty="0"/>
          </a:p>
          <a:p>
            <a:pPr marL="203200" indent="-203200">
              <a:spcAft>
                <a:spcPts val="800"/>
              </a:spcAft>
              <a:buSzPct val="100000"/>
              <a:buChar char="•"/>
            </a:pPr>
            <a:r>
              <a:rPr lang="en-US" sz="1600" dirty="0">
                <a:solidFill>
                  <a:srgbClr val="EEF0F8"/>
                </a:solidFill>
                <a:latin typeface="Calibri" pitchFamily="34" charset="0"/>
                <a:ea typeface="Calibri" pitchFamily="34" charset="-122"/>
                <a:cs typeface="Calibri" pitchFamily="34" charset="-120"/>
              </a:rPr>
              <a:t>DOS console on the same personal drive</a:t>
            </a:r>
            <a:endParaRPr lang="en-US" sz="1600" dirty="0"/>
          </a:p>
          <a:p>
            <a:pPr marL="203200" indent="-203200">
              <a:spcAft>
                <a:spcPts val="800"/>
              </a:spcAft>
              <a:buSzPct val="100000"/>
              <a:buChar char="•"/>
            </a:pPr>
            <a:r>
              <a:rPr lang="en-US" sz="1600" dirty="0">
                <a:solidFill>
                  <a:srgbClr val="EEF0F8"/>
                </a:solidFill>
                <a:latin typeface="Calibri" pitchFamily="34" charset="0"/>
                <a:ea typeface="Calibri" pitchFamily="34" charset="-122"/>
                <a:cs typeface="Calibri" pitchFamily="34" charset="-120"/>
              </a:rPr>
              <a:t>Saves and high scores that persist between sessions</a:t>
            </a:r>
            <a:endParaRPr lang="en-US" sz="1600" dirty="0"/>
          </a:p>
        </p:txBody>
      </p:sp>
      <p:sp>
        <p:nvSpPr>
          <p:cNvPr id="18" name="Shape 16"/>
          <p:cNvSpPr/>
          <p:nvPr/>
        </p:nvSpPr>
        <p:spPr>
          <a:xfrm>
            <a:off x="548640" y="5532120"/>
            <a:ext cx="11094415" cy="868680"/>
          </a:xfrm>
          <a:prstGeom prst="roundRect">
            <a:avLst>
              <a:gd name="adj" fmla="val 8421"/>
            </a:avLst>
          </a:prstGeom>
          <a:solidFill>
            <a:srgbClr val="2A2310"/>
          </a:solidFill>
          <a:ln w="12700">
            <a:solidFill>
              <a:srgbClr val="2A2310"/>
            </a:solidFill>
            <a:prstDash val="solid"/>
          </a:ln>
        </p:spPr>
      </p:sp>
      <p:sp>
        <p:nvSpPr>
          <p:cNvPr id="19" name="Shape 17"/>
          <p:cNvSpPr/>
          <p:nvPr/>
        </p:nvSpPr>
        <p:spPr>
          <a:xfrm>
            <a:off x="777240" y="5715000"/>
            <a:ext cx="502920" cy="502920"/>
          </a:xfrm>
          <a:prstGeom prst="ellipse">
            <a:avLst/>
          </a:prstGeom>
          <a:solidFill>
            <a:srgbClr val="FFB000"/>
          </a:solidFill>
          <a:ln w="12700">
            <a:solidFill>
              <a:srgbClr val="FFB000"/>
            </a:solidFill>
            <a:prstDash val="solid"/>
          </a:ln>
        </p:spPr>
      </p:sp>
      <p:pic>
        <p:nvPicPr>
          <p:cNvPr id="20" name="Image 0" descr="preencoded.png">    </p:cNvPr>
          <p:cNvPicPr>
            <a:picLocks noChangeAspect="1"/>
          </p:cNvPicPr>
          <p:nvPr/>
        </p:nvPicPr>
        <p:blipFill>
          <a:blip r:embed="rId1"/>
          <a:stretch>
            <a:fillRect/>
          </a:stretch>
        </p:blipFill>
        <p:spPr>
          <a:xfrm>
            <a:off x="887882" y="5825642"/>
            <a:ext cx="281635" cy="281635"/>
          </a:xfrm>
          <a:prstGeom prst="rect">
            <a:avLst/>
          </a:prstGeom>
        </p:spPr>
      </p:pic>
      <p:sp>
        <p:nvSpPr>
          <p:cNvPr id="21" name="Text 18"/>
          <p:cNvSpPr txBox="1"/>
          <p:nvPr/>
        </p:nvSpPr>
        <p:spPr>
          <a:xfrm>
            <a:off x="1508760" y="5678424"/>
            <a:ext cx="1828800" cy="228600"/>
          </a:xfrm>
          <a:prstGeom prst="rect">
            <a:avLst/>
          </a:prstGeom>
          <a:noFill/>
          <a:ln/>
        </p:spPr>
        <p:txBody>
          <a:bodyPr wrap="square" lIns="0" tIns="0" rIns="0" bIns="0" rtlCol="0" anchor="t"/>
          <a:lstStyle/>
          <a:p>
            <a:pPr indent="0" marL="0">
              <a:buNone/>
            </a:pPr>
            <a:r>
              <a:rPr lang="en-US" sz="1100" b="1" dirty="0">
                <a:solidFill>
                  <a:srgbClr val="FFB000"/>
                </a:solidFill>
                <a:latin typeface="Courier New" pitchFamily="34" charset="0"/>
                <a:ea typeface="Courier New" pitchFamily="34" charset="-122"/>
                <a:cs typeface="Courier New" pitchFamily="34" charset="-120"/>
              </a:rPr>
              <a:t>AI LESSON</a:t>
            </a:r>
            <a:endParaRPr lang="en-US" sz="1100" dirty="0"/>
          </a:p>
        </p:txBody>
      </p:sp>
      <p:sp>
        <p:nvSpPr>
          <p:cNvPr id="22" name="Text 19"/>
          <p:cNvSpPr txBox="1"/>
          <p:nvPr/>
        </p:nvSpPr>
        <p:spPr>
          <a:xfrm>
            <a:off x="1508760" y="5916168"/>
            <a:ext cx="9905695" cy="411480"/>
          </a:xfrm>
          <a:prstGeom prst="rect">
            <a:avLst/>
          </a:prstGeom>
          <a:noFill/>
          <a:ln/>
        </p:spPr>
        <p:txBody>
          <a:bodyPr wrap="square" lIns="0" tIns="0" rIns="0" bIns="0" rtlCol="0" anchor="t"/>
          <a:lstStyle/>
          <a:p>
            <a:pPr indent="0" marL="0">
              <a:buNone/>
            </a:pPr>
            <a:r>
              <a:rPr lang="en-US" sz="1500" dirty="0">
                <a:solidFill>
                  <a:srgbClr val="EEF0F8"/>
                </a:solidFill>
                <a:latin typeface="Calibri" pitchFamily="34" charset="0"/>
                <a:ea typeface="Calibri" pitchFamily="34" charset="-122"/>
                <a:cs typeface="Calibri" pitchFamily="34" charset="-120"/>
              </a:rPr>
              <a:t>Generation is the cheap part. The architecture keeps AI output coherent; real-browser tests prove it actually runs.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224"/>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t"/>
          <a:lstStyle/>
          <a:p>
            <a:pPr indent="0" marL="0">
              <a:buNone/>
            </a:pPr>
            <a:r>
              <a:rPr lang="en-US" sz="1400" b="1" dirty="0">
                <a:solidFill>
                  <a:srgbClr val="FFB000"/>
                </a:solidFill>
                <a:latin typeface="Courier New" pitchFamily="34" charset="0"/>
                <a:ea typeface="Courier New" pitchFamily="34" charset="-122"/>
                <a:cs typeface="Courier New" pitchFamily="34" charset="-120"/>
              </a:rPr>
              <a:t>C:\&gt; PHASE_04 · HARDEN &amp; SECURE</a:t>
            </a:r>
            <a:endParaRPr lang="en-US" sz="1400" dirty="0"/>
          </a:p>
        </p:txBody>
      </p:sp>
      <p:sp>
        <p:nvSpPr>
          <p:cNvPr id="3" name="Text 1"/>
          <p:cNvSpPr txBox="1"/>
          <p:nvPr/>
        </p:nvSpPr>
        <p:spPr>
          <a:xfrm>
            <a:off x="548640" y="777240"/>
            <a:ext cx="11094415" cy="685800"/>
          </a:xfrm>
          <a:prstGeom prst="rect">
            <a:avLst/>
          </a:prstGeom>
          <a:noFill/>
          <a:ln/>
        </p:spPr>
        <p:txBody>
          <a:bodyPr wrap="square" lIns="0" tIns="0" rIns="0" bIns="0" rtlCol="0" anchor="ctr"/>
          <a:lstStyle/>
          <a:p>
            <a:pPr indent="0" marL="0">
              <a:buNone/>
            </a:pPr>
            <a:r>
              <a:rPr lang="en-US" sz="3200" b="1" dirty="0">
                <a:solidFill>
                  <a:srgbClr val="EEF0F8"/>
                </a:solidFill>
                <a:latin typeface="Courier New" pitchFamily="34" charset="0"/>
                <a:ea typeface="Courier New" pitchFamily="34" charset="-122"/>
                <a:cs typeface="Courier New" pitchFamily="34" charset="-120"/>
              </a:rPr>
              <a:t>Harden: a dedicated pass, no new features</a:t>
            </a:r>
            <a:endParaRPr lang="en-US" sz="3200" dirty="0"/>
          </a:p>
        </p:txBody>
      </p:sp>
      <p:sp>
        <p:nvSpPr>
          <p:cNvPr id="4" name="Shape 2"/>
          <p:cNvSpPr/>
          <p:nvPr/>
        </p:nvSpPr>
        <p:spPr>
          <a:xfrm>
            <a:off x="548640" y="1783080"/>
            <a:ext cx="3515258" cy="1645920"/>
          </a:xfrm>
          <a:prstGeom prst="roundRect">
            <a:avLst>
              <a:gd name="adj" fmla="val 4444"/>
            </a:avLst>
          </a:prstGeom>
          <a:solidFill>
            <a:srgbClr val="182041"/>
          </a:solidFill>
          <a:ln w="12700">
            <a:solidFill>
              <a:srgbClr val="182041"/>
            </a:solidFill>
            <a:prstDash val="solid"/>
          </a:ln>
        </p:spPr>
      </p:sp>
      <p:sp>
        <p:nvSpPr>
          <p:cNvPr id="5" name="Shape 3"/>
          <p:cNvSpPr/>
          <p:nvPr/>
        </p:nvSpPr>
        <p:spPr>
          <a:xfrm>
            <a:off x="777240" y="2011680"/>
            <a:ext cx="548640" cy="548640"/>
          </a:xfrm>
          <a:prstGeom prst="ellipse">
            <a:avLst/>
          </a:prstGeom>
          <a:solidFill>
            <a:srgbClr val="212B57"/>
          </a:solidFill>
          <a:ln w="12700">
            <a:solidFill>
              <a:srgbClr val="212B57"/>
            </a:solidFill>
            <a:prstDash val="solid"/>
          </a:ln>
        </p:spPr>
      </p:sp>
      <p:pic>
        <p:nvPicPr>
          <p:cNvPr id="6" name="Image 0" descr="preencoded.png">    </p:cNvPr>
          <p:cNvPicPr>
            <a:picLocks noChangeAspect="1"/>
          </p:cNvPicPr>
          <p:nvPr/>
        </p:nvPicPr>
        <p:blipFill>
          <a:blip r:embed="rId1"/>
          <a:stretch>
            <a:fillRect/>
          </a:stretch>
        </p:blipFill>
        <p:spPr>
          <a:xfrm>
            <a:off x="897941" y="2132381"/>
            <a:ext cx="307238" cy="307238"/>
          </a:xfrm>
          <a:prstGeom prst="rect">
            <a:avLst/>
          </a:prstGeom>
        </p:spPr>
      </p:pic>
      <p:sp>
        <p:nvSpPr>
          <p:cNvPr id="7" name="Text 4"/>
          <p:cNvSpPr txBox="1"/>
          <p:nvPr/>
        </p:nvSpPr>
        <p:spPr>
          <a:xfrm>
            <a:off x="1508760" y="2075688"/>
            <a:ext cx="2372258" cy="411480"/>
          </a:xfrm>
          <a:prstGeom prst="rect">
            <a:avLst/>
          </a:prstGeom>
          <a:noFill/>
          <a:ln/>
        </p:spPr>
        <p:txBody>
          <a:bodyPr wrap="square" lIns="0" tIns="0" rIns="0" bIns="0" rtlCol="0" anchor="t"/>
          <a:lstStyle/>
          <a:p>
            <a:pPr indent="0" marL="0">
              <a:buNone/>
            </a:pPr>
            <a:r>
              <a:rPr lang="en-US" sz="1700" b="1" dirty="0">
                <a:solidFill>
                  <a:srgbClr val="EEF0F8"/>
                </a:solidFill>
                <a:latin typeface="Calibri" pitchFamily="34" charset="0"/>
                <a:ea typeface="Calibri" pitchFamily="34" charset="-122"/>
                <a:cs typeface="Calibri" pitchFamily="34" charset="-120"/>
              </a:rPr>
              <a:t>Identity</a:t>
            </a:r>
            <a:endParaRPr lang="en-US" sz="1700" dirty="0"/>
          </a:p>
        </p:txBody>
      </p:sp>
      <p:sp>
        <p:nvSpPr>
          <p:cNvPr id="8" name="Text 5"/>
          <p:cNvSpPr txBox="1"/>
          <p:nvPr/>
        </p:nvSpPr>
        <p:spPr>
          <a:xfrm>
            <a:off x="777240" y="2679192"/>
            <a:ext cx="3058058" cy="685800"/>
          </a:xfrm>
          <a:prstGeom prst="rect">
            <a:avLst/>
          </a:prstGeom>
          <a:noFill/>
          <a:ln/>
        </p:spPr>
        <p:txBody>
          <a:bodyPr wrap="square" lIns="0" tIns="0" rIns="0" bIns="0" rtlCol="0" anchor="t"/>
          <a:lstStyle/>
          <a:p>
            <a:pPr indent="0" marL="0">
              <a:buNone/>
            </a:pPr>
            <a:r>
              <a:rPr lang="en-US" sz="1300" dirty="0">
                <a:solidFill>
                  <a:srgbClr val="A3ABCB"/>
                </a:solidFill>
                <a:latin typeface="Calibri" pitchFamily="34" charset="0"/>
                <a:ea typeface="Calibri" pitchFamily="34" charset="-122"/>
                <a:cs typeface="Calibri" pitchFamily="34" charset="-120"/>
              </a:rPr>
              <a:t>OIDC Authorization Code + PKCE, Microsoft Entra ID, explicit account linking</a:t>
            </a:r>
            <a:endParaRPr lang="en-US" sz="1300" dirty="0"/>
          </a:p>
        </p:txBody>
      </p:sp>
      <p:sp>
        <p:nvSpPr>
          <p:cNvPr id="9" name="Shape 6"/>
          <p:cNvSpPr/>
          <p:nvPr/>
        </p:nvSpPr>
        <p:spPr>
          <a:xfrm>
            <a:off x="4338218" y="1783080"/>
            <a:ext cx="3515258" cy="1645920"/>
          </a:xfrm>
          <a:prstGeom prst="roundRect">
            <a:avLst>
              <a:gd name="adj" fmla="val 4444"/>
            </a:avLst>
          </a:prstGeom>
          <a:solidFill>
            <a:srgbClr val="182041"/>
          </a:solidFill>
          <a:ln w="12700">
            <a:solidFill>
              <a:srgbClr val="182041"/>
            </a:solidFill>
            <a:prstDash val="solid"/>
          </a:ln>
        </p:spPr>
      </p:sp>
      <p:sp>
        <p:nvSpPr>
          <p:cNvPr id="10" name="Shape 7"/>
          <p:cNvSpPr/>
          <p:nvPr/>
        </p:nvSpPr>
        <p:spPr>
          <a:xfrm>
            <a:off x="4566818" y="2011680"/>
            <a:ext cx="548640" cy="548640"/>
          </a:xfrm>
          <a:prstGeom prst="ellipse">
            <a:avLst/>
          </a:prstGeom>
          <a:solidFill>
            <a:srgbClr val="212B57"/>
          </a:solidFill>
          <a:ln w="12700">
            <a:solidFill>
              <a:srgbClr val="212B57"/>
            </a:solidFill>
            <a:prstDash val="solid"/>
          </a:ln>
        </p:spPr>
      </p:sp>
      <p:pic>
        <p:nvPicPr>
          <p:cNvPr id="11" name="Image 1" descr="preencoded.png">    </p:cNvPr>
          <p:cNvPicPr>
            <a:picLocks noChangeAspect="1"/>
          </p:cNvPicPr>
          <p:nvPr/>
        </p:nvPicPr>
        <p:blipFill>
          <a:blip r:embed="rId2"/>
          <a:stretch>
            <a:fillRect/>
          </a:stretch>
        </p:blipFill>
        <p:spPr>
          <a:xfrm>
            <a:off x="4687519" y="2132381"/>
            <a:ext cx="307238" cy="307238"/>
          </a:xfrm>
          <a:prstGeom prst="rect">
            <a:avLst/>
          </a:prstGeom>
        </p:spPr>
      </p:pic>
      <p:sp>
        <p:nvSpPr>
          <p:cNvPr id="12" name="Text 8"/>
          <p:cNvSpPr txBox="1"/>
          <p:nvPr/>
        </p:nvSpPr>
        <p:spPr>
          <a:xfrm>
            <a:off x="5298338" y="2075688"/>
            <a:ext cx="2372258" cy="411480"/>
          </a:xfrm>
          <a:prstGeom prst="rect">
            <a:avLst/>
          </a:prstGeom>
          <a:noFill/>
          <a:ln/>
        </p:spPr>
        <p:txBody>
          <a:bodyPr wrap="square" lIns="0" tIns="0" rIns="0" bIns="0" rtlCol="0" anchor="t"/>
          <a:lstStyle/>
          <a:p>
            <a:pPr indent="0" marL="0">
              <a:buNone/>
            </a:pPr>
            <a:r>
              <a:rPr lang="en-US" sz="1700" b="1" dirty="0">
                <a:solidFill>
                  <a:srgbClr val="EEF0F8"/>
                </a:solidFill>
                <a:latin typeface="Calibri" pitchFamily="34" charset="0"/>
                <a:ea typeface="Calibri" pitchFamily="34" charset="-122"/>
                <a:cs typeface="Calibri" pitchFamily="34" charset="-120"/>
              </a:rPr>
              <a:t>Browser policy</a:t>
            </a:r>
            <a:endParaRPr lang="en-US" sz="1700" dirty="0"/>
          </a:p>
        </p:txBody>
      </p:sp>
      <p:sp>
        <p:nvSpPr>
          <p:cNvPr id="13" name="Text 9"/>
          <p:cNvSpPr txBox="1"/>
          <p:nvPr/>
        </p:nvSpPr>
        <p:spPr>
          <a:xfrm>
            <a:off x="4566818" y="2679192"/>
            <a:ext cx="3058058" cy="685800"/>
          </a:xfrm>
          <a:prstGeom prst="rect">
            <a:avLst/>
          </a:prstGeom>
          <a:noFill/>
          <a:ln/>
        </p:spPr>
        <p:txBody>
          <a:bodyPr wrap="square" lIns="0" tIns="0" rIns="0" bIns="0" rtlCol="0" anchor="t"/>
          <a:lstStyle/>
          <a:p>
            <a:pPr indent="0" marL="0">
              <a:buNone/>
            </a:pPr>
            <a:r>
              <a:rPr lang="en-US" sz="1300" dirty="0">
                <a:solidFill>
                  <a:srgbClr val="A3ABCB"/>
                </a:solidFill>
                <a:latin typeface="Calibri" pitchFamily="34" charset="0"/>
                <a:ea typeface="Calibri" pitchFamily="34" charset="-122"/>
                <a:cs typeface="Calibri" pitchFamily="34" charset="-120"/>
              </a:rPr>
              <a:t>CSP and security headers, restrictive CORS, same-origin mutation checks</a:t>
            </a:r>
            <a:endParaRPr lang="en-US" sz="1300" dirty="0"/>
          </a:p>
        </p:txBody>
      </p:sp>
      <p:sp>
        <p:nvSpPr>
          <p:cNvPr id="14" name="Shape 10"/>
          <p:cNvSpPr/>
          <p:nvPr/>
        </p:nvSpPr>
        <p:spPr>
          <a:xfrm>
            <a:off x="8127797" y="1783080"/>
            <a:ext cx="3515258" cy="1645920"/>
          </a:xfrm>
          <a:prstGeom prst="roundRect">
            <a:avLst>
              <a:gd name="adj" fmla="val 4444"/>
            </a:avLst>
          </a:prstGeom>
          <a:solidFill>
            <a:srgbClr val="182041"/>
          </a:solidFill>
          <a:ln w="12700">
            <a:solidFill>
              <a:srgbClr val="182041"/>
            </a:solidFill>
            <a:prstDash val="solid"/>
          </a:ln>
        </p:spPr>
      </p:sp>
      <p:sp>
        <p:nvSpPr>
          <p:cNvPr id="15" name="Shape 11"/>
          <p:cNvSpPr/>
          <p:nvPr/>
        </p:nvSpPr>
        <p:spPr>
          <a:xfrm>
            <a:off x="8356397" y="2011680"/>
            <a:ext cx="548640" cy="548640"/>
          </a:xfrm>
          <a:prstGeom prst="ellipse">
            <a:avLst/>
          </a:prstGeom>
          <a:solidFill>
            <a:srgbClr val="212B57"/>
          </a:solidFill>
          <a:ln w="12700">
            <a:solidFill>
              <a:srgbClr val="212B57"/>
            </a:solidFill>
            <a:prstDash val="solid"/>
          </a:ln>
        </p:spPr>
      </p:sp>
      <p:pic>
        <p:nvPicPr>
          <p:cNvPr id="16" name="Image 2" descr="preencoded.png">    </p:cNvPr>
          <p:cNvPicPr>
            <a:picLocks noChangeAspect="1"/>
          </p:cNvPicPr>
          <p:nvPr/>
        </p:nvPicPr>
        <p:blipFill>
          <a:blip r:embed="rId3"/>
          <a:stretch>
            <a:fillRect/>
          </a:stretch>
        </p:blipFill>
        <p:spPr>
          <a:xfrm>
            <a:off x="8477098" y="2132381"/>
            <a:ext cx="307238" cy="307238"/>
          </a:xfrm>
          <a:prstGeom prst="rect">
            <a:avLst/>
          </a:prstGeom>
        </p:spPr>
      </p:pic>
      <p:sp>
        <p:nvSpPr>
          <p:cNvPr id="17" name="Text 12"/>
          <p:cNvSpPr txBox="1"/>
          <p:nvPr/>
        </p:nvSpPr>
        <p:spPr>
          <a:xfrm>
            <a:off x="9087917" y="2075688"/>
            <a:ext cx="2372258" cy="411480"/>
          </a:xfrm>
          <a:prstGeom prst="rect">
            <a:avLst/>
          </a:prstGeom>
          <a:noFill/>
          <a:ln/>
        </p:spPr>
        <p:txBody>
          <a:bodyPr wrap="square" lIns="0" tIns="0" rIns="0" bIns="0" rtlCol="0" anchor="t"/>
          <a:lstStyle/>
          <a:p>
            <a:pPr indent="0" marL="0">
              <a:buNone/>
            </a:pPr>
            <a:r>
              <a:rPr lang="en-US" sz="1700" b="1" dirty="0">
                <a:solidFill>
                  <a:srgbClr val="EEF0F8"/>
                </a:solidFill>
                <a:latin typeface="Calibri" pitchFamily="34" charset="0"/>
                <a:ea typeface="Calibri" pitchFamily="34" charset="-122"/>
                <a:cs typeface="Calibri" pitchFamily="34" charset="-120"/>
              </a:rPr>
              <a:t>Abuse limits</a:t>
            </a:r>
            <a:endParaRPr lang="en-US" sz="1700" dirty="0"/>
          </a:p>
        </p:txBody>
      </p:sp>
      <p:sp>
        <p:nvSpPr>
          <p:cNvPr id="18" name="Text 13"/>
          <p:cNvSpPr txBox="1"/>
          <p:nvPr/>
        </p:nvSpPr>
        <p:spPr>
          <a:xfrm>
            <a:off x="8356397" y="2679192"/>
            <a:ext cx="3058058" cy="685800"/>
          </a:xfrm>
          <a:prstGeom prst="rect">
            <a:avLst/>
          </a:prstGeom>
          <a:noFill/>
          <a:ln/>
        </p:spPr>
        <p:txBody>
          <a:bodyPr wrap="square" lIns="0" tIns="0" rIns="0" bIns="0" rtlCol="0" anchor="t"/>
          <a:lstStyle/>
          <a:p>
            <a:pPr indent="0" marL="0">
              <a:buNone/>
            </a:pPr>
            <a:r>
              <a:rPr lang="en-US" sz="1300" dirty="0">
                <a:solidFill>
                  <a:srgbClr val="A3ABCB"/>
                </a:solidFill>
                <a:latin typeface="Calibri" pitchFamily="34" charset="0"/>
                <a:ea typeface="Calibri" pitchFamily="34" charset="-122"/>
                <a:cs typeface="Calibri" pitchFamily="34" charset="-120"/>
              </a:rPr>
              <a:t>Login and registration throttling; JSON, filesystem and protocol size limits</a:t>
            </a:r>
            <a:endParaRPr lang="en-US" sz="1300" dirty="0"/>
          </a:p>
        </p:txBody>
      </p:sp>
      <p:sp>
        <p:nvSpPr>
          <p:cNvPr id="19" name="Shape 14"/>
          <p:cNvSpPr/>
          <p:nvPr/>
        </p:nvSpPr>
        <p:spPr>
          <a:xfrm>
            <a:off x="548640" y="3657600"/>
            <a:ext cx="3515258" cy="1645920"/>
          </a:xfrm>
          <a:prstGeom prst="roundRect">
            <a:avLst>
              <a:gd name="adj" fmla="val 4444"/>
            </a:avLst>
          </a:prstGeom>
          <a:solidFill>
            <a:srgbClr val="182041"/>
          </a:solidFill>
          <a:ln w="12700">
            <a:solidFill>
              <a:srgbClr val="182041"/>
            </a:solidFill>
            <a:prstDash val="solid"/>
          </a:ln>
        </p:spPr>
      </p:sp>
      <p:sp>
        <p:nvSpPr>
          <p:cNvPr id="20" name="Shape 15"/>
          <p:cNvSpPr/>
          <p:nvPr/>
        </p:nvSpPr>
        <p:spPr>
          <a:xfrm>
            <a:off x="777240" y="3886200"/>
            <a:ext cx="548640" cy="548640"/>
          </a:xfrm>
          <a:prstGeom prst="ellipse">
            <a:avLst/>
          </a:prstGeom>
          <a:solidFill>
            <a:srgbClr val="212B57"/>
          </a:solidFill>
          <a:ln w="12700">
            <a:solidFill>
              <a:srgbClr val="212B57"/>
            </a:solidFill>
            <a:prstDash val="solid"/>
          </a:ln>
        </p:spPr>
      </p:sp>
      <p:pic>
        <p:nvPicPr>
          <p:cNvPr id="21" name="Image 3" descr="preencoded.png">    </p:cNvPr>
          <p:cNvPicPr>
            <a:picLocks noChangeAspect="1"/>
          </p:cNvPicPr>
          <p:nvPr/>
        </p:nvPicPr>
        <p:blipFill>
          <a:blip r:embed="rId4"/>
          <a:stretch>
            <a:fillRect/>
          </a:stretch>
        </p:blipFill>
        <p:spPr>
          <a:xfrm>
            <a:off x="897941" y="4006901"/>
            <a:ext cx="307238" cy="307238"/>
          </a:xfrm>
          <a:prstGeom prst="rect">
            <a:avLst/>
          </a:prstGeom>
        </p:spPr>
      </p:pic>
      <p:sp>
        <p:nvSpPr>
          <p:cNvPr id="22" name="Text 16"/>
          <p:cNvSpPr txBox="1"/>
          <p:nvPr/>
        </p:nvSpPr>
        <p:spPr>
          <a:xfrm>
            <a:off x="1508760" y="3950208"/>
            <a:ext cx="2372258" cy="411480"/>
          </a:xfrm>
          <a:prstGeom prst="rect">
            <a:avLst/>
          </a:prstGeom>
          <a:noFill/>
          <a:ln/>
        </p:spPr>
        <p:txBody>
          <a:bodyPr wrap="square" lIns="0" tIns="0" rIns="0" bIns="0" rtlCol="0" anchor="t"/>
          <a:lstStyle/>
          <a:p>
            <a:pPr indent="0" marL="0">
              <a:buNone/>
            </a:pPr>
            <a:r>
              <a:rPr lang="en-US" sz="1700" b="1" dirty="0">
                <a:solidFill>
                  <a:srgbClr val="EEF0F8"/>
                </a:solidFill>
                <a:latin typeface="Calibri" pitchFamily="34" charset="0"/>
                <a:ea typeface="Calibri" pitchFamily="34" charset="-122"/>
                <a:cs typeface="Calibri" pitchFamily="34" charset="-120"/>
              </a:rPr>
              <a:t>Safe defaults</a:t>
            </a:r>
            <a:endParaRPr lang="en-US" sz="1700" dirty="0"/>
          </a:p>
        </p:txBody>
      </p:sp>
      <p:sp>
        <p:nvSpPr>
          <p:cNvPr id="23" name="Text 17"/>
          <p:cNvSpPr txBox="1"/>
          <p:nvPr/>
        </p:nvSpPr>
        <p:spPr>
          <a:xfrm>
            <a:off x="777240" y="4553712"/>
            <a:ext cx="3058058" cy="685800"/>
          </a:xfrm>
          <a:prstGeom prst="rect">
            <a:avLst/>
          </a:prstGeom>
          <a:noFill/>
          <a:ln/>
        </p:spPr>
        <p:txBody>
          <a:bodyPr wrap="square" lIns="0" tIns="0" rIns="0" bIns="0" rtlCol="0" anchor="t"/>
          <a:lstStyle/>
          <a:p>
            <a:pPr indent="0" marL="0">
              <a:buNone/>
            </a:pPr>
            <a:r>
              <a:rPr lang="en-US" sz="1300" dirty="0">
                <a:solidFill>
                  <a:srgbClr val="A3ABCB"/>
                </a:solidFill>
                <a:latin typeface="Calibri" pitchFamily="34" charset="0"/>
                <a:ea typeface="Calibri" pitchFamily="34" charset="-122"/>
                <a:cs typeface="Calibri" pitchFamily="34" charset="-120"/>
              </a:rPr>
              <a:t>Demo users off by default, Secure cookies over TLS, sanitized errors</a:t>
            </a:r>
            <a:endParaRPr lang="en-US" sz="1300" dirty="0"/>
          </a:p>
        </p:txBody>
      </p:sp>
      <p:sp>
        <p:nvSpPr>
          <p:cNvPr id="24" name="Shape 18"/>
          <p:cNvSpPr/>
          <p:nvPr/>
        </p:nvSpPr>
        <p:spPr>
          <a:xfrm>
            <a:off x="4338218" y="3657600"/>
            <a:ext cx="3515258" cy="1645920"/>
          </a:xfrm>
          <a:prstGeom prst="roundRect">
            <a:avLst>
              <a:gd name="adj" fmla="val 4444"/>
            </a:avLst>
          </a:prstGeom>
          <a:solidFill>
            <a:srgbClr val="182041"/>
          </a:solidFill>
          <a:ln w="12700">
            <a:solidFill>
              <a:srgbClr val="182041"/>
            </a:solidFill>
            <a:prstDash val="solid"/>
          </a:ln>
        </p:spPr>
      </p:sp>
      <p:sp>
        <p:nvSpPr>
          <p:cNvPr id="25" name="Shape 19"/>
          <p:cNvSpPr/>
          <p:nvPr/>
        </p:nvSpPr>
        <p:spPr>
          <a:xfrm>
            <a:off x="4566818" y="3886200"/>
            <a:ext cx="548640" cy="548640"/>
          </a:xfrm>
          <a:prstGeom prst="ellipse">
            <a:avLst/>
          </a:prstGeom>
          <a:solidFill>
            <a:srgbClr val="212B57"/>
          </a:solidFill>
          <a:ln w="12700">
            <a:solidFill>
              <a:srgbClr val="212B57"/>
            </a:solidFill>
            <a:prstDash val="solid"/>
          </a:ln>
        </p:spPr>
      </p:sp>
      <p:pic>
        <p:nvPicPr>
          <p:cNvPr id="26" name="Image 4" descr="preencoded.png">    </p:cNvPr>
          <p:cNvPicPr>
            <a:picLocks noChangeAspect="1"/>
          </p:cNvPicPr>
          <p:nvPr/>
        </p:nvPicPr>
        <p:blipFill>
          <a:blip r:embed="rId5"/>
          <a:stretch>
            <a:fillRect/>
          </a:stretch>
        </p:blipFill>
        <p:spPr>
          <a:xfrm>
            <a:off x="4687519" y="4006901"/>
            <a:ext cx="307238" cy="307238"/>
          </a:xfrm>
          <a:prstGeom prst="rect">
            <a:avLst/>
          </a:prstGeom>
        </p:spPr>
      </p:pic>
      <p:sp>
        <p:nvSpPr>
          <p:cNvPr id="27" name="Text 20"/>
          <p:cNvSpPr txBox="1"/>
          <p:nvPr/>
        </p:nvSpPr>
        <p:spPr>
          <a:xfrm>
            <a:off x="5298338" y="3950208"/>
            <a:ext cx="2372258" cy="411480"/>
          </a:xfrm>
          <a:prstGeom prst="rect">
            <a:avLst/>
          </a:prstGeom>
          <a:noFill/>
          <a:ln/>
        </p:spPr>
        <p:txBody>
          <a:bodyPr wrap="square" lIns="0" tIns="0" rIns="0" bIns="0" rtlCol="0" anchor="t"/>
          <a:lstStyle/>
          <a:p>
            <a:pPr indent="0" marL="0">
              <a:buNone/>
            </a:pPr>
            <a:r>
              <a:rPr lang="en-US" sz="1700" b="1" dirty="0">
                <a:solidFill>
                  <a:srgbClr val="EEF0F8"/>
                </a:solidFill>
                <a:latin typeface="Calibri" pitchFamily="34" charset="0"/>
                <a:ea typeface="Calibri" pitchFamily="34" charset="-122"/>
                <a:cs typeface="Calibri" pitchFamily="34" charset="-120"/>
              </a:rPr>
              <a:t>Supply chain</a:t>
            </a:r>
            <a:endParaRPr lang="en-US" sz="1700" dirty="0"/>
          </a:p>
        </p:txBody>
      </p:sp>
      <p:sp>
        <p:nvSpPr>
          <p:cNvPr id="28" name="Text 21"/>
          <p:cNvSpPr txBox="1"/>
          <p:nvPr/>
        </p:nvSpPr>
        <p:spPr>
          <a:xfrm>
            <a:off x="4566818" y="4553712"/>
            <a:ext cx="3058058" cy="685800"/>
          </a:xfrm>
          <a:prstGeom prst="rect">
            <a:avLst/>
          </a:prstGeom>
          <a:noFill/>
          <a:ln/>
        </p:spPr>
        <p:txBody>
          <a:bodyPr wrap="square" lIns="0" tIns="0" rIns="0" bIns="0" rtlCol="0" anchor="t"/>
          <a:lstStyle/>
          <a:p>
            <a:pPr indent="0" marL="0">
              <a:buNone/>
            </a:pPr>
            <a:r>
              <a:rPr lang="en-US" sz="1300" dirty="0">
                <a:solidFill>
                  <a:srgbClr val="A3ABCB"/>
                </a:solidFill>
                <a:latin typeface="Calibri" pitchFamily="34" charset="0"/>
                <a:ea typeface="Calibri" pitchFamily="34" charset="-122"/>
                <a:cs typeface="Calibri" pitchFamily="34" charset="-120"/>
              </a:rPr>
              <a:t>Dependency audit; adm-zip upgraded to 0.6.1</a:t>
            </a:r>
            <a:endParaRPr lang="en-US" sz="1300" dirty="0"/>
          </a:p>
        </p:txBody>
      </p:sp>
      <p:sp>
        <p:nvSpPr>
          <p:cNvPr id="29" name="Shape 22"/>
          <p:cNvSpPr/>
          <p:nvPr/>
        </p:nvSpPr>
        <p:spPr>
          <a:xfrm>
            <a:off x="8127797" y="3657600"/>
            <a:ext cx="3515258" cy="1645920"/>
          </a:xfrm>
          <a:prstGeom prst="roundRect">
            <a:avLst>
              <a:gd name="adj" fmla="val 4444"/>
            </a:avLst>
          </a:prstGeom>
          <a:solidFill>
            <a:srgbClr val="182041"/>
          </a:solidFill>
          <a:ln w="12700">
            <a:solidFill>
              <a:srgbClr val="182041"/>
            </a:solidFill>
            <a:prstDash val="solid"/>
          </a:ln>
        </p:spPr>
      </p:sp>
      <p:sp>
        <p:nvSpPr>
          <p:cNvPr id="30" name="Shape 23"/>
          <p:cNvSpPr/>
          <p:nvPr/>
        </p:nvSpPr>
        <p:spPr>
          <a:xfrm>
            <a:off x="8356397" y="3886200"/>
            <a:ext cx="548640" cy="548640"/>
          </a:xfrm>
          <a:prstGeom prst="ellipse">
            <a:avLst/>
          </a:prstGeom>
          <a:solidFill>
            <a:srgbClr val="212B57"/>
          </a:solidFill>
          <a:ln w="12700">
            <a:solidFill>
              <a:srgbClr val="212B57"/>
            </a:solidFill>
            <a:prstDash val="solid"/>
          </a:ln>
        </p:spPr>
      </p:sp>
      <p:pic>
        <p:nvPicPr>
          <p:cNvPr id="31" name="Image 5" descr="preencoded.png">    </p:cNvPr>
          <p:cNvPicPr>
            <a:picLocks noChangeAspect="1"/>
          </p:cNvPicPr>
          <p:nvPr/>
        </p:nvPicPr>
        <p:blipFill>
          <a:blip r:embed="rId6"/>
          <a:stretch>
            <a:fillRect/>
          </a:stretch>
        </p:blipFill>
        <p:spPr>
          <a:xfrm>
            <a:off x="8477098" y="4006901"/>
            <a:ext cx="307238" cy="307238"/>
          </a:xfrm>
          <a:prstGeom prst="rect">
            <a:avLst/>
          </a:prstGeom>
        </p:spPr>
      </p:pic>
      <p:sp>
        <p:nvSpPr>
          <p:cNvPr id="32" name="Text 24"/>
          <p:cNvSpPr txBox="1"/>
          <p:nvPr/>
        </p:nvSpPr>
        <p:spPr>
          <a:xfrm>
            <a:off x="9087917" y="3950208"/>
            <a:ext cx="2372258" cy="411480"/>
          </a:xfrm>
          <a:prstGeom prst="rect">
            <a:avLst/>
          </a:prstGeom>
          <a:noFill/>
          <a:ln/>
        </p:spPr>
        <p:txBody>
          <a:bodyPr wrap="square" lIns="0" tIns="0" rIns="0" bIns="0" rtlCol="0" anchor="t"/>
          <a:lstStyle/>
          <a:p>
            <a:pPr indent="0" marL="0">
              <a:buNone/>
            </a:pPr>
            <a:r>
              <a:rPr lang="en-US" sz="1700" b="1" dirty="0">
                <a:solidFill>
                  <a:srgbClr val="EEF0F8"/>
                </a:solidFill>
                <a:latin typeface="Calibri" pitchFamily="34" charset="0"/>
                <a:ea typeface="Calibri" pitchFamily="34" charset="-122"/>
                <a:cs typeface="Calibri" pitchFamily="34" charset="-120"/>
              </a:rPr>
              <a:t>Regression</a:t>
            </a:r>
            <a:endParaRPr lang="en-US" sz="1700" dirty="0"/>
          </a:p>
        </p:txBody>
      </p:sp>
      <p:sp>
        <p:nvSpPr>
          <p:cNvPr id="33" name="Text 25"/>
          <p:cNvSpPr txBox="1"/>
          <p:nvPr/>
        </p:nvSpPr>
        <p:spPr>
          <a:xfrm>
            <a:off x="8356397" y="4553712"/>
            <a:ext cx="3058058" cy="685800"/>
          </a:xfrm>
          <a:prstGeom prst="rect">
            <a:avLst/>
          </a:prstGeom>
          <a:noFill/>
          <a:ln/>
        </p:spPr>
        <p:txBody>
          <a:bodyPr wrap="square" lIns="0" tIns="0" rIns="0" bIns="0" rtlCol="0" anchor="t"/>
          <a:lstStyle/>
          <a:p>
            <a:pPr indent="0" marL="0">
              <a:buNone/>
            </a:pPr>
            <a:r>
              <a:rPr lang="en-US" sz="1300" dirty="0">
                <a:solidFill>
                  <a:srgbClr val="A3ABCB"/>
                </a:solidFill>
                <a:latin typeface="Calibri" pitchFamily="34" charset="0"/>
                <a:ea typeface="Calibri" pitchFamily="34" charset="-122"/>
                <a:cs typeface="Calibri" pitchFamily="34" charset="-120"/>
              </a:rPr>
              <a:t>12 → 35 tests: session expiry, isolation, cross-origin, malformed protocol</a:t>
            </a:r>
            <a:endParaRPr lang="en-US" sz="1300" dirty="0"/>
          </a:p>
        </p:txBody>
      </p:sp>
      <p:sp>
        <p:nvSpPr>
          <p:cNvPr id="34" name="Shape 26"/>
          <p:cNvSpPr/>
          <p:nvPr/>
        </p:nvSpPr>
        <p:spPr>
          <a:xfrm>
            <a:off x="548640" y="5532120"/>
            <a:ext cx="11094415" cy="868680"/>
          </a:xfrm>
          <a:prstGeom prst="roundRect">
            <a:avLst>
              <a:gd name="adj" fmla="val 8421"/>
            </a:avLst>
          </a:prstGeom>
          <a:solidFill>
            <a:srgbClr val="2A2310"/>
          </a:solidFill>
          <a:ln w="12700">
            <a:solidFill>
              <a:srgbClr val="2A2310"/>
            </a:solidFill>
            <a:prstDash val="solid"/>
          </a:ln>
        </p:spPr>
      </p:sp>
      <p:sp>
        <p:nvSpPr>
          <p:cNvPr id="35" name="Shape 27"/>
          <p:cNvSpPr/>
          <p:nvPr/>
        </p:nvSpPr>
        <p:spPr>
          <a:xfrm>
            <a:off x="777240" y="5715000"/>
            <a:ext cx="502920" cy="502920"/>
          </a:xfrm>
          <a:prstGeom prst="ellipse">
            <a:avLst/>
          </a:prstGeom>
          <a:solidFill>
            <a:srgbClr val="FFB000"/>
          </a:solidFill>
          <a:ln w="12700">
            <a:solidFill>
              <a:srgbClr val="FFB000"/>
            </a:solidFill>
            <a:prstDash val="solid"/>
          </a:ln>
        </p:spPr>
      </p:sp>
      <p:pic>
        <p:nvPicPr>
          <p:cNvPr id="36" name="Image 6" descr="preencoded.png">    </p:cNvPr>
          <p:cNvPicPr>
            <a:picLocks noChangeAspect="1"/>
          </p:cNvPicPr>
          <p:nvPr/>
        </p:nvPicPr>
        <p:blipFill>
          <a:blip r:embed="rId7"/>
          <a:stretch>
            <a:fillRect/>
          </a:stretch>
        </p:blipFill>
        <p:spPr>
          <a:xfrm>
            <a:off x="887882" y="5825642"/>
            <a:ext cx="281635" cy="281635"/>
          </a:xfrm>
          <a:prstGeom prst="rect">
            <a:avLst/>
          </a:prstGeom>
        </p:spPr>
      </p:pic>
      <p:sp>
        <p:nvSpPr>
          <p:cNvPr id="37" name="Text 28"/>
          <p:cNvSpPr txBox="1"/>
          <p:nvPr/>
        </p:nvSpPr>
        <p:spPr>
          <a:xfrm>
            <a:off x="1508760" y="5678424"/>
            <a:ext cx="1828800" cy="228600"/>
          </a:xfrm>
          <a:prstGeom prst="rect">
            <a:avLst/>
          </a:prstGeom>
          <a:noFill/>
          <a:ln/>
        </p:spPr>
        <p:txBody>
          <a:bodyPr wrap="square" lIns="0" tIns="0" rIns="0" bIns="0" rtlCol="0" anchor="t"/>
          <a:lstStyle/>
          <a:p>
            <a:pPr indent="0" marL="0">
              <a:buNone/>
            </a:pPr>
            <a:r>
              <a:rPr lang="en-US" sz="1100" b="1" dirty="0">
                <a:solidFill>
                  <a:srgbClr val="FFB000"/>
                </a:solidFill>
                <a:latin typeface="Courier New" pitchFamily="34" charset="0"/>
                <a:ea typeface="Courier New" pitchFamily="34" charset="-122"/>
                <a:cs typeface="Courier New" pitchFamily="34" charset="-120"/>
              </a:rPr>
              <a:t>AI LESSON</a:t>
            </a:r>
            <a:endParaRPr lang="en-US" sz="1100" dirty="0"/>
          </a:p>
        </p:txBody>
      </p:sp>
      <p:sp>
        <p:nvSpPr>
          <p:cNvPr id="38" name="Text 29"/>
          <p:cNvSpPr txBox="1"/>
          <p:nvPr/>
        </p:nvSpPr>
        <p:spPr>
          <a:xfrm>
            <a:off x="1508760" y="5916168"/>
            <a:ext cx="9905695" cy="411480"/>
          </a:xfrm>
          <a:prstGeom prst="rect">
            <a:avLst/>
          </a:prstGeom>
          <a:noFill/>
          <a:ln/>
        </p:spPr>
        <p:txBody>
          <a:bodyPr wrap="square" lIns="0" tIns="0" rIns="0" bIns="0" rtlCol="0" anchor="t"/>
          <a:lstStyle/>
          <a:p>
            <a:pPr indent="0" marL="0">
              <a:buNone/>
            </a:pPr>
            <a:r>
              <a:rPr lang="en-US" sz="1500" dirty="0">
                <a:solidFill>
                  <a:srgbClr val="EEF0F8"/>
                </a:solidFill>
                <a:latin typeface="Calibri" pitchFamily="34" charset="0"/>
                <a:ea typeface="Calibri" pitchFamily="34" charset="-122"/>
                <a:cs typeface="Calibri" pitchFamily="34" charset="-120"/>
              </a:rPr>
              <a:t>Ask the AI to attack its own code. Security works best as its own explicit pass, with its own tests.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224"/>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t"/>
          <a:lstStyle/>
          <a:p>
            <a:pPr indent="0" marL="0">
              <a:buNone/>
            </a:pPr>
            <a:r>
              <a:rPr lang="en-US" sz="1400" b="1" dirty="0">
                <a:solidFill>
                  <a:srgbClr val="FFB000"/>
                </a:solidFill>
                <a:latin typeface="Courier New" pitchFamily="34" charset="0"/>
                <a:ea typeface="Courier New" pitchFamily="34" charset="-122"/>
                <a:cs typeface="Courier New" pitchFamily="34" charset="-120"/>
              </a:rPr>
              <a:t>C:\&gt; PHASE_05 · OPERATE</a:t>
            </a:r>
            <a:endParaRPr lang="en-US" sz="1400" dirty="0"/>
          </a:p>
        </p:txBody>
      </p:sp>
      <p:sp>
        <p:nvSpPr>
          <p:cNvPr id="3" name="Text 1"/>
          <p:cNvSpPr txBox="1"/>
          <p:nvPr/>
        </p:nvSpPr>
        <p:spPr>
          <a:xfrm>
            <a:off x="548640" y="777240"/>
            <a:ext cx="11094415" cy="685800"/>
          </a:xfrm>
          <a:prstGeom prst="rect">
            <a:avLst/>
          </a:prstGeom>
          <a:noFill/>
          <a:ln/>
        </p:spPr>
        <p:txBody>
          <a:bodyPr wrap="square" lIns="0" tIns="0" rIns="0" bIns="0" rtlCol="0" anchor="ctr"/>
          <a:lstStyle/>
          <a:p>
            <a:pPr indent="0" marL="0">
              <a:buNone/>
            </a:pPr>
            <a:r>
              <a:rPr lang="en-US" sz="3200" b="1" dirty="0">
                <a:solidFill>
                  <a:srgbClr val="EEF0F8"/>
                </a:solidFill>
                <a:latin typeface="Courier New" pitchFamily="34" charset="0"/>
                <a:ea typeface="Courier New" pitchFamily="34" charset="-122"/>
                <a:cs typeface="Courier New" pitchFamily="34" charset="-120"/>
              </a:rPr>
              <a:t>Production is everything around the code</a:t>
            </a:r>
            <a:endParaRPr lang="en-US" sz="3200" dirty="0"/>
          </a:p>
        </p:txBody>
      </p:sp>
      <p:sp>
        <p:nvSpPr>
          <p:cNvPr id="4" name="Shape 2"/>
          <p:cNvSpPr/>
          <p:nvPr/>
        </p:nvSpPr>
        <p:spPr>
          <a:xfrm>
            <a:off x="548640" y="1920240"/>
            <a:ext cx="1737360" cy="777240"/>
          </a:xfrm>
          <a:prstGeom prst="roundRect">
            <a:avLst>
              <a:gd name="adj" fmla="val 9412"/>
            </a:avLst>
          </a:prstGeom>
          <a:solidFill>
            <a:srgbClr val="182041"/>
          </a:solidFill>
          <a:ln w="12700">
            <a:solidFill>
              <a:srgbClr val="182041"/>
            </a:solidFill>
            <a:prstDash val="solid"/>
          </a:ln>
        </p:spPr>
      </p:sp>
      <p:sp>
        <p:nvSpPr>
          <p:cNvPr id="5" name="Text 3"/>
          <p:cNvSpPr txBox="1"/>
          <p:nvPr/>
        </p:nvSpPr>
        <p:spPr>
          <a:xfrm>
            <a:off x="685800" y="2011680"/>
            <a:ext cx="1463040" cy="274320"/>
          </a:xfrm>
          <a:prstGeom prst="rect">
            <a:avLst/>
          </a:prstGeom>
          <a:noFill/>
          <a:ln/>
        </p:spPr>
        <p:txBody>
          <a:bodyPr wrap="square" lIns="0" tIns="0" rIns="0" bIns="0" rtlCol="0" anchor="t"/>
          <a:lstStyle/>
          <a:p>
            <a:pPr algn="ctr" indent="0" marL="0">
              <a:buNone/>
            </a:pPr>
            <a:r>
              <a:rPr lang="en-US" sz="1400" b="1" dirty="0">
                <a:solidFill>
                  <a:srgbClr val="EEF0F8"/>
                </a:solidFill>
                <a:latin typeface="Calibri" pitchFamily="34" charset="0"/>
                <a:ea typeface="Calibri" pitchFamily="34" charset="-122"/>
                <a:cs typeface="Calibri" pitchFamily="34" charset="-120"/>
              </a:rPr>
              <a:t>GitHub</a:t>
            </a:r>
            <a:endParaRPr lang="en-US" sz="1400" dirty="0"/>
          </a:p>
        </p:txBody>
      </p:sp>
      <p:sp>
        <p:nvSpPr>
          <p:cNvPr id="6" name="Text 4"/>
          <p:cNvSpPr txBox="1"/>
          <p:nvPr/>
        </p:nvSpPr>
        <p:spPr>
          <a:xfrm>
            <a:off x="685800" y="2286000"/>
            <a:ext cx="1463040" cy="320040"/>
          </a:xfrm>
          <a:prstGeom prst="rect">
            <a:avLst/>
          </a:prstGeom>
          <a:noFill/>
          <a:ln/>
        </p:spPr>
        <p:txBody>
          <a:bodyPr wrap="square" lIns="0" tIns="0" rIns="0" bIns="0" rtlCol="0" anchor="t"/>
          <a:lstStyle/>
          <a:p>
            <a:pPr algn="ctr" indent="0" marL="0">
              <a:buNone/>
            </a:pPr>
            <a:r>
              <a:rPr lang="en-US" sz="1100" dirty="0">
                <a:solidFill>
                  <a:srgbClr val="A3ABCB"/>
                </a:solidFill>
                <a:latin typeface="Calibri" pitchFamily="34" charset="0"/>
                <a:ea typeface="Calibri" pitchFamily="34" charset="-122"/>
                <a:cs typeface="Calibri" pitchFamily="34" charset="-120"/>
              </a:rPr>
              <a:t>deployment</a:t>
            </a:r>
            <a:endParaRPr lang="en-US" sz="1100" dirty="0"/>
          </a:p>
        </p:txBody>
      </p:sp>
      <p:sp>
        <p:nvSpPr>
          <p:cNvPr id="7" name="Shape 5"/>
          <p:cNvSpPr/>
          <p:nvPr/>
        </p:nvSpPr>
        <p:spPr>
          <a:xfrm>
            <a:off x="1417320" y="2697480"/>
            <a:ext cx="0" cy="868680"/>
          </a:xfrm>
          <a:prstGeom prst="line">
            <a:avLst/>
          </a:prstGeom>
          <a:noFill/>
          <a:ln w="25400">
            <a:solidFill>
              <a:srgbClr val="FFB000"/>
            </a:solidFill>
            <a:prstDash val="solid"/>
            <a:tailEnd type="triangle"/>
          </a:ln>
        </p:spPr>
      </p:sp>
      <p:sp>
        <p:nvSpPr>
          <p:cNvPr id="8" name="Shape 6"/>
          <p:cNvSpPr/>
          <p:nvPr/>
        </p:nvSpPr>
        <p:spPr>
          <a:xfrm>
            <a:off x="548640" y="3566160"/>
            <a:ext cx="1737360" cy="777240"/>
          </a:xfrm>
          <a:prstGeom prst="roundRect">
            <a:avLst>
              <a:gd name="adj" fmla="val 9412"/>
            </a:avLst>
          </a:prstGeom>
          <a:solidFill>
            <a:srgbClr val="182041"/>
          </a:solidFill>
          <a:ln w="12700">
            <a:solidFill>
              <a:srgbClr val="182041"/>
            </a:solidFill>
            <a:prstDash val="solid"/>
          </a:ln>
        </p:spPr>
      </p:sp>
      <p:sp>
        <p:nvSpPr>
          <p:cNvPr id="9" name="Text 7"/>
          <p:cNvSpPr txBox="1"/>
          <p:nvPr/>
        </p:nvSpPr>
        <p:spPr>
          <a:xfrm>
            <a:off x="685800" y="3657600"/>
            <a:ext cx="1463040" cy="274320"/>
          </a:xfrm>
          <a:prstGeom prst="rect">
            <a:avLst/>
          </a:prstGeom>
          <a:noFill/>
          <a:ln/>
        </p:spPr>
        <p:txBody>
          <a:bodyPr wrap="square" lIns="0" tIns="0" rIns="0" bIns="0" rtlCol="0" anchor="t"/>
          <a:lstStyle/>
          <a:p>
            <a:pPr algn="ctr" indent="0" marL="0">
              <a:buNone/>
            </a:pPr>
            <a:r>
              <a:rPr lang="en-US" sz="1400" b="1" dirty="0">
                <a:solidFill>
                  <a:srgbClr val="EEF0F8"/>
                </a:solidFill>
                <a:latin typeface="Calibri" pitchFamily="34" charset="0"/>
                <a:ea typeface="Calibri" pitchFamily="34" charset="-122"/>
                <a:cs typeface="Calibri" pitchFamily="34" charset="-120"/>
              </a:rPr>
              <a:t>Container Registry</a:t>
            </a:r>
            <a:endParaRPr lang="en-US" sz="1400" dirty="0"/>
          </a:p>
        </p:txBody>
      </p:sp>
      <p:sp>
        <p:nvSpPr>
          <p:cNvPr id="10" name="Text 8"/>
          <p:cNvSpPr txBox="1"/>
          <p:nvPr/>
        </p:nvSpPr>
        <p:spPr>
          <a:xfrm>
            <a:off x="685800" y="3931920"/>
            <a:ext cx="1463040" cy="320040"/>
          </a:xfrm>
          <a:prstGeom prst="rect">
            <a:avLst/>
          </a:prstGeom>
          <a:noFill/>
          <a:ln/>
        </p:spPr>
        <p:txBody>
          <a:bodyPr wrap="square" lIns="0" tIns="0" rIns="0" bIns="0" rtlCol="0" anchor="t"/>
          <a:lstStyle/>
          <a:p>
            <a:pPr algn="ctr" indent="0" marL="0">
              <a:buNone/>
            </a:pPr>
            <a:r>
              <a:rPr lang="en-US" sz="1100" dirty="0">
                <a:solidFill>
                  <a:srgbClr val="A3ABCB"/>
                </a:solidFill>
                <a:latin typeface="Calibri" pitchFamily="34" charset="0"/>
                <a:ea typeface="Calibri" pitchFamily="34" charset="-122"/>
                <a:cs typeface="Calibri" pitchFamily="34" charset="-120"/>
              </a:rPr>
              <a:t>image</a:t>
            </a:r>
            <a:endParaRPr lang="en-US" sz="1100" dirty="0"/>
          </a:p>
        </p:txBody>
      </p:sp>
      <p:sp>
        <p:nvSpPr>
          <p:cNvPr id="11" name="Shape 9"/>
          <p:cNvSpPr/>
          <p:nvPr/>
        </p:nvSpPr>
        <p:spPr>
          <a:xfrm>
            <a:off x="2286000" y="3950208"/>
            <a:ext cx="457200" cy="0"/>
          </a:xfrm>
          <a:prstGeom prst="line">
            <a:avLst/>
          </a:prstGeom>
          <a:noFill/>
          <a:ln w="25400">
            <a:solidFill>
              <a:srgbClr val="FFB000"/>
            </a:solidFill>
            <a:prstDash val="solid"/>
            <a:tailEnd type="triangle"/>
          </a:ln>
        </p:spPr>
      </p:sp>
      <p:sp>
        <p:nvSpPr>
          <p:cNvPr id="12" name="Shape 10"/>
          <p:cNvSpPr/>
          <p:nvPr/>
        </p:nvSpPr>
        <p:spPr>
          <a:xfrm>
            <a:off x="2743200" y="1783080"/>
            <a:ext cx="1828800" cy="3291840"/>
          </a:xfrm>
          <a:prstGeom prst="roundRect">
            <a:avLst>
              <a:gd name="adj" fmla="val 4000"/>
            </a:avLst>
          </a:prstGeom>
          <a:solidFill>
            <a:srgbClr val="212B57"/>
          </a:solidFill>
          <a:ln w="12700">
            <a:solidFill>
              <a:srgbClr val="212B57"/>
            </a:solidFill>
            <a:prstDash val="solid"/>
          </a:ln>
        </p:spPr>
      </p:sp>
      <p:sp>
        <p:nvSpPr>
          <p:cNvPr id="13" name="Text 11"/>
          <p:cNvSpPr txBox="1"/>
          <p:nvPr/>
        </p:nvSpPr>
        <p:spPr>
          <a:xfrm>
            <a:off x="2880360" y="2834640"/>
            <a:ext cx="1554480" cy="640080"/>
          </a:xfrm>
          <a:prstGeom prst="rect">
            <a:avLst/>
          </a:prstGeom>
          <a:noFill/>
          <a:ln/>
        </p:spPr>
        <p:txBody>
          <a:bodyPr wrap="square" lIns="0" tIns="0" rIns="0" bIns="0" rtlCol="0" anchor="t"/>
          <a:lstStyle/>
          <a:p>
            <a:pPr algn="ctr" indent="0" marL="0">
              <a:buNone/>
            </a:pPr>
            <a:r>
              <a:rPr lang="en-US" sz="1600" b="1" dirty="0">
                <a:solidFill>
                  <a:srgbClr val="FFB000"/>
                </a:solidFill>
                <a:latin typeface="Calibri" pitchFamily="34" charset="0"/>
                <a:ea typeface="Calibri" pitchFamily="34" charset="-122"/>
                <a:cs typeface="Calibri" pitchFamily="34" charset="-120"/>
              </a:rPr>
              <a:t>Azure Container Apps</a:t>
            </a:r>
            <a:endParaRPr lang="en-US" sz="1600" dirty="0"/>
          </a:p>
        </p:txBody>
      </p:sp>
      <p:sp>
        <p:nvSpPr>
          <p:cNvPr id="14" name="Text 12"/>
          <p:cNvSpPr txBox="1"/>
          <p:nvPr/>
        </p:nvSpPr>
        <p:spPr>
          <a:xfrm>
            <a:off x="2880360" y="3520440"/>
            <a:ext cx="1554480" cy="365760"/>
          </a:xfrm>
          <a:prstGeom prst="rect">
            <a:avLst/>
          </a:prstGeom>
          <a:noFill/>
          <a:ln/>
        </p:spPr>
        <p:txBody>
          <a:bodyPr wrap="square" lIns="0" tIns="0" rIns="0" bIns="0" rtlCol="0" anchor="t"/>
          <a:lstStyle/>
          <a:p>
            <a:pPr algn="ctr" indent="0" marL="0">
              <a:buNone/>
            </a:pPr>
            <a:r>
              <a:rPr lang="en-US" sz="1100" dirty="0">
                <a:solidFill>
                  <a:srgbClr val="A3ABCB"/>
                </a:solidFill>
                <a:latin typeface="Calibri" pitchFamily="34" charset="0"/>
                <a:ea typeface="Calibri" pitchFamily="34" charset="-122"/>
                <a:cs typeface="Calibri" pitchFamily="34" charset="-120"/>
              </a:rPr>
              <a:t>one replica · Bicep</a:t>
            </a:r>
            <a:endParaRPr lang="en-US" sz="1100" dirty="0"/>
          </a:p>
        </p:txBody>
      </p:sp>
      <p:sp>
        <p:nvSpPr>
          <p:cNvPr id="15" name="Shape 13"/>
          <p:cNvSpPr/>
          <p:nvPr/>
        </p:nvSpPr>
        <p:spPr>
          <a:xfrm>
            <a:off x="5029200" y="1783080"/>
            <a:ext cx="1828800" cy="713232"/>
          </a:xfrm>
          <a:prstGeom prst="roundRect">
            <a:avLst>
              <a:gd name="adj" fmla="val 10256"/>
            </a:avLst>
          </a:prstGeom>
          <a:solidFill>
            <a:srgbClr val="182041"/>
          </a:solidFill>
          <a:ln w="12700">
            <a:solidFill>
              <a:srgbClr val="182041"/>
            </a:solidFill>
            <a:prstDash val="solid"/>
          </a:ln>
        </p:spPr>
      </p:sp>
      <p:sp>
        <p:nvSpPr>
          <p:cNvPr id="16" name="Text 14"/>
          <p:cNvSpPr txBox="1"/>
          <p:nvPr/>
        </p:nvSpPr>
        <p:spPr>
          <a:xfrm>
            <a:off x="5166360" y="1874520"/>
            <a:ext cx="1554480" cy="274320"/>
          </a:xfrm>
          <a:prstGeom prst="rect">
            <a:avLst/>
          </a:prstGeom>
          <a:noFill/>
          <a:ln/>
        </p:spPr>
        <p:txBody>
          <a:bodyPr wrap="square" lIns="0" tIns="0" rIns="0" bIns="0" rtlCol="0" anchor="t"/>
          <a:lstStyle/>
          <a:p>
            <a:pPr algn="ctr" indent="0" marL="0">
              <a:buNone/>
            </a:pPr>
            <a:r>
              <a:rPr lang="en-US" sz="1400" b="1" dirty="0">
                <a:solidFill>
                  <a:srgbClr val="EEF0F8"/>
                </a:solidFill>
                <a:latin typeface="Calibri" pitchFamily="34" charset="0"/>
                <a:ea typeface="Calibri" pitchFamily="34" charset="-122"/>
                <a:cs typeface="Calibri" pitchFamily="34" charset="-120"/>
              </a:rPr>
              <a:t>Azure Files</a:t>
            </a:r>
            <a:endParaRPr lang="en-US" sz="1400" dirty="0"/>
          </a:p>
        </p:txBody>
      </p:sp>
      <p:sp>
        <p:nvSpPr>
          <p:cNvPr id="17" name="Text 15"/>
          <p:cNvSpPr txBox="1"/>
          <p:nvPr/>
        </p:nvSpPr>
        <p:spPr>
          <a:xfrm>
            <a:off x="5166360" y="2148840"/>
            <a:ext cx="1554480" cy="256032"/>
          </a:xfrm>
          <a:prstGeom prst="rect">
            <a:avLst/>
          </a:prstGeom>
          <a:noFill/>
          <a:ln/>
        </p:spPr>
        <p:txBody>
          <a:bodyPr wrap="square" lIns="0" tIns="0" rIns="0" bIns="0" rtlCol="0" anchor="t"/>
          <a:lstStyle/>
          <a:p>
            <a:pPr algn="ctr" indent="0" marL="0">
              <a:buNone/>
            </a:pPr>
            <a:r>
              <a:rPr lang="en-US" sz="1100" dirty="0">
                <a:solidFill>
                  <a:srgbClr val="A3ABCB"/>
                </a:solidFill>
                <a:latin typeface="Calibri" pitchFamily="34" charset="0"/>
                <a:ea typeface="Calibri" pitchFamily="34" charset="-122"/>
                <a:cs typeface="Calibri" pitchFamily="34" charset="-120"/>
              </a:rPr>
              <a:t>users' C: drives</a:t>
            </a:r>
            <a:endParaRPr lang="en-US" sz="1100" dirty="0"/>
          </a:p>
        </p:txBody>
      </p:sp>
      <p:sp>
        <p:nvSpPr>
          <p:cNvPr id="18" name="Shape 16"/>
          <p:cNvSpPr/>
          <p:nvPr/>
        </p:nvSpPr>
        <p:spPr>
          <a:xfrm>
            <a:off x="4572000" y="2139696"/>
            <a:ext cx="457200" cy="0"/>
          </a:xfrm>
          <a:prstGeom prst="line">
            <a:avLst/>
          </a:prstGeom>
          <a:noFill/>
          <a:ln w="25400">
            <a:solidFill>
              <a:srgbClr val="FFB000"/>
            </a:solidFill>
            <a:prstDash val="solid"/>
          </a:ln>
        </p:spPr>
      </p:sp>
      <p:sp>
        <p:nvSpPr>
          <p:cNvPr id="19" name="Shape 17"/>
          <p:cNvSpPr/>
          <p:nvPr/>
        </p:nvSpPr>
        <p:spPr>
          <a:xfrm>
            <a:off x="5029200" y="2633472"/>
            <a:ext cx="1828800" cy="713232"/>
          </a:xfrm>
          <a:prstGeom prst="roundRect">
            <a:avLst>
              <a:gd name="adj" fmla="val 10256"/>
            </a:avLst>
          </a:prstGeom>
          <a:solidFill>
            <a:srgbClr val="182041"/>
          </a:solidFill>
          <a:ln w="12700">
            <a:solidFill>
              <a:srgbClr val="182041"/>
            </a:solidFill>
            <a:prstDash val="solid"/>
          </a:ln>
        </p:spPr>
      </p:sp>
      <p:sp>
        <p:nvSpPr>
          <p:cNvPr id="20" name="Text 18"/>
          <p:cNvSpPr txBox="1"/>
          <p:nvPr/>
        </p:nvSpPr>
        <p:spPr>
          <a:xfrm>
            <a:off x="5166360" y="2724912"/>
            <a:ext cx="1554480" cy="274320"/>
          </a:xfrm>
          <a:prstGeom prst="rect">
            <a:avLst/>
          </a:prstGeom>
          <a:noFill/>
          <a:ln/>
        </p:spPr>
        <p:txBody>
          <a:bodyPr wrap="square" lIns="0" tIns="0" rIns="0" bIns="0" rtlCol="0" anchor="t"/>
          <a:lstStyle/>
          <a:p>
            <a:pPr algn="ctr" indent="0" marL="0">
              <a:buNone/>
            </a:pPr>
            <a:r>
              <a:rPr lang="en-US" sz="1400" b="1" dirty="0">
                <a:solidFill>
                  <a:srgbClr val="EEF0F8"/>
                </a:solidFill>
                <a:latin typeface="Calibri" pitchFamily="34" charset="0"/>
                <a:ea typeface="Calibri" pitchFamily="34" charset="-122"/>
                <a:cs typeface="Calibri" pitchFamily="34" charset="-120"/>
              </a:rPr>
              <a:t>PostgreSQL</a:t>
            </a:r>
            <a:endParaRPr lang="en-US" sz="1400" dirty="0"/>
          </a:p>
        </p:txBody>
      </p:sp>
      <p:sp>
        <p:nvSpPr>
          <p:cNvPr id="21" name="Text 19"/>
          <p:cNvSpPr txBox="1"/>
          <p:nvPr/>
        </p:nvSpPr>
        <p:spPr>
          <a:xfrm>
            <a:off x="5166360" y="2999232"/>
            <a:ext cx="1554480" cy="256032"/>
          </a:xfrm>
          <a:prstGeom prst="rect">
            <a:avLst/>
          </a:prstGeom>
          <a:noFill/>
          <a:ln/>
        </p:spPr>
        <p:txBody>
          <a:bodyPr wrap="square" lIns="0" tIns="0" rIns="0" bIns="0" rtlCol="0" anchor="t"/>
          <a:lstStyle/>
          <a:p>
            <a:pPr algn="ctr" indent="0" marL="0">
              <a:buNone/>
            </a:pPr>
            <a:r>
              <a:rPr lang="en-US" sz="1100" dirty="0">
                <a:solidFill>
                  <a:srgbClr val="A3ABCB"/>
                </a:solidFill>
                <a:latin typeface="Calibri" pitchFamily="34" charset="0"/>
                <a:ea typeface="Calibri" pitchFamily="34" charset="-122"/>
                <a:cs typeface="Calibri" pitchFamily="34" charset="-120"/>
              </a:rPr>
              <a:t>metadata, managed identity</a:t>
            </a:r>
            <a:endParaRPr lang="en-US" sz="1100" dirty="0"/>
          </a:p>
        </p:txBody>
      </p:sp>
      <p:sp>
        <p:nvSpPr>
          <p:cNvPr id="22" name="Shape 20"/>
          <p:cNvSpPr/>
          <p:nvPr/>
        </p:nvSpPr>
        <p:spPr>
          <a:xfrm>
            <a:off x="4572000" y="2990088"/>
            <a:ext cx="457200" cy="0"/>
          </a:xfrm>
          <a:prstGeom prst="line">
            <a:avLst/>
          </a:prstGeom>
          <a:noFill/>
          <a:ln w="25400">
            <a:solidFill>
              <a:srgbClr val="FFB000"/>
            </a:solidFill>
            <a:prstDash val="solid"/>
          </a:ln>
        </p:spPr>
      </p:sp>
      <p:sp>
        <p:nvSpPr>
          <p:cNvPr id="23" name="Shape 21"/>
          <p:cNvSpPr/>
          <p:nvPr/>
        </p:nvSpPr>
        <p:spPr>
          <a:xfrm>
            <a:off x="5029200" y="3483864"/>
            <a:ext cx="1828800" cy="713232"/>
          </a:xfrm>
          <a:prstGeom prst="roundRect">
            <a:avLst>
              <a:gd name="adj" fmla="val 10256"/>
            </a:avLst>
          </a:prstGeom>
          <a:solidFill>
            <a:srgbClr val="182041"/>
          </a:solidFill>
          <a:ln w="12700">
            <a:solidFill>
              <a:srgbClr val="182041"/>
            </a:solidFill>
            <a:prstDash val="solid"/>
          </a:ln>
        </p:spPr>
      </p:sp>
      <p:sp>
        <p:nvSpPr>
          <p:cNvPr id="24" name="Text 22"/>
          <p:cNvSpPr txBox="1"/>
          <p:nvPr/>
        </p:nvSpPr>
        <p:spPr>
          <a:xfrm>
            <a:off x="5166360" y="3575304"/>
            <a:ext cx="1554480" cy="274320"/>
          </a:xfrm>
          <a:prstGeom prst="rect">
            <a:avLst/>
          </a:prstGeom>
          <a:noFill/>
          <a:ln/>
        </p:spPr>
        <p:txBody>
          <a:bodyPr wrap="square" lIns="0" tIns="0" rIns="0" bIns="0" rtlCol="0" anchor="t"/>
          <a:lstStyle/>
          <a:p>
            <a:pPr algn="ctr" indent="0" marL="0">
              <a:buNone/>
            </a:pPr>
            <a:r>
              <a:rPr lang="en-US" sz="1400" b="1" dirty="0">
                <a:solidFill>
                  <a:srgbClr val="EEF0F8"/>
                </a:solidFill>
                <a:latin typeface="Calibri" pitchFamily="34" charset="0"/>
                <a:ea typeface="Calibri" pitchFamily="34" charset="-122"/>
                <a:cs typeface="Calibri" pitchFamily="34" charset="-120"/>
              </a:rPr>
              <a:t>Key Vault</a:t>
            </a:r>
            <a:endParaRPr lang="en-US" sz="1400" dirty="0"/>
          </a:p>
        </p:txBody>
      </p:sp>
      <p:sp>
        <p:nvSpPr>
          <p:cNvPr id="25" name="Text 23"/>
          <p:cNvSpPr txBox="1"/>
          <p:nvPr/>
        </p:nvSpPr>
        <p:spPr>
          <a:xfrm>
            <a:off x="5166360" y="3849624"/>
            <a:ext cx="1554480" cy="256032"/>
          </a:xfrm>
          <a:prstGeom prst="rect">
            <a:avLst/>
          </a:prstGeom>
          <a:noFill/>
          <a:ln/>
        </p:spPr>
        <p:txBody>
          <a:bodyPr wrap="square" lIns="0" tIns="0" rIns="0" bIns="0" rtlCol="0" anchor="t"/>
          <a:lstStyle/>
          <a:p>
            <a:pPr algn="ctr" indent="0" marL="0">
              <a:buNone/>
            </a:pPr>
            <a:r>
              <a:rPr lang="en-US" sz="1100" dirty="0">
                <a:solidFill>
                  <a:srgbClr val="A3ABCB"/>
                </a:solidFill>
                <a:latin typeface="Calibri" pitchFamily="34" charset="0"/>
                <a:ea typeface="Calibri" pitchFamily="34" charset="-122"/>
                <a:cs typeface="Calibri" pitchFamily="34" charset="-120"/>
              </a:rPr>
              <a:t>OIDC client secret</a:t>
            </a:r>
            <a:endParaRPr lang="en-US" sz="1100" dirty="0"/>
          </a:p>
        </p:txBody>
      </p:sp>
      <p:sp>
        <p:nvSpPr>
          <p:cNvPr id="26" name="Shape 24"/>
          <p:cNvSpPr/>
          <p:nvPr/>
        </p:nvSpPr>
        <p:spPr>
          <a:xfrm>
            <a:off x="4572000" y="3840480"/>
            <a:ext cx="457200" cy="0"/>
          </a:xfrm>
          <a:prstGeom prst="line">
            <a:avLst/>
          </a:prstGeom>
          <a:noFill/>
          <a:ln w="25400">
            <a:solidFill>
              <a:srgbClr val="FFB000"/>
            </a:solidFill>
            <a:prstDash val="solid"/>
          </a:ln>
        </p:spPr>
      </p:sp>
      <p:sp>
        <p:nvSpPr>
          <p:cNvPr id="27" name="Shape 25"/>
          <p:cNvSpPr/>
          <p:nvPr/>
        </p:nvSpPr>
        <p:spPr>
          <a:xfrm>
            <a:off x="5029200" y="4334256"/>
            <a:ext cx="1828800" cy="713232"/>
          </a:xfrm>
          <a:prstGeom prst="roundRect">
            <a:avLst>
              <a:gd name="adj" fmla="val 10256"/>
            </a:avLst>
          </a:prstGeom>
          <a:solidFill>
            <a:srgbClr val="182041"/>
          </a:solidFill>
          <a:ln w="12700">
            <a:solidFill>
              <a:srgbClr val="182041"/>
            </a:solidFill>
            <a:prstDash val="solid"/>
          </a:ln>
        </p:spPr>
      </p:sp>
      <p:sp>
        <p:nvSpPr>
          <p:cNvPr id="28" name="Text 26"/>
          <p:cNvSpPr txBox="1"/>
          <p:nvPr/>
        </p:nvSpPr>
        <p:spPr>
          <a:xfrm>
            <a:off x="5166360" y="4425696"/>
            <a:ext cx="1554480" cy="274320"/>
          </a:xfrm>
          <a:prstGeom prst="rect">
            <a:avLst/>
          </a:prstGeom>
          <a:noFill/>
          <a:ln/>
        </p:spPr>
        <p:txBody>
          <a:bodyPr wrap="square" lIns="0" tIns="0" rIns="0" bIns="0" rtlCol="0" anchor="t"/>
          <a:lstStyle/>
          <a:p>
            <a:pPr algn="ctr" indent="0" marL="0">
              <a:buNone/>
            </a:pPr>
            <a:r>
              <a:rPr lang="en-US" sz="1400" b="1" dirty="0">
                <a:solidFill>
                  <a:srgbClr val="EEF0F8"/>
                </a:solidFill>
                <a:latin typeface="Calibri" pitchFamily="34" charset="0"/>
                <a:ea typeface="Calibri" pitchFamily="34" charset="-122"/>
                <a:cs typeface="Calibri" pitchFamily="34" charset="-120"/>
              </a:rPr>
              <a:t>Log Analytics</a:t>
            </a:r>
            <a:endParaRPr lang="en-US" sz="1400" dirty="0"/>
          </a:p>
        </p:txBody>
      </p:sp>
      <p:sp>
        <p:nvSpPr>
          <p:cNvPr id="29" name="Text 27"/>
          <p:cNvSpPr txBox="1"/>
          <p:nvPr/>
        </p:nvSpPr>
        <p:spPr>
          <a:xfrm>
            <a:off x="5166360" y="4700016"/>
            <a:ext cx="1554480" cy="256032"/>
          </a:xfrm>
          <a:prstGeom prst="rect">
            <a:avLst/>
          </a:prstGeom>
          <a:noFill/>
          <a:ln/>
        </p:spPr>
        <p:txBody>
          <a:bodyPr wrap="square" lIns="0" tIns="0" rIns="0" bIns="0" rtlCol="0" anchor="t"/>
          <a:lstStyle/>
          <a:p>
            <a:pPr algn="ctr" indent="0" marL="0">
              <a:buNone/>
            </a:pPr>
            <a:r>
              <a:rPr lang="en-US" sz="1100" dirty="0">
                <a:solidFill>
                  <a:srgbClr val="A3ABCB"/>
                </a:solidFill>
                <a:latin typeface="Calibri" pitchFamily="34" charset="0"/>
                <a:ea typeface="Calibri" pitchFamily="34" charset="-122"/>
                <a:cs typeface="Calibri" pitchFamily="34" charset="-120"/>
              </a:rPr>
              <a:t>structured logs</a:t>
            </a:r>
            <a:endParaRPr lang="en-US" sz="1100" dirty="0"/>
          </a:p>
        </p:txBody>
      </p:sp>
      <p:sp>
        <p:nvSpPr>
          <p:cNvPr id="30" name="Shape 28"/>
          <p:cNvSpPr/>
          <p:nvPr/>
        </p:nvSpPr>
        <p:spPr>
          <a:xfrm>
            <a:off x="4572000" y="4690872"/>
            <a:ext cx="457200" cy="0"/>
          </a:xfrm>
          <a:prstGeom prst="line">
            <a:avLst/>
          </a:prstGeom>
          <a:noFill/>
          <a:ln w="25400">
            <a:solidFill>
              <a:srgbClr val="FFB000"/>
            </a:solidFill>
            <a:prstDash val="solid"/>
          </a:ln>
        </p:spPr>
      </p:sp>
      <p:sp>
        <p:nvSpPr>
          <p:cNvPr id="31" name="Text 29"/>
          <p:cNvSpPr txBox="1"/>
          <p:nvPr/>
        </p:nvSpPr>
        <p:spPr>
          <a:xfrm>
            <a:off x="7406640" y="1783080"/>
            <a:ext cx="4206240" cy="274320"/>
          </a:xfrm>
          <a:prstGeom prst="rect">
            <a:avLst/>
          </a:prstGeom>
          <a:noFill/>
          <a:ln/>
        </p:spPr>
        <p:txBody>
          <a:bodyPr wrap="square" lIns="0" tIns="0" rIns="0" bIns="0" rtlCol="0" anchor="t"/>
          <a:lstStyle/>
          <a:p>
            <a:pPr indent="0" marL="0">
              <a:buNone/>
            </a:pPr>
            <a:r>
              <a:rPr lang="en-US" sz="1200" b="1" dirty="0">
                <a:solidFill>
                  <a:srgbClr val="FFB000"/>
                </a:solidFill>
                <a:latin typeface="Courier New" pitchFamily="34" charset="0"/>
                <a:ea typeface="Courier New" pitchFamily="34" charset="-122"/>
                <a:cs typeface="Courier New" pitchFamily="34" charset="-120"/>
              </a:rPr>
              <a:t>BUILT INTO THE APP</a:t>
            </a:r>
            <a:endParaRPr lang="en-US" sz="1200" dirty="0"/>
          </a:p>
        </p:txBody>
      </p:sp>
      <p:sp>
        <p:nvSpPr>
          <p:cNvPr id="32" name="Text 30"/>
          <p:cNvSpPr txBox="1"/>
          <p:nvPr/>
        </p:nvSpPr>
        <p:spPr>
          <a:xfrm>
            <a:off x="7406640" y="2148840"/>
            <a:ext cx="4206240" cy="30175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EEF0F8"/>
                </a:solidFill>
                <a:latin typeface="Calibri" pitchFamily="34" charset="0"/>
                <a:ea typeface="Calibri" pitchFamily="34" charset="-122"/>
                <a:cs typeface="Calibri" pitchFamily="34" charset="-120"/>
              </a:rPr>
              <a:t>Structured JSON logs with secret redaction</a:t>
            </a:r>
            <a:endParaRPr lang="en-US" sz="1500" dirty="0"/>
          </a:p>
          <a:p>
            <a:pPr marL="203200" indent="-203200">
              <a:spcAft>
                <a:spcPts val="800"/>
              </a:spcAft>
              <a:buSzPct val="100000"/>
              <a:buChar char="•"/>
            </a:pPr>
            <a:r>
              <a:rPr lang="en-US" sz="1500" dirty="0">
                <a:solidFill>
                  <a:srgbClr val="EEF0F8"/>
                </a:solidFill>
                <a:latin typeface="Calibri" pitchFamily="34" charset="0"/>
                <a:ea typeface="Calibri" pitchFamily="34" charset="-122"/>
                <a:cs typeface="Calibri" pitchFamily="34" charset="-120"/>
              </a:rPr>
              <a:t>Request IDs and timing on every call</a:t>
            </a:r>
            <a:endParaRPr lang="en-US" sz="1500" dirty="0"/>
          </a:p>
          <a:p>
            <a:pPr marL="203200" indent="-203200">
              <a:spcAft>
                <a:spcPts val="800"/>
              </a:spcAft>
              <a:buSzPct val="100000"/>
              <a:buChar char="•"/>
            </a:pPr>
            <a:r>
              <a:rPr lang="en-US" sz="1500" dirty="0">
                <a:solidFill>
                  <a:srgbClr val="EEF0F8"/>
                </a:solidFill>
                <a:latin typeface="Calibri" pitchFamily="34" charset="0"/>
                <a:ea typeface="Calibri" pitchFamily="34" charset="-122"/>
                <a:cs typeface="Calibri" pitchFamily="34" charset="-120"/>
              </a:rPr>
              <a:t>/health and /ready probes, graceful shutdown</a:t>
            </a:r>
            <a:endParaRPr lang="en-US" sz="1500" dirty="0"/>
          </a:p>
          <a:p>
            <a:pPr marL="203200" indent="-203200">
              <a:spcAft>
                <a:spcPts val="800"/>
              </a:spcAft>
              <a:buSzPct val="100000"/>
              <a:buChar char="•"/>
            </a:pPr>
            <a:r>
              <a:rPr lang="en-US" sz="1500" dirty="0">
                <a:solidFill>
                  <a:srgbClr val="EEF0F8"/>
                </a:solidFill>
                <a:latin typeface="Calibri" pitchFamily="34" charset="0"/>
                <a:ea typeface="Calibri" pitchFamily="34" charset="-122"/>
                <a:cs typeface="Calibri" pitchFamily="34" charset="-120"/>
              </a:rPr>
              <a:t>Docker image and Compose for local runs</a:t>
            </a:r>
            <a:endParaRPr lang="en-US" sz="1500" dirty="0"/>
          </a:p>
          <a:p>
            <a:pPr marL="203200" indent="-203200">
              <a:spcAft>
                <a:spcPts val="800"/>
              </a:spcAft>
              <a:buSzPct val="100000"/>
              <a:buChar char="•"/>
            </a:pPr>
            <a:r>
              <a:rPr lang="en-US" sz="1500" dirty="0">
                <a:solidFill>
                  <a:srgbClr val="EEF0F8"/>
                </a:solidFill>
                <a:latin typeface="Calibri" pitchFamily="34" charset="0"/>
                <a:ea typeface="Calibri" pitchFamily="34" charset="-122"/>
                <a:cs typeface="Calibri" pitchFamily="34" charset="-120"/>
              </a:rPr>
              <a:t>Runbooks, backup and recovery, end-of-lifecycle review</a:t>
            </a:r>
            <a:endParaRPr lang="en-US" sz="1500" dirty="0"/>
          </a:p>
        </p:txBody>
      </p:sp>
      <p:sp>
        <p:nvSpPr>
          <p:cNvPr id="33" name="Shape 31"/>
          <p:cNvSpPr/>
          <p:nvPr/>
        </p:nvSpPr>
        <p:spPr>
          <a:xfrm>
            <a:off x="548640" y="5532120"/>
            <a:ext cx="11094415" cy="868680"/>
          </a:xfrm>
          <a:prstGeom prst="roundRect">
            <a:avLst>
              <a:gd name="adj" fmla="val 8421"/>
            </a:avLst>
          </a:prstGeom>
          <a:solidFill>
            <a:srgbClr val="2A2310"/>
          </a:solidFill>
          <a:ln w="12700">
            <a:solidFill>
              <a:srgbClr val="2A2310"/>
            </a:solidFill>
            <a:prstDash val="solid"/>
          </a:ln>
        </p:spPr>
      </p:sp>
      <p:sp>
        <p:nvSpPr>
          <p:cNvPr id="34" name="Shape 32"/>
          <p:cNvSpPr/>
          <p:nvPr/>
        </p:nvSpPr>
        <p:spPr>
          <a:xfrm>
            <a:off x="777240" y="5715000"/>
            <a:ext cx="502920" cy="502920"/>
          </a:xfrm>
          <a:prstGeom prst="ellipse">
            <a:avLst/>
          </a:prstGeom>
          <a:solidFill>
            <a:srgbClr val="FFB000"/>
          </a:solidFill>
          <a:ln w="12700">
            <a:solidFill>
              <a:srgbClr val="FFB000"/>
            </a:solidFill>
            <a:prstDash val="solid"/>
          </a:ln>
        </p:spPr>
      </p:sp>
      <p:pic>
        <p:nvPicPr>
          <p:cNvPr id="35" name="Image 0" descr="preencoded.png">    </p:cNvPr>
          <p:cNvPicPr>
            <a:picLocks noChangeAspect="1"/>
          </p:cNvPicPr>
          <p:nvPr/>
        </p:nvPicPr>
        <p:blipFill>
          <a:blip r:embed="rId1"/>
          <a:stretch>
            <a:fillRect/>
          </a:stretch>
        </p:blipFill>
        <p:spPr>
          <a:xfrm>
            <a:off x="887882" y="5825642"/>
            <a:ext cx="281635" cy="281635"/>
          </a:xfrm>
          <a:prstGeom prst="rect">
            <a:avLst/>
          </a:prstGeom>
        </p:spPr>
      </p:pic>
      <p:sp>
        <p:nvSpPr>
          <p:cNvPr id="36" name="Text 33"/>
          <p:cNvSpPr txBox="1"/>
          <p:nvPr/>
        </p:nvSpPr>
        <p:spPr>
          <a:xfrm>
            <a:off x="1508760" y="5678424"/>
            <a:ext cx="1828800" cy="228600"/>
          </a:xfrm>
          <a:prstGeom prst="rect">
            <a:avLst/>
          </a:prstGeom>
          <a:noFill/>
          <a:ln/>
        </p:spPr>
        <p:txBody>
          <a:bodyPr wrap="square" lIns="0" tIns="0" rIns="0" bIns="0" rtlCol="0" anchor="t"/>
          <a:lstStyle/>
          <a:p>
            <a:pPr indent="0" marL="0">
              <a:buNone/>
            </a:pPr>
            <a:r>
              <a:rPr lang="en-US" sz="1100" b="1" dirty="0">
                <a:solidFill>
                  <a:srgbClr val="FFB000"/>
                </a:solidFill>
                <a:latin typeface="Courier New" pitchFamily="34" charset="0"/>
                <a:ea typeface="Courier New" pitchFamily="34" charset="-122"/>
                <a:cs typeface="Courier New" pitchFamily="34" charset="-120"/>
              </a:rPr>
              <a:t>AI LESSON</a:t>
            </a:r>
            <a:endParaRPr lang="en-US" sz="1100" dirty="0"/>
          </a:p>
        </p:txBody>
      </p:sp>
      <p:sp>
        <p:nvSpPr>
          <p:cNvPr id="37" name="Text 34"/>
          <p:cNvSpPr txBox="1"/>
          <p:nvPr/>
        </p:nvSpPr>
        <p:spPr>
          <a:xfrm>
            <a:off x="1508760" y="5916168"/>
            <a:ext cx="9905695" cy="411480"/>
          </a:xfrm>
          <a:prstGeom prst="rect">
            <a:avLst/>
          </a:prstGeom>
          <a:noFill/>
          <a:ln/>
        </p:spPr>
        <p:txBody>
          <a:bodyPr wrap="square" lIns="0" tIns="0" rIns="0" bIns="0" rtlCol="0" anchor="t"/>
          <a:lstStyle/>
          <a:p>
            <a:pPr indent="0" marL="0">
              <a:buNone/>
            </a:pPr>
            <a:r>
              <a:rPr lang="en-US" sz="1500" dirty="0">
                <a:solidFill>
                  <a:srgbClr val="EEF0F8"/>
                </a:solidFill>
                <a:latin typeface="Calibri" pitchFamily="34" charset="0"/>
                <a:ea typeface="Calibri" pitchFamily="34" charset="-122"/>
                <a:cs typeface="Calibri" pitchFamily="34" charset="-120"/>
              </a:rPr>
              <a:t>Infrastructure as code, runbooks and reviews are text too. AI writes them well, and they are what make a demo operable.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224"/>
        </a:solidFill>
      </p:bgPr>
    </p:bg>
    <p:spTree>
      <p:nvGrpSpPr>
        <p:cNvPr id="1" name=""/>
        <p:cNvGrpSpPr/>
        <p:nvPr/>
      </p:nvGrpSpPr>
      <p:grpSpPr>
        <a:xfrm>
          <a:off x="0" y="0"/>
          <a:ext cx="0" cy="0"/>
          <a:chOff x="0" y="0"/>
          <a:chExt cx="0" cy="0"/>
        </a:xfrm>
      </p:grpSpPr>
      <p:sp>
        <p:nvSpPr>
          <p:cNvPr id="2" name="Text 0"/>
          <p:cNvSpPr txBox="1"/>
          <p:nvPr/>
        </p:nvSpPr>
        <p:spPr>
          <a:xfrm>
            <a:off x="548640" y="640080"/>
            <a:ext cx="11094415" cy="365760"/>
          </a:xfrm>
          <a:prstGeom prst="rect">
            <a:avLst/>
          </a:prstGeom>
          <a:noFill/>
          <a:ln/>
        </p:spPr>
        <p:txBody>
          <a:bodyPr wrap="square" lIns="0" tIns="0" rIns="0" bIns="0" rtlCol="0" anchor="t"/>
          <a:lstStyle/>
          <a:p>
            <a:pPr indent="0" marL="0">
              <a:buNone/>
            </a:pPr>
            <a:r>
              <a:rPr lang="en-US" sz="1600" b="1" dirty="0">
                <a:solidFill>
                  <a:srgbClr val="FFB000"/>
                </a:solidFill>
                <a:latin typeface="Courier New" pitchFamily="34" charset="0"/>
                <a:ea typeface="Courier New" pitchFamily="34" charset="-122"/>
                <a:cs typeface="Courier New" pitchFamily="34" charset="-120"/>
              </a:rPr>
              <a:t>C:\&gt; PHASE_06 · CHANGE &amp; REWRITE</a:t>
            </a:r>
            <a:endParaRPr lang="en-US" sz="1600" dirty="0"/>
          </a:p>
        </p:txBody>
      </p:sp>
      <p:sp>
        <p:nvSpPr>
          <p:cNvPr id="3" name="Text 1"/>
          <p:cNvSpPr txBox="1"/>
          <p:nvPr/>
        </p:nvSpPr>
        <p:spPr>
          <a:xfrm>
            <a:off x="548640" y="1188720"/>
            <a:ext cx="3200400" cy="2011680"/>
          </a:xfrm>
          <a:prstGeom prst="rect">
            <a:avLst/>
          </a:prstGeom>
          <a:noFill/>
          <a:ln/>
        </p:spPr>
        <p:txBody>
          <a:bodyPr wrap="square" lIns="0" tIns="0" rIns="0" bIns="0" rtlCol="0" anchor="t"/>
          <a:lstStyle/>
          <a:p>
            <a:pPr indent="0" marL="0">
              <a:buNone/>
            </a:pPr>
            <a:r>
              <a:rPr lang="en-US" sz="13000" b="1" dirty="0">
                <a:solidFill>
                  <a:srgbClr val="FFB000"/>
                </a:solidFill>
                <a:latin typeface="Courier New" pitchFamily="34" charset="0"/>
                <a:ea typeface="Courier New" pitchFamily="34" charset="-122"/>
                <a:cs typeface="Courier New" pitchFamily="34" charset="-120"/>
              </a:rPr>
              <a:t>06</a:t>
            </a:r>
            <a:endParaRPr lang="en-US" sz="13000" dirty="0"/>
          </a:p>
        </p:txBody>
      </p:sp>
      <p:sp>
        <p:nvSpPr>
          <p:cNvPr id="4" name="Text 2"/>
          <p:cNvSpPr txBox="1"/>
          <p:nvPr/>
        </p:nvSpPr>
        <p:spPr>
          <a:xfrm>
            <a:off x="548640" y="3246120"/>
            <a:ext cx="6400800" cy="731520"/>
          </a:xfrm>
          <a:prstGeom prst="rect">
            <a:avLst/>
          </a:prstGeom>
          <a:noFill/>
          <a:ln/>
        </p:spPr>
        <p:txBody>
          <a:bodyPr wrap="square" lIns="0" tIns="0" rIns="0" bIns="0" rtlCol="0" anchor="t"/>
          <a:lstStyle/>
          <a:p>
            <a:pPr indent="0" marL="0">
              <a:buNone/>
            </a:pPr>
            <a:r>
              <a:rPr lang="en-US" sz="3600" b="1" dirty="0">
                <a:solidFill>
                  <a:srgbClr val="EEF0F8"/>
                </a:solidFill>
                <a:latin typeface="Courier New" pitchFamily="34" charset="0"/>
                <a:ea typeface="Courier New" pitchFamily="34" charset="-122"/>
                <a:cs typeface="Courier New" pitchFamily="34" charset="-120"/>
              </a:rPr>
              <a:t>Change after release</a:t>
            </a:r>
            <a:endParaRPr lang="en-US" sz="3600" dirty="0"/>
          </a:p>
        </p:txBody>
      </p:sp>
      <p:sp>
        <p:nvSpPr>
          <p:cNvPr id="5" name="Text 3"/>
          <p:cNvSpPr txBox="1"/>
          <p:nvPr/>
        </p:nvSpPr>
        <p:spPr>
          <a:xfrm>
            <a:off x="548640" y="4069080"/>
            <a:ext cx="6035040" cy="1097280"/>
          </a:xfrm>
          <a:prstGeom prst="rect">
            <a:avLst/>
          </a:prstGeom>
          <a:noFill/>
          <a:ln/>
        </p:spPr>
        <p:txBody>
          <a:bodyPr wrap="square" lIns="0" tIns="0" rIns="0" bIns="0" rtlCol="0" anchor="t"/>
          <a:lstStyle/>
          <a:p>
            <a:pPr indent="0" marL="0">
              <a:buNone/>
            </a:pPr>
            <a:r>
              <a:rPr lang="en-US" sz="1900" dirty="0">
                <a:solidFill>
                  <a:srgbClr val="A3ABCB"/>
                </a:solidFill>
                <a:latin typeface="Calibri" pitchFamily="34" charset="0"/>
                <a:ea typeface="Calibri" pitchFamily="34" charset="-122"/>
                <a:cs typeface="Calibri" pitchFamily="34" charset="-120"/>
              </a:rPr>
              <a:t>The real test of AI-assisted code: a big new requirement on a system that's already built, secured and deployed.</a:t>
            </a:r>
            <a:endParaRPr lang="en-US" sz="1900" dirty="0"/>
          </a:p>
        </p:txBody>
      </p:sp>
      <p:sp>
        <p:nvSpPr>
          <p:cNvPr id="6" name="Shape 4"/>
          <p:cNvSpPr/>
          <p:nvPr/>
        </p:nvSpPr>
        <p:spPr>
          <a:xfrm>
            <a:off x="7223760" y="1737360"/>
            <a:ext cx="4416552" cy="1600200"/>
          </a:xfrm>
          <a:prstGeom prst="roundRect">
            <a:avLst>
              <a:gd name="adj" fmla="val 4571"/>
            </a:avLst>
          </a:prstGeom>
          <a:solidFill>
            <a:srgbClr val="182041"/>
          </a:solidFill>
          <a:ln w="12700">
            <a:solidFill>
              <a:srgbClr val="182041"/>
            </a:solidFill>
            <a:prstDash val="solid"/>
          </a:ln>
        </p:spPr>
      </p:sp>
      <p:sp>
        <p:nvSpPr>
          <p:cNvPr id="7" name="Shape 5"/>
          <p:cNvSpPr/>
          <p:nvPr/>
        </p:nvSpPr>
        <p:spPr>
          <a:xfrm>
            <a:off x="7452360" y="2011680"/>
            <a:ext cx="640080" cy="640080"/>
          </a:xfrm>
          <a:prstGeom prst="ellipse">
            <a:avLst/>
          </a:prstGeom>
          <a:solidFill>
            <a:srgbClr val="212B57"/>
          </a:solidFill>
          <a:ln w="12700">
            <a:solidFill>
              <a:srgbClr val="212B57"/>
            </a:solidFill>
            <a:prstDash val="solid"/>
          </a:ln>
        </p:spPr>
      </p:sp>
      <p:pic>
        <p:nvPicPr>
          <p:cNvPr id="8" name="Image 0" descr="preencoded.png">    </p:cNvPr>
          <p:cNvPicPr>
            <a:picLocks noChangeAspect="1"/>
          </p:cNvPicPr>
          <p:nvPr/>
        </p:nvPicPr>
        <p:blipFill>
          <a:blip r:embed="rId1"/>
          <a:stretch>
            <a:fillRect/>
          </a:stretch>
        </p:blipFill>
        <p:spPr>
          <a:xfrm>
            <a:off x="7593178" y="2152498"/>
            <a:ext cx="358445" cy="358445"/>
          </a:xfrm>
          <a:prstGeom prst="rect">
            <a:avLst/>
          </a:prstGeom>
        </p:spPr>
      </p:pic>
      <p:sp>
        <p:nvSpPr>
          <p:cNvPr id="9" name="Text 6"/>
          <p:cNvSpPr txBox="1"/>
          <p:nvPr/>
        </p:nvSpPr>
        <p:spPr>
          <a:xfrm>
            <a:off x="8321040" y="1965960"/>
            <a:ext cx="3108960" cy="274320"/>
          </a:xfrm>
          <a:prstGeom prst="rect">
            <a:avLst/>
          </a:prstGeom>
          <a:noFill/>
          <a:ln/>
        </p:spPr>
        <p:txBody>
          <a:bodyPr wrap="square" lIns="0" tIns="0" rIns="0" bIns="0" rtlCol="0" anchor="t"/>
          <a:lstStyle/>
          <a:p>
            <a:pPr indent="0" marL="0">
              <a:buNone/>
            </a:pPr>
            <a:r>
              <a:rPr lang="en-US" sz="1200" b="1" dirty="0">
                <a:solidFill>
                  <a:srgbClr val="FFB000"/>
                </a:solidFill>
                <a:latin typeface="Courier New" pitchFamily="34" charset="0"/>
                <a:ea typeface="Courier New" pitchFamily="34" charset="-122"/>
                <a:cs typeface="Courier New" pitchFamily="34" charset="-120"/>
              </a:rPr>
              <a:t>REWRITE 1</a:t>
            </a:r>
            <a:endParaRPr lang="en-US" sz="1200" dirty="0"/>
          </a:p>
        </p:txBody>
      </p:sp>
      <p:sp>
        <p:nvSpPr>
          <p:cNvPr id="10" name="Text 7"/>
          <p:cNvSpPr txBox="1"/>
          <p:nvPr/>
        </p:nvSpPr>
        <p:spPr>
          <a:xfrm>
            <a:off x="8321040" y="2240280"/>
            <a:ext cx="3108960" cy="365760"/>
          </a:xfrm>
          <a:prstGeom prst="rect">
            <a:avLst/>
          </a:prstGeom>
          <a:noFill/>
          <a:ln/>
        </p:spPr>
        <p:txBody>
          <a:bodyPr wrap="square" lIns="0" tIns="0" rIns="0" bIns="0" rtlCol="0" anchor="t"/>
          <a:lstStyle/>
          <a:p>
            <a:pPr indent="0" marL="0">
              <a:buNone/>
            </a:pPr>
            <a:r>
              <a:rPr lang="en-US" sz="1900" b="1" dirty="0">
                <a:solidFill>
                  <a:srgbClr val="EEF0F8"/>
                </a:solidFill>
                <a:latin typeface="Calibri" pitchFamily="34" charset="0"/>
                <a:ea typeface="Calibri" pitchFamily="34" charset="-122"/>
                <a:cs typeface="Calibri" pitchFamily="34" charset="-120"/>
              </a:rPr>
              <a:t>The filesystem stack</a:t>
            </a:r>
            <a:endParaRPr lang="en-US" sz="1900" dirty="0"/>
          </a:p>
        </p:txBody>
      </p:sp>
      <p:sp>
        <p:nvSpPr>
          <p:cNvPr id="11" name="Text 8"/>
          <p:cNvSpPr txBox="1"/>
          <p:nvPr/>
        </p:nvSpPr>
        <p:spPr>
          <a:xfrm>
            <a:off x="8321040" y="2651760"/>
            <a:ext cx="3108960" cy="594360"/>
          </a:xfrm>
          <a:prstGeom prst="rect">
            <a:avLst/>
          </a:prstGeom>
          <a:noFill/>
          <a:ln/>
        </p:spPr>
        <p:txBody>
          <a:bodyPr wrap="square" lIns="0" tIns="0" rIns="0" bIns="0" rtlCol="0" anchor="t"/>
          <a:lstStyle/>
          <a:p>
            <a:pPr indent="0" marL="0">
              <a:buNone/>
            </a:pPr>
            <a:r>
              <a:rPr lang="en-US" sz="1300" dirty="0">
                <a:solidFill>
                  <a:srgbClr val="A3ABCB"/>
                </a:solidFill>
                <a:latin typeface="Calibri" pitchFamily="34" charset="0"/>
                <a:ea typeface="Calibri" pitchFamily="34" charset="-122"/>
                <a:cs typeface="Calibri" pitchFamily="34" charset="-120"/>
              </a:rPr>
              <a:t>Deployment exposed WAN latency on every DOS file call</a:t>
            </a:r>
            <a:endParaRPr lang="en-US" sz="1300" dirty="0"/>
          </a:p>
        </p:txBody>
      </p:sp>
      <p:sp>
        <p:nvSpPr>
          <p:cNvPr id="12" name="Shape 9"/>
          <p:cNvSpPr/>
          <p:nvPr/>
        </p:nvSpPr>
        <p:spPr>
          <a:xfrm>
            <a:off x="7223760" y="3611880"/>
            <a:ext cx="4416552" cy="1600200"/>
          </a:xfrm>
          <a:prstGeom prst="roundRect">
            <a:avLst>
              <a:gd name="adj" fmla="val 4571"/>
            </a:avLst>
          </a:prstGeom>
          <a:solidFill>
            <a:srgbClr val="182041"/>
          </a:solidFill>
          <a:ln w="12700">
            <a:solidFill>
              <a:srgbClr val="182041"/>
            </a:solidFill>
            <a:prstDash val="solid"/>
          </a:ln>
        </p:spPr>
      </p:sp>
      <p:sp>
        <p:nvSpPr>
          <p:cNvPr id="13" name="Shape 10"/>
          <p:cNvSpPr/>
          <p:nvPr/>
        </p:nvSpPr>
        <p:spPr>
          <a:xfrm>
            <a:off x="7452360" y="3886200"/>
            <a:ext cx="640080" cy="640080"/>
          </a:xfrm>
          <a:prstGeom prst="ellipse">
            <a:avLst/>
          </a:prstGeom>
          <a:solidFill>
            <a:srgbClr val="212B57"/>
          </a:solidFill>
          <a:ln w="12700">
            <a:solidFill>
              <a:srgbClr val="212B57"/>
            </a:solidFill>
            <a:prstDash val="solid"/>
          </a:ln>
        </p:spPr>
      </p:sp>
      <p:pic>
        <p:nvPicPr>
          <p:cNvPr id="14" name="Image 1" descr="preencoded.png">    </p:cNvPr>
          <p:cNvPicPr>
            <a:picLocks noChangeAspect="1"/>
          </p:cNvPicPr>
          <p:nvPr/>
        </p:nvPicPr>
        <p:blipFill>
          <a:blip r:embed="rId2"/>
          <a:stretch>
            <a:fillRect/>
          </a:stretch>
        </p:blipFill>
        <p:spPr>
          <a:xfrm>
            <a:off x="7593178" y="4027018"/>
            <a:ext cx="358445" cy="358445"/>
          </a:xfrm>
          <a:prstGeom prst="rect">
            <a:avLst/>
          </a:prstGeom>
        </p:spPr>
      </p:pic>
      <p:sp>
        <p:nvSpPr>
          <p:cNvPr id="15" name="Text 11"/>
          <p:cNvSpPr txBox="1"/>
          <p:nvPr/>
        </p:nvSpPr>
        <p:spPr>
          <a:xfrm>
            <a:off x="8321040" y="3840480"/>
            <a:ext cx="3108960" cy="274320"/>
          </a:xfrm>
          <a:prstGeom prst="rect">
            <a:avLst/>
          </a:prstGeom>
          <a:noFill/>
          <a:ln/>
        </p:spPr>
        <p:txBody>
          <a:bodyPr wrap="square" lIns="0" tIns="0" rIns="0" bIns="0" rtlCol="0" anchor="t"/>
          <a:lstStyle/>
          <a:p>
            <a:pPr indent="0" marL="0">
              <a:buNone/>
            </a:pPr>
            <a:r>
              <a:rPr lang="en-US" sz="1200" b="1" dirty="0">
                <a:solidFill>
                  <a:srgbClr val="FFB000"/>
                </a:solidFill>
                <a:latin typeface="Courier New" pitchFamily="34" charset="0"/>
                <a:ea typeface="Courier New" pitchFamily="34" charset="-122"/>
                <a:cs typeface="Courier New" pitchFamily="34" charset="-120"/>
              </a:rPr>
              <a:t>REWRITE 2</a:t>
            </a:r>
            <a:endParaRPr lang="en-US" sz="1200" dirty="0"/>
          </a:p>
        </p:txBody>
      </p:sp>
      <p:sp>
        <p:nvSpPr>
          <p:cNvPr id="16" name="Text 12"/>
          <p:cNvSpPr txBox="1"/>
          <p:nvPr/>
        </p:nvSpPr>
        <p:spPr>
          <a:xfrm>
            <a:off x="8321040" y="4114800"/>
            <a:ext cx="3108960" cy="365760"/>
          </a:xfrm>
          <a:prstGeom prst="rect">
            <a:avLst/>
          </a:prstGeom>
          <a:noFill/>
          <a:ln/>
        </p:spPr>
        <p:txBody>
          <a:bodyPr wrap="square" lIns="0" tIns="0" rIns="0" bIns="0" rtlCol="0" anchor="t"/>
          <a:lstStyle/>
          <a:p>
            <a:pPr indent="0" marL="0">
              <a:buNone/>
            </a:pPr>
            <a:r>
              <a:rPr lang="en-US" sz="1900" b="1" dirty="0">
                <a:solidFill>
                  <a:srgbClr val="EEF0F8"/>
                </a:solidFill>
                <a:latin typeface="Calibri" pitchFamily="34" charset="0"/>
                <a:ea typeface="Calibri" pitchFamily="34" charset="-122"/>
                <a:cs typeface="Calibri" pitchFamily="34" charset="-120"/>
              </a:rPr>
              <a:t>The IPX networking stack</a:t>
            </a:r>
            <a:endParaRPr lang="en-US" sz="1900" dirty="0"/>
          </a:p>
        </p:txBody>
      </p:sp>
      <p:sp>
        <p:nvSpPr>
          <p:cNvPr id="17" name="Text 13"/>
          <p:cNvSpPr txBox="1"/>
          <p:nvPr/>
        </p:nvSpPr>
        <p:spPr>
          <a:xfrm>
            <a:off x="8321040" y="4526280"/>
            <a:ext cx="3108960" cy="594360"/>
          </a:xfrm>
          <a:prstGeom prst="rect">
            <a:avLst/>
          </a:prstGeom>
          <a:noFill/>
          <a:ln/>
        </p:spPr>
        <p:txBody>
          <a:bodyPr wrap="square" lIns="0" tIns="0" rIns="0" bIns="0" rtlCol="0" anchor="t"/>
          <a:lstStyle/>
          <a:p>
            <a:pPr indent="0" marL="0">
              <a:buNone/>
            </a:pPr>
            <a:r>
              <a:rPr lang="en-US" sz="1300" dirty="0">
                <a:solidFill>
                  <a:srgbClr val="A3ABCB"/>
                </a:solidFill>
                <a:latin typeface="Calibri" pitchFamily="34" charset="0"/>
                <a:ea typeface="Calibri" pitchFamily="34" charset="-122"/>
                <a:cs typeface="Calibri" pitchFamily="34" charset="-120"/>
              </a:rPr>
              <a:t>Two-player DOOM over WebSockets, brokered by the server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224"/>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t"/>
          <a:lstStyle/>
          <a:p>
            <a:pPr indent="0" marL="0">
              <a:buNone/>
            </a:pPr>
            <a:r>
              <a:rPr lang="en-US" sz="1400" b="1" dirty="0">
                <a:solidFill>
                  <a:srgbClr val="FFB000"/>
                </a:solidFill>
                <a:latin typeface="Courier New" pitchFamily="34" charset="0"/>
                <a:ea typeface="Courier New" pitchFamily="34" charset="-122"/>
                <a:cs typeface="Courier New" pitchFamily="34" charset="-120"/>
              </a:rPr>
              <a:t>C:\&gt; PHASE_06 · REWRITE 1</a:t>
            </a:r>
            <a:endParaRPr lang="en-US" sz="1400" dirty="0"/>
          </a:p>
        </p:txBody>
      </p:sp>
      <p:sp>
        <p:nvSpPr>
          <p:cNvPr id="3" name="Text 1"/>
          <p:cNvSpPr txBox="1"/>
          <p:nvPr/>
        </p:nvSpPr>
        <p:spPr>
          <a:xfrm>
            <a:off x="548640" y="777240"/>
            <a:ext cx="11094415" cy="685800"/>
          </a:xfrm>
          <a:prstGeom prst="rect">
            <a:avLst/>
          </a:prstGeom>
          <a:noFill/>
          <a:ln/>
        </p:spPr>
        <p:txBody>
          <a:bodyPr wrap="square" lIns="0" tIns="0" rIns="0" bIns="0" rtlCol="0" anchor="ctr"/>
          <a:lstStyle/>
          <a:p>
            <a:pPr indent="0" marL="0">
              <a:buNone/>
            </a:pPr>
            <a:r>
              <a:rPr lang="en-US" sz="3200" b="1" dirty="0">
                <a:solidFill>
                  <a:srgbClr val="EEF0F8"/>
                </a:solidFill>
                <a:latin typeface="Courier New" pitchFamily="34" charset="0"/>
                <a:ea typeface="Courier New" pitchFamily="34" charset="-122"/>
                <a:cs typeface="Courier New" pitchFamily="34" charset="-120"/>
              </a:rPr>
              <a:t>Filesystem: from RPC to a cached client</a:t>
            </a:r>
            <a:endParaRPr lang="en-US" sz="3200" dirty="0"/>
          </a:p>
        </p:txBody>
      </p:sp>
      <p:sp>
        <p:nvSpPr>
          <p:cNvPr id="4" name="Shape 2"/>
          <p:cNvSpPr/>
          <p:nvPr/>
        </p:nvSpPr>
        <p:spPr>
          <a:xfrm>
            <a:off x="548640" y="1783080"/>
            <a:ext cx="4983480" cy="3429000"/>
          </a:xfrm>
          <a:prstGeom prst="roundRect">
            <a:avLst>
              <a:gd name="adj" fmla="val 2133"/>
            </a:avLst>
          </a:prstGeom>
          <a:solidFill>
            <a:srgbClr val="182041"/>
          </a:solidFill>
          <a:ln w="12700">
            <a:solidFill>
              <a:srgbClr val="182041"/>
            </a:solidFill>
            <a:prstDash val="solid"/>
          </a:ln>
        </p:spPr>
      </p:sp>
      <p:sp>
        <p:nvSpPr>
          <p:cNvPr id="5" name="Text 3"/>
          <p:cNvSpPr txBox="1"/>
          <p:nvPr/>
        </p:nvSpPr>
        <p:spPr>
          <a:xfrm>
            <a:off x="822960" y="2011680"/>
            <a:ext cx="4434840" cy="320040"/>
          </a:xfrm>
          <a:prstGeom prst="rect">
            <a:avLst/>
          </a:prstGeom>
          <a:noFill/>
          <a:ln/>
        </p:spPr>
        <p:txBody>
          <a:bodyPr wrap="square" lIns="0" tIns="0" rIns="0" bIns="0" rtlCol="0" anchor="t"/>
          <a:lstStyle/>
          <a:p>
            <a:pPr indent="0" marL="0">
              <a:buNone/>
            </a:pPr>
            <a:r>
              <a:rPr lang="en-US" sz="1400" b="1" dirty="0">
                <a:solidFill>
                  <a:srgbClr val="FF6B6B"/>
                </a:solidFill>
                <a:latin typeface="Courier New" pitchFamily="34" charset="0"/>
                <a:ea typeface="Courier New" pitchFamily="34" charset="-122"/>
                <a:cs typeface="Courier New" pitchFamily="34" charset="-120"/>
              </a:rPr>
              <a:t>BEFORE · synchronous HTTP RPC</a:t>
            </a:r>
            <a:endParaRPr lang="en-US" sz="1400" dirty="0"/>
          </a:p>
        </p:txBody>
      </p:sp>
      <p:sp>
        <p:nvSpPr>
          <p:cNvPr id="6" name="Text 4"/>
          <p:cNvSpPr txBox="1"/>
          <p:nvPr/>
        </p:nvSpPr>
        <p:spPr>
          <a:xfrm>
            <a:off x="822960" y="2514600"/>
            <a:ext cx="4434840" cy="251460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rgbClr val="EEF0F8"/>
                </a:solidFill>
                <a:latin typeface="Calibri" pitchFamily="34" charset="0"/>
                <a:ea typeface="Calibri" pitchFamily="34" charset="-122"/>
                <a:cs typeface="Calibri" pitchFamily="34" charset="-120"/>
              </a:rPr>
              <a:t>Every DOS stat, open and read = one blocking HTTP request</a:t>
            </a:r>
            <a:endParaRPr lang="en-US" sz="1500" dirty="0"/>
          </a:p>
          <a:p>
            <a:pPr marL="203200" indent="-203200">
              <a:spcAft>
                <a:spcPts val="1000"/>
              </a:spcAft>
              <a:buSzPct val="100000"/>
              <a:buChar char="•"/>
            </a:pPr>
            <a:r>
              <a:rPr lang="en-US" sz="1500" dirty="0">
                <a:solidFill>
                  <a:srgbClr val="EEF0F8"/>
                </a:solidFill>
                <a:latin typeface="Calibri" pitchFamily="34" charset="0"/>
                <a:ea typeface="Calibri" pitchFamily="34" charset="-122"/>
                <a:cs typeface="Calibri" pitchFamily="34" charset="-120"/>
              </a:rPr>
              <a:t>A WAN round trip on every single call</a:t>
            </a:r>
            <a:endParaRPr lang="en-US" sz="1500" dirty="0"/>
          </a:p>
          <a:p>
            <a:pPr marL="203200" indent="-203200">
              <a:spcAft>
                <a:spcPts val="1000"/>
              </a:spcAft>
              <a:buSzPct val="100000"/>
              <a:buChar char="•"/>
            </a:pPr>
            <a:r>
              <a:rPr lang="en-US" sz="1500" dirty="0">
                <a:solidFill>
                  <a:srgbClr val="EEF0F8"/>
                </a:solidFill>
                <a:latin typeface="Calibri" pitchFamily="34" charset="0"/>
                <a:ea typeface="Calibri" pitchFamily="34" charset="-122"/>
                <a:cs typeface="Calibri" pitchFamily="34" charset="-120"/>
              </a:rPr>
              <a:t>Auth and database checks per operation</a:t>
            </a:r>
            <a:endParaRPr lang="en-US" sz="1500" dirty="0"/>
          </a:p>
          <a:p>
            <a:pPr marL="203200" indent="-203200">
              <a:spcAft>
                <a:spcPts val="1000"/>
              </a:spcAft>
              <a:buSzPct val="100000"/>
              <a:buChar char="•"/>
            </a:pPr>
            <a:r>
              <a:rPr lang="en-US" sz="1500" dirty="0">
                <a:solidFill>
                  <a:srgbClr val="EEF0F8"/>
                </a:solidFill>
                <a:latin typeface="Calibri" pitchFamily="34" charset="0"/>
                <a:ea typeface="Calibri" pitchFamily="34" charset="-122"/>
                <a:cs typeface="Calibri" pitchFamily="34" charset="-120"/>
              </a:rPr>
              <a:t>Fine on a LAN, painfully slow once deployed</a:t>
            </a:r>
            <a:endParaRPr lang="en-US" sz="1500" dirty="0"/>
          </a:p>
        </p:txBody>
      </p:sp>
      <p:sp>
        <p:nvSpPr>
          <p:cNvPr id="7" name="Shape 5"/>
          <p:cNvSpPr/>
          <p:nvPr/>
        </p:nvSpPr>
        <p:spPr>
          <a:xfrm>
            <a:off x="5775808" y="3177540"/>
            <a:ext cx="640080" cy="640080"/>
          </a:xfrm>
          <a:prstGeom prst="ellipse">
            <a:avLst/>
          </a:prstGeom>
          <a:solidFill>
            <a:srgbClr val="212B57"/>
          </a:solidFill>
          <a:ln w="12700">
            <a:solidFill>
              <a:srgbClr val="212B57"/>
            </a:solidFill>
            <a:prstDash val="solid"/>
          </a:ln>
        </p:spPr>
      </p:sp>
      <p:pic>
        <p:nvPicPr>
          <p:cNvPr id="8" name="Image 0" descr="preencoded.png">    </p:cNvPr>
          <p:cNvPicPr>
            <a:picLocks noChangeAspect="1"/>
          </p:cNvPicPr>
          <p:nvPr/>
        </p:nvPicPr>
        <p:blipFill>
          <a:blip r:embed="rId1"/>
          <a:stretch>
            <a:fillRect/>
          </a:stretch>
        </p:blipFill>
        <p:spPr>
          <a:xfrm>
            <a:off x="5916625" y="3318358"/>
            <a:ext cx="358445" cy="358445"/>
          </a:xfrm>
          <a:prstGeom prst="rect">
            <a:avLst/>
          </a:prstGeom>
        </p:spPr>
      </p:pic>
      <p:sp>
        <p:nvSpPr>
          <p:cNvPr id="9" name="Shape 6"/>
          <p:cNvSpPr/>
          <p:nvPr/>
        </p:nvSpPr>
        <p:spPr>
          <a:xfrm>
            <a:off x="6659575" y="1783080"/>
            <a:ext cx="4983480" cy="3429000"/>
          </a:xfrm>
          <a:prstGeom prst="roundRect">
            <a:avLst>
              <a:gd name="adj" fmla="val 2133"/>
            </a:avLst>
          </a:prstGeom>
          <a:solidFill>
            <a:srgbClr val="212B57"/>
          </a:solidFill>
          <a:ln w="12700">
            <a:solidFill>
              <a:srgbClr val="212B57"/>
            </a:solidFill>
            <a:prstDash val="solid"/>
          </a:ln>
        </p:spPr>
      </p:sp>
      <p:sp>
        <p:nvSpPr>
          <p:cNvPr id="10" name="Text 7"/>
          <p:cNvSpPr txBox="1"/>
          <p:nvPr/>
        </p:nvSpPr>
        <p:spPr>
          <a:xfrm>
            <a:off x="6933895" y="2011680"/>
            <a:ext cx="4434840" cy="320040"/>
          </a:xfrm>
          <a:prstGeom prst="rect">
            <a:avLst/>
          </a:prstGeom>
          <a:noFill/>
          <a:ln/>
        </p:spPr>
        <p:txBody>
          <a:bodyPr wrap="square" lIns="0" tIns="0" rIns="0" bIns="0" rtlCol="0" anchor="t"/>
          <a:lstStyle/>
          <a:p>
            <a:pPr indent="0" marL="0">
              <a:buNone/>
            </a:pPr>
            <a:r>
              <a:rPr lang="en-US" sz="1400" b="1" dirty="0">
                <a:solidFill>
                  <a:srgbClr val="5EE08A"/>
                </a:solidFill>
                <a:latin typeface="Courier New" pitchFamily="34" charset="0"/>
                <a:ea typeface="Courier New" pitchFamily="34" charset="-122"/>
                <a:cs typeface="Courier New" pitchFamily="34" charset="-120"/>
              </a:rPr>
              <a:t>AFTER · cached WebSocket, FUSE/NFS-style</a:t>
            </a:r>
            <a:endParaRPr lang="en-US" sz="1400" dirty="0"/>
          </a:p>
        </p:txBody>
      </p:sp>
      <p:sp>
        <p:nvSpPr>
          <p:cNvPr id="11" name="Text 8"/>
          <p:cNvSpPr txBox="1"/>
          <p:nvPr/>
        </p:nvSpPr>
        <p:spPr>
          <a:xfrm>
            <a:off x="6933895" y="2514600"/>
            <a:ext cx="4434840" cy="251460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rgbClr val="EEF0F8"/>
                </a:solidFill>
                <a:latin typeface="Calibri" pitchFamily="34" charset="0"/>
                <a:ea typeface="Calibri" pitchFamily="34" charset="-122"/>
                <a:cs typeface="Calibri" pitchFamily="34" charset="-120"/>
              </a:rPr>
              <a:t>One authenticated /ws/fs socket per emulator</a:t>
            </a:r>
            <a:endParaRPr lang="en-US" sz="1500" dirty="0"/>
          </a:p>
          <a:p>
            <a:pPr marL="203200" indent="-203200">
              <a:spcAft>
                <a:spcPts val="1000"/>
              </a:spcAft>
              <a:buSzPct val="100000"/>
              <a:buChar char="•"/>
            </a:pPr>
            <a:r>
              <a:rPr lang="en-US" sz="1500" dirty="0">
                <a:solidFill>
                  <a:srgbClr val="EEF0F8"/>
                </a:solidFill>
                <a:latin typeface="Calibri" pitchFamily="34" charset="0"/>
                <a:ea typeface="Calibri" pitchFamily="34" charset="-122"/>
                <a:cs typeface="Calibri" pitchFamily="34" charset="-120"/>
              </a:rPr>
              <a:t>Server-side file handles on Azure Files</a:t>
            </a:r>
            <a:endParaRPr lang="en-US" sz="1500" dirty="0"/>
          </a:p>
          <a:p>
            <a:pPr marL="203200" indent="-203200">
              <a:spcAft>
                <a:spcPts val="1000"/>
              </a:spcAft>
              <a:buSzPct val="100000"/>
              <a:buChar char="•"/>
            </a:pPr>
            <a:r>
              <a:rPr lang="en-US" sz="1500" dirty="0">
                <a:solidFill>
                  <a:srgbClr val="EEF0F8"/>
                </a:solidFill>
                <a:latin typeface="Calibri" pitchFamily="34" charset="0"/>
                <a:ea typeface="Calibri" pitchFamily="34" charset="-122"/>
                <a:cs typeface="Calibri" pitchFamily="34" charset="-120"/>
              </a:rPr>
              <a:t>Metadata, directory and negative-lookup caching</a:t>
            </a:r>
            <a:endParaRPr lang="en-US" sz="1500" dirty="0"/>
          </a:p>
          <a:p>
            <a:pPr marL="203200" indent="-203200">
              <a:spcAft>
                <a:spcPts val="1000"/>
              </a:spcAft>
              <a:buSzPct val="100000"/>
              <a:buChar char="•"/>
            </a:pPr>
            <a:r>
              <a:rPr lang="en-US" sz="1500" dirty="0">
                <a:solidFill>
                  <a:srgbClr val="EEF0F8"/>
                </a:solidFill>
                <a:latin typeface="Calibri" pitchFamily="34" charset="0"/>
                <a:ea typeface="Calibri" pitchFamily="34" charset="-122"/>
                <a:cs typeface="Calibri" pitchFamily="34" charset="-120"/>
              </a:rPr>
              <a:t>Adaptive read-ahead 128 KiB → 1 MiB; 64 MiB read cache</a:t>
            </a:r>
            <a:endParaRPr lang="en-US" sz="1500" dirty="0"/>
          </a:p>
          <a:p>
            <a:pPr marL="203200" indent="-203200">
              <a:spcAft>
                <a:spcPts val="1000"/>
              </a:spcAft>
              <a:buSzPct val="100000"/>
              <a:buChar char="•"/>
            </a:pPr>
            <a:r>
              <a:rPr lang="en-US" sz="1500" dirty="0">
                <a:solidFill>
                  <a:srgbClr val="EEF0F8"/>
                </a:solidFill>
                <a:latin typeface="Calibri" pitchFamily="34" charset="0"/>
                <a:ea typeface="Calibri" pitchFamily="34" charset="-122"/>
                <a:cs typeface="Calibri" pitchFamily="34" charset="-120"/>
              </a:rPr>
              <a:t>Write-back coalescing up to 256 KiB, flushed on fsync and close</a:t>
            </a:r>
            <a:endParaRPr lang="en-US" sz="1500" dirty="0"/>
          </a:p>
        </p:txBody>
      </p:sp>
      <p:sp>
        <p:nvSpPr>
          <p:cNvPr id="12" name="Shape 9"/>
          <p:cNvSpPr/>
          <p:nvPr/>
        </p:nvSpPr>
        <p:spPr>
          <a:xfrm>
            <a:off x="548640" y="5532120"/>
            <a:ext cx="11094415" cy="868680"/>
          </a:xfrm>
          <a:prstGeom prst="roundRect">
            <a:avLst>
              <a:gd name="adj" fmla="val 8421"/>
            </a:avLst>
          </a:prstGeom>
          <a:solidFill>
            <a:srgbClr val="2A2310"/>
          </a:solidFill>
          <a:ln w="12700">
            <a:solidFill>
              <a:srgbClr val="2A2310"/>
            </a:solidFill>
            <a:prstDash val="solid"/>
          </a:ln>
        </p:spPr>
      </p:sp>
      <p:sp>
        <p:nvSpPr>
          <p:cNvPr id="13" name="Shape 10"/>
          <p:cNvSpPr/>
          <p:nvPr/>
        </p:nvSpPr>
        <p:spPr>
          <a:xfrm>
            <a:off x="777240" y="5715000"/>
            <a:ext cx="502920" cy="502920"/>
          </a:xfrm>
          <a:prstGeom prst="ellipse">
            <a:avLst/>
          </a:prstGeom>
          <a:solidFill>
            <a:srgbClr val="FFB000"/>
          </a:solidFill>
          <a:ln w="12700">
            <a:solidFill>
              <a:srgbClr val="FFB000"/>
            </a:solidFill>
            <a:prstDash val="solid"/>
          </a:ln>
        </p:spPr>
      </p:sp>
      <p:pic>
        <p:nvPicPr>
          <p:cNvPr id="14" name="Image 1" descr="preencoded.png">    </p:cNvPr>
          <p:cNvPicPr>
            <a:picLocks noChangeAspect="1"/>
          </p:cNvPicPr>
          <p:nvPr/>
        </p:nvPicPr>
        <p:blipFill>
          <a:blip r:embed="rId2"/>
          <a:stretch>
            <a:fillRect/>
          </a:stretch>
        </p:blipFill>
        <p:spPr>
          <a:xfrm>
            <a:off x="887882" y="5825642"/>
            <a:ext cx="281635" cy="281635"/>
          </a:xfrm>
          <a:prstGeom prst="rect">
            <a:avLst/>
          </a:prstGeom>
        </p:spPr>
      </p:pic>
      <p:sp>
        <p:nvSpPr>
          <p:cNvPr id="15" name="Text 11"/>
          <p:cNvSpPr txBox="1"/>
          <p:nvPr/>
        </p:nvSpPr>
        <p:spPr>
          <a:xfrm>
            <a:off x="1508760" y="5678424"/>
            <a:ext cx="1828800" cy="228600"/>
          </a:xfrm>
          <a:prstGeom prst="rect">
            <a:avLst/>
          </a:prstGeom>
          <a:noFill/>
          <a:ln/>
        </p:spPr>
        <p:txBody>
          <a:bodyPr wrap="square" lIns="0" tIns="0" rIns="0" bIns="0" rtlCol="0" anchor="t"/>
          <a:lstStyle/>
          <a:p>
            <a:pPr indent="0" marL="0">
              <a:buNone/>
            </a:pPr>
            <a:r>
              <a:rPr lang="en-US" sz="1100" b="1" dirty="0">
                <a:solidFill>
                  <a:srgbClr val="FFB000"/>
                </a:solidFill>
                <a:latin typeface="Courier New" pitchFamily="34" charset="0"/>
                <a:ea typeface="Courier New" pitchFamily="34" charset="-122"/>
                <a:cs typeface="Courier New" pitchFamily="34" charset="-120"/>
              </a:rPr>
              <a:t>AI LESSON</a:t>
            </a:r>
            <a:endParaRPr lang="en-US" sz="1100" dirty="0"/>
          </a:p>
        </p:txBody>
      </p:sp>
      <p:sp>
        <p:nvSpPr>
          <p:cNvPr id="16" name="Text 12"/>
          <p:cNvSpPr txBox="1"/>
          <p:nvPr/>
        </p:nvSpPr>
        <p:spPr>
          <a:xfrm>
            <a:off x="1508760" y="5916168"/>
            <a:ext cx="9905695" cy="411480"/>
          </a:xfrm>
          <a:prstGeom prst="rect">
            <a:avLst/>
          </a:prstGeom>
          <a:noFill/>
          <a:ln/>
        </p:spPr>
        <p:txBody>
          <a:bodyPr wrap="square" lIns="0" tIns="0" rIns="0" bIns="0" rtlCol="0" anchor="t"/>
          <a:lstStyle/>
          <a:p>
            <a:pPr indent="0" marL="0">
              <a:buNone/>
            </a:pPr>
            <a:r>
              <a:rPr lang="en-US" sz="1500" dirty="0">
                <a:solidFill>
                  <a:srgbClr val="EEF0F8"/>
                </a:solidFill>
                <a:latin typeface="Calibri" pitchFamily="34" charset="0"/>
                <a:ea typeface="Calibri" pitchFamily="34" charset="-122"/>
                <a:cs typeface="Calibri" pitchFamily="34" charset="-120"/>
              </a:rPr>
              <a:t>The cloud exposed what the LAN hid. Measure where it really runs; change the transport, not the semantics.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224"/>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t"/>
          <a:lstStyle/>
          <a:p>
            <a:pPr indent="0" marL="0">
              <a:buNone/>
            </a:pPr>
            <a:r>
              <a:rPr lang="en-US" sz="1400" b="1" dirty="0">
                <a:solidFill>
                  <a:srgbClr val="FFB000"/>
                </a:solidFill>
                <a:latin typeface="Courier New" pitchFamily="34" charset="0"/>
                <a:ea typeface="Courier New" pitchFamily="34" charset="-122"/>
                <a:cs typeface="Courier New" pitchFamily="34" charset="-120"/>
              </a:rPr>
              <a:t>C:\&gt; PHASE_06 · REWRITE 2</a:t>
            </a:r>
            <a:endParaRPr lang="en-US" sz="1400" dirty="0"/>
          </a:p>
        </p:txBody>
      </p:sp>
      <p:sp>
        <p:nvSpPr>
          <p:cNvPr id="3" name="Text 1"/>
          <p:cNvSpPr txBox="1"/>
          <p:nvPr/>
        </p:nvSpPr>
        <p:spPr>
          <a:xfrm>
            <a:off x="548640" y="777240"/>
            <a:ext cx="11094415" cy="685800"/>
          </a:xfrm>
          <a:prstGeom prst="rect">
            <a:avLst/>
          </a:prstGeom>
          <a:noFill/>
          <a:ln/>
        </p:spPr>
        <p:txBody>
          <a:bodyPr wrap="square" lIns="0" tIns="0" rIns="0" bIns="0" rtlCol="0" anchor="ctr"/>
          <a:lstStyle/>
          <a:p>
            <a:pPr indent="0" marL="0">
              <a:buNone/>
            </a:pPr>
            <a:r>
              <a:rPr lang="en-US" sz="3200" b="1" dirty="0">
                <a:solidFill>
                  <a:srgbClr val="EEF0F8"/>
                </a:solidFill>
                <a:latin typeface="Courier New" pitchFamily="34" charset="0"/>
                <a:ea typeface="Courier New" pitchFamily="34" charset="-122"/>
                <a:cs typeface="Courier New" pitchFamily="34" charset="-120"/>
              </a:rPr>
              <a:t>IPX networking over WebSockets</a:t>
            </a:r>
            <a:endParaRPr lang="en-US" sz="3200" dirty="0"/>
          </a:p>
        </p:txBody>
      </p:sp>
      <p:sp>
        <p:nvSpPr>
          <p:cNvPr id="4" name="Shape 2"/>
          <p:cNvSpPr/>
          <p:nvPr/>
        </p:nvSpPr>
        <p:spPr>
          <a:xfrm>
            <a:off x="548640" y="1783080"/>
            <a:ext cx="3246120" cy="1600200"/>
          </a:xfrm>
          <a:prstGeom prst="roundRect">
            <a:avLst>
              <a:gd name="adj" fmla="val 4571"/>
            </a:avLst>
          </a:prstGeom>
          <a:solidFill>
            <a:srgbClr val="182041"/>
          </a:solidFill>
          <a:ln w="12700">
            <a:solidFill>
              <a:srgbClr val="182041"/>
            </a:solidFill>
            <a:prstDash val="solid"/>
          </a:ln>
        </p:spPr>
      </p:sp>
      <p:sp>
        <p:nvSpPr>
          <p:cNvPr id="5" name="Text 3"/>
          <p:cNvSpPr txBox="1"/>
          <p:nvPr/>
        </p:nvSpPr>
        <p:spPr>
          <a:xfrm>
            <a:off x="777240" y="1965960"/>
            <a:ext cx="2788920" cy="365760"/>
          </a:xfrm>
          <a:prstGeom prst="rect">
            <a:avLst/>
          </a:prstGeom>
          <a:noFill/>
          <a:ln/>
        </p:spPr>
        <p:txBody>
          <a:bodyPr wrap="square" lIns="0" tIns="0" rIns="0" bIns="0" rtlCol="0" anchor="t"/>
          <a:lstStyle/>
          <a:p>
            <a:pPr indent="0" marL="0">
              <a:buNone/>
            </a:pPr>
            <a:r>
              <a:rPr lang="en-US" sz="1800" b="1" dirty="0">
                <a:solidFill>
                  <a:srgbClr val="4FD1E8"/>
                </a:solidFill>
                <a:latin typeface="Calibri" pitchFamily="34" charset="0"/>
                <a:ea typeface="Calibri" pitchFamily="34" charset="-122"/>
                <a:cs typeface="Calibri" pitchFamily="34" charset="-120"/>
              </a:rPr>
              <a:t>Host browser</a:t>
            </a:r>
            <a:endParaRPr lang="en-US" sz="1800" dirty="0"/>
          </a:p>
        </p:txBody>
      </p:sp>
      <p:sp>
        <p:nvSpPr>
          <p:cNvPr id="6" name="Text 4"/>
          <p:cNvSpPr txBox="1"/>
          <p:nvPr/>
        </p:nvSpPr>
        <p:spPr>
          <a:xfrm>
            <a:off x="777240" y="2468880"/>
            <a:ext cx="2788920" cy="777240"/>
          </a:xfrm>
          <a:prstGeom prst="rect">
            <a:avLst/>
          </a:prstGeom>
          <a:noFill/>
          <a:ln/>
        </p:spPr>
        <p:txBody>
          <a:bodyPr wrap="square" lIns="0" tIns="0" rIns="0" bIns="0" rtlCol="0" anchor="t"/>
          <a:lstStyle/>
          <a:p>
            <a:pPr indent="0" marL="0">
              <a:spcAft>
                <a:spcPts val="600"/>
              </a:spcAft>
              <a:buNone/>
            </a:pPr>
            <a:r>
              <a:rPr lang="en-US" sz="1300" dirty="0">
                <a:solidFill>
                  <a:srgbClr val="EEF0F8"/>
                </a:solidFill>
                <a:latin typeface="Courier New" pitchFamily="34" charset="0"/>
                <a:ea typeface="Courier New" pitchFamily="34" charset="-122"/>
                <a:cs typeface="Courier New" pitchFamily="34" charset="-120"/>
              </a:rPr>
              <a:t>DOSBox-X IPX server</a:t>
            </a:r>
            <a:endParaRPr lang="en-US" sz="1300" dirty="0"/>
          </a:p>
          <a:p>
            <a:pPr indent="0" marL="0">
              <a:spcAft>
                <a:spcPts val="600"/>
              </a:spcAft>
              <a:buNone/>
            </a:pPr>
            <a:r>
              <a:rPr lang="en-US" sz="1300" dirty="0">
                <a:solidFill>
                  <a:srgbClr val="EEF0F8"/>
                </a:solidFill>
                <a:latin typeface="Courier New" pitchFamily="34" charset="0"/>
                <a:ea typeface="Courier New" pitchFamily="34" charset="-122"/>
                <a:cs typeface="Courier New" pitchFamily="34" charset="-120"/>
              </a:rPr>
              <a:t>js-dos sharedNet adapter</a:t>
            </a:r>
            <a:endParaRPr lang="en-US" sz="1300" dirty="0"/>
          </a:p>
          <a:p>
            <a:pPr indent="0" marL="0">
              <a:spcAft>
                <a:spcPts val="600"/>
              </a:spcAft>
              <a:buNone/>
            </a:pPr>
            <a:r>
              <a:rPr lang="en-US" sz="1300" dirty="0">
                <a:solidFill>
                  <a:srgbClr val="EEF0F8"/>
                </a:solidFill>
                <a:latin typeface="Courier New" pitchFamily="34" charset="0"/>
                <a:ea typeface="Courier New" pitchFamily="34" charset="-122"/>
                <a:cs typeface="Courier New" pitchFamily="34" charset="-120"/>
              </a:rPr>
              <a:t>own private C: drive</a:t>
            </a:r>
            <a:endParaRPr lang="en-US" sz="1300" dirty="0"/>
          </a:p>
        </p:txBody>
      </p:sp>
      <p:sp>
        <p:nvSpPr>
          <p:cNvPr id="7" name="Shape 5"/>
          <p:cNvSpPr/>
          <p:nvPr/>
        </p:nvSpPr>
        <p:spPr>
          <a:xfrm>
            <a:off x="3867912" y="2583180"/>
            <a:ext cx="531724" cy="0"/>
          </a:xfrm>
          <a:prstGeom prst="line">
            <a:avLst/>
          </a:prstGeom>
          <a:noFill/>
          <a:ln w="31750">
            <a:solidFill>
              <a:srgbClr val="FFB000"/>
            </a:solidFill>
            <a:prstDash val="solid"/>
            <a:headEnd type="triangle"/>
            <a:tailEnd type="triangle"/>
          </a:ln>
        </p:spPr>
      </p:sp>
      <p:sp>
        <p:nvSpPr>
          <p:cNvPr id="8" name="Shape 6"/>
          <p:cNvSpPr/>
          <p:nvPr/>
        </p:nvSpPr>
        <p:spPr>
          <a:xfrm>
            <a:off x="4472788" y="1783080"/>
            <a:ext cx="3246120" cy="1600200"/>
          </a:xfrm>
          <a:prstGeom prst="roundRect">
            <a:avLst>
              <a:gd name="adj" fmla="val 4571"/>
            </a:avLst>
          </a:prstGeom>
          <a:solidFill>
            <a:srgbClr val="212B57"/>
          </a:solidFill>
          <a:ln w="12700">
            <a:solidFill>
              <a:srgbClr val="212B57"/>
            </a:solidFill>
            <a:prstDash val="solid"/>
          </a:ln>
        </p:spPr>
      </p:sp>
      <p:sp>
        <p:nvSpPr>
          <p:cNvPr id="9" name="Text 7"/>
          <p:cNvSpPr txBox="1"/>
          <p:nvPr/>
        </p:nvSpPr>
        <p:spPr>
          <a:xfrm>
            <a:off x="4701388" y="1965960"/>
            <a:ext cx="2788920" cy="365760"/>
          </a:xfrm>
          <a:prstGeom prst="rect">
            <a:avLst/>
          </a:prstGeom>
          <a:noFill/>
          <a:ln/>
        </p:spPr>
        <p:txBody>
          <a:bodyPr wrap="square" lIns="0" tIns="0" rIns="0" bIns="0" rtlCol="0" anchor="t"/>
          <a:lstStyle/>
          <a:p>
            <a:pPr indent="0" marL="0">
              <a:buNone/>
            </a:pPr>
            <a:r>
              <a:rPr lang="en-US" sz="1800" b="1" dirty="0">
                <a:solidFill>
                  <a:srgbClr val="FFB000"/>
                </a:solidFill>
                <a:latin typeface="Calibri" pitchFamily="34" charset="0"/>
                <a:ea typeface="Calibri" pitchFamily="34" charset="-122"/>
                <a:cs typeface="Calibri" pitchFamily="34" charset="-120"/>
              </a:rPr>
              <a:t>DOS Cloud relay</a:t>
            </a:r>
            <a:endParaRPr lang="en-US" sz="1800" dirty="0"/>
          </a:p>
        </p:txBody>
      </p:sp>
      <p:sp>
        <p:nvSpPr>
          <p:cNvPr id="10" name="Text 8"/>
          <p:cNvSpPr txBox="1"/>
          <p:nvPr/>
        </p:nvSpPr>
        <p:spPr>
          <a:xfrm>
            <a:off x="4701388" y="2468880"/>
            <a:ext cx="2788920" cy="777240"/>
          </a:xfrm>
          <a:prstGeom prst="rect">
            <a:avLst/>
          </a:prstGeom>
          <a:noFill/>
          <a:ln/>
        </p:spPr>
        <p:txBody>
          <a:bodyPr wrap="square" lIns="0" tIns="0" rIns="0" bIns="0" rtlCol="0" anchor="t"/>
          <a:lstStyle/>
          <a:p>
            <a:pPr indent="0" marL="0">
              <a:spcAft>
                <a:spcPts val="600"/>
              </a:spcAft>
              <a:buNone/>
            </a:pPr>
            <a:r>
              <a:rPr lang="en-US" sz="1300" dirty="0">
                <a:solidFill>
                  <a:srgbClr val="EEF0F8"/>
                </a:solidFill>
                <a:latin typeface="Courier New" pitchFamily="34" charset="0"/>
                <a:ea typeface="Courier New" pitchFamily="34" charset="-122"/>
                <a:cs typeface="Courier New" pitchFamily="34" charset="-120"/>
              </a:rPr>
              <a:t>room code, e.g. DQSGHY</a:t>
            </a:r>
            <a:endParaRPr lang="en-US" sz="1300" dirty="0"/>
          </a:p>
          <a:p>
            <a:pPr indent="0" marL="0">
              <a:spcAft>
                <a:spcPts val="600"/>
              </a:spcAft>
              <a:buNone/>
            </a:pPr>
            <a:r>
              <a:rPr lang="en-US" sz="1300" dirty="0">
                <a:solidFill>
                  <a:srgbClr val="EEF0F8"/>
                </a:solidFill>
                <a:latin typeface="Courier New" pitchFamily="34" charset="0"/>
                <a:ea typeface="Courier New" pitchFamily="34" charset="-122"/>
                <a:cs typeface="Courier New" pitchFamily="34" charset="-120"/>
              </a:rPr>
              <a:t>authenticated /ws/ipx</a:t>
            </a:r>
            <a:endParaRPr lang="en-US" sz="1300" dirty="0"/>
          </a:p>
          <a:p>
            <a:pPr indent="0" marL="0">
              <a:spcAft>
                <a:spcPts val="600"/>
              </a:spcAft>
              <a:buNone/>
            </a:pPr>
            <a:r>
              <a:rPr lang="en-US" sz="1300" dirty="0">
                <a:solidFill>
                  <a:srgbClr val="EEF0F8"/>
                </a:solidFill>
                <a:latin typeface="Courier New" pitchFamily="34" charset="0"/>
                <a:ea typeface="Courier New" pitchFamily="34" charset="-122"/>
                <a:cs typeface="Courier New" pitchFamily="34" charset="-120"/>
              </a:rPr>
              <a:t>forwards frames by peer ID</a:t>
            </a:r>
            <a:endParaRPr lang="en-US" sz="1300" dirty="0"/>
          </a:p>
        </p:txBody>
      </p:sp>
      <p:sp>
        <p:nvSpPr>
          <p:cNvPr id="11" name="Shape 9"/>
          <p:cNvSpPr/>
          <p:nvPr/>
        </p:nvSpPr>
        <p:spPr>
          <a:xfrm>
            <a:off x="7792060" y="2583180"/>
            <a:ext cx="531724" cy="0"/>
          </a:xfrm>
          <a:prstGeom prst="line">
            <a:avLst/>
          </a:prstGeom>
          <a:noFill/>
          <a:ln w="31750">
            <a:solidFill>
              <a:srgbClr val="FFB000"/>
            </a:solidFill>
            <a:prstDash val="solid"/>
            <a:headEnd type="triangle"/>
            <a:tailEnd type="triangle"/>
          </a:ln>
        </p:spPr>
      </p:sp>
      <p:sp>
        <p:nvSpPr>
          <p:cNvPr id="12" name="Shape 10"/>
          <p:cNvSpPr/>
          <p:nvPr/>
        </p:nvSpPr>
        <p:spPr>
          <a:xfrm>
            <a:off x="8396935" y="1783080"/>
            <a:ext cx="3246120" cy="1600200"/>
          </a:xfrm>
          <a:prstGeom prst="roundRect">
            <a:avLst>
              <a:gd name="adj" fmla="val 4571"/>
            </a:avLst>
          </a:prstGeom>
          <a:solidFill>
            <a:srgbClr val="182041"/>
          </a:solidFill>
          <a:ln w="12700">
            <a:solidFill>
              <a:srgbClr val="182041"/>
            </a:solidFill>
            <a:prstDash val="solid"/>
          </a:ln>
        </p:spPr>
      </p:sp>
      <p:sp>
        <p:nvSpPr>
          <p:cNvPr id="13" name="Text 11"/>
          <p:cNvSpPr txBox="1"/>
          <p:nvPr/>
        </p:nvSpPr>
        <p:spPr>
          <a:xfrm>
            <a:off x="8625535" y="1965960"/>
            <a:ext cx="2788920" cy="365760"/>
          </a:xfrm>
          <a:prstGeom prst="rect">
            <a:avLst/>
          </a:prstGeom>
          <a:noFill/>
          <a:ln/>
        </p:spPr>
        <p:txBody>
          <a:bodyPr wrap="square" lIns="0" tIns="0" rIns="0" bIns="0" rtlCol="0" anchor="t"/>
          <a:lstStyle/>
          <a:p>
            <a:pPr indent="0" marL="0">
              <a:buNone/>
            </a:pPr>
            <a:r>
              <a:rPr lang="en-US" sz="1800" b="1" dirty="0">
                <a:solidFill>
                  <a:srgbClr val="4FD1E8"/>
                </a:solidFill>
                <a:latin typeface="Calibri" pitchFamily="34" charset="0"/>
                <a:ea typeface="Calibri" pitchFamily="34" charset="-122"/>
                <a:cs typeface="Calibri" pitchFamily="34" charset="-120"/>
              </a:rPr>
              <a:t>Guest browser</a:t>
            </a:r>
            <a:endParaRPr lang="en-US" sz="1800" dirty="0"/>
          </a:p>
        </p:txBody>
      </p:sp>
      <p:sp>
        <p:nvSpPr>
          <p:cNvPr id="14" name="Text 12"/>
          <p:cNvSpPr txBox="1"/>
          <p:nvPr/>
        </p:nvSpPr>
        <p:spPr>
          <a:xfrm>
            <a:off x="8625535" y="2468880"/>
            <a:ext cx="2788920" cy="777240"/>
          </a:xfrm>
          <a:prstGeom prst="rect">
            <a:avLst/>
          </a:prstGeom>
          <a:noFill/>
          <a:ln/>
        </p:spPr>
        <p:txBody>
          <a:bodyPr wrap="square" lIns="0" tIns="0" rIns="0" bIns="0" rtlCol="0" anchor="t"/>
          <a:lstStyle/>
          <a:p>
            <a:pPr indent="0" marL="0">
              <a:spcAft>
                <a:spcPts val="600"/>
              </a:spcAft>
              <a:buNone/>
            </a:pPr>
            <a:r>
              <a:rPr lang="en-US" sz="1300" dirty="0">
                <a:solidFill>
                  <a:srgbClr val="EEF0F8"/>
                </a:solidFill>
                <a:latin typeface="Courier New" pitchFamily="34" charset="0"/>
                <a:ea typeface="Courier New" pitchFamily="34" charset="-122"/>
                <a:cs typeface="Courier New" pitchFamily="34" charset="-120"/>
              </a:rPr>
              <a:t>DOSBox-X IPX client</a:t>
            </a:r>
            <a:endParaRPr lang="en-US" sz="1300" dirty="0"/>
          </a:p>
          <a:p>
            <a:pPr indent="0" marL="0">
              <a:spcAft>
                <a:spcPts val="600"/>
              </a:spcAft>
              <a:buNone/>
            </a:pPr>
            <a:r>
              <a:rPr lang="en-US" sz="1300" dirty="0">
                <a:solidFill>
                  <a:srgbClr val="EEF0F8"/>
                </a:solidFill>
                <a:latin typeface="Courier New" pitchFamily="34" charset="0"/>
                <a:ea typeface="Courier New" pitchFamily="34" charset="-122"/>
                <a:cs typeface="Courier New" pitchFamily="34" charset="-120"/>
              </a:rPr>
              <a:t>js-dos sharedNet adapter</a:t>
            </a:r>
            <a:endParaRPr lang="en-US" sz="1300" dirty="0"/>
          </a:p>
          <a:p>
            <a:pPr indent="0" marL="0">
              <a:spcAft>
                <a:spcPts val="600"/>
              </a:spcAft>
              <a:buNone/>
            </a:pPr>
            <a:r>
              <a:rPr lang="en-US" sz="1300" dirty="0">
                <a:solidFill>
                  <a:srgbClr val="EEF0F8"/>
                </a:solidFill>
                <a:latin typeface="Courier New" pitchFamily="34" charset="0"/>
                <a:ea typeface="Courier New" pitchFamily="34" charset="-122"/>
                <a:cs typeface="Courier New" pitchFamily="34" charset="-120"/>
              </a:rPr>
              <a:t>own private C: drive</a:t>
            </a:r>
            <a:endParaRPr lang="en-US" sz="1300" dirty="0"/>
          </a:p>
        </p:txBody>
      </p:sp>
      <p:sp>
        <p:nvSpPr>
          <p:cNvPr id="15" name="Text 13"/>
          <p:cNvSpPr txBox="1"/>
          <p:nvPr/>
        </p:nvSpPr>
        <p:spPr>
          <a:xfrm>
            <a:off x="548640" y="3703320"/>
            <a:ext cx="457200" cy="457200"/>
          </a:xfrm>
          <a:prstGeom prst="rect">
            <a:avLst/>
          </a:prstGeom>
          <a:noFill/>
          <a:ln/>
        </p:spPr>
        <p:txBody>
          <a:bodyPr wrap="square" lIns="0" tIns="0" rIns="0" bIns="0" rtlCol="0" anchor="t"/>
          <a:lstStyle/>
          <a:p>
            <a:pPr indent="0" marL="0">
              <a:buNone/>
            </a:pPr>
            <a:r>
              <a:rPr lang="en-US" sz="2600" b="1" dirty="0">
                <a:solidFill>
                  <a:srgbClr val="FFB000"/>
                </a:solidFill>
                <a:latin typeface="Courier New" pitchFamily="34" charset="0"/>
                <a:ea typeface="Courier New" pitchFamily="34" charset="-122"/>
                <a:cs typeface="Courier New" pitchFamily="34" charset="-120"/>
              </a:rPr>
              <a:t>1</a:t>
            </a:r>
            <a:endParaRPr lang="en-US" sz="2600" dirty="0"/>
          </a:p>
        </p:txBody>
      </p:sp>
      <p:sp>
        <p:nvSpPr>
          <p:cNvPr id="16" name="Text 14"/>
          <p:cNvSpPr txBox="1"/>
          <p:nvPr/>
        </p:nvSpPr>
        <p:spPr>
          <a:xfrm>
            <a:off x="1005840" y="3749040"/>
            <a:ext cx="2064944" cy="868680"/>
          </a:xfrm>
          <a:prstGeom prst="rect">
            <a:avLst/>
          </a:prstGeom>
          <a:noFill/>
          <a:ln/>
        </p:spPr>
        <p:txBody>
          <a:bodyPr wrap="square" lIns="0" tIns="0" rIns="0" bIns="0" rtlCol="0" anchor="t"/>
          <a:lstStyle/>
          <a:p>
            <a:pPr indent="0" marL="0">
              <a:buNone/>
            </a:pPr>
            <a:r>
              <a:rPr lang="en-US" sz="1400" dirty="0">
                <a:solidFill>
                  <a:srgbClr val="EEF0F8"/>
                </a:solidFill>
                <a:latin typeface="Calibri" pitchFamily="34" charset="0"/>
                <a:ea typeface="Calibri" pitchFamily="34" charset="-122"/>
                <a:cs typeface="Calibri" pitchFamily="34" charset="-120"/>
              </a:rPr>
              <a:t>Host picks Multiplayer and gets a six-character room code</a:t>
            </a:r>
            <a:endParaRPr lang="en-US" sz="1400" dirty="0"/>
          </a:p>
        </p:txBody>
      </p:sp>
      <p:sp>
        <p:nvSpPr>
          <p:cNvPr id="17" name="Text 15"/>
          <p:cNvSpPr txBox="1"/>
          <p:nvPr/>
        </p:nvSpPr>
        <p:spPr>
          <a:xfrm>
            <a:off x="3390824" y="3703320"/>
            <a:ext cx="457200" cy="457200"/>
          </a:xfrm>
          <a:prstGeom prst="rect">
            <a:avLst/>
          </a:prstGeom>
          <a:noFill/>
          <a:ln/>
        </p:spPr>
        <p:txBody>
          <a:bodyPr wrap="square" lIns="0" tIns="0" rIns="0" bIns="0" rtlCol="0" anchor="t"/>
          <a:lstStyle/>
          <a:p>
            <a:pPr indent="0" marL="0">
              <a:buNone/>
            </a:pPr>
            <a:r>
              <a:rPr lang="en-US" sz="2600" b="1" dirty="0">
                <a:solidFill>
                  <a:srgbClr val="FFB000"/>
                </a:solidFill>
                <a:latin typeface="Courier New" pitchFamily="34" charset="0"/>
                <a:ea typeface="Courier New" pitchFamily="34" charset="-122"/>
                <a:cs typeface="Courier New" pitchFamily="34" charset="-120"/>
              </a:rPr>
              <a:t>2</a:t>
            </a:r>
            <a:endParaRPr lang="en-US" sz="2600" dirty="0"/>
          </a:p>
        </p:txBody>
      </p:sp>
      <p:sp>
        <p:nvSpPr>
          <p:cNvPr id="18" name="Text 16"/>
          <p:cNvSpPr txBox="1"/>
          <p:nvPr/>
        </p:nvSpPr>
        <p:spPr>
          <a:xfrm>
            <a:off x="3848024" y="3749040"/>
            <a:ext cx="2064944" cy="868680"/>
          </a:xfrm>
          <a:prstGeom prst="rect">
            <a:avLst/>
          </a:prstGeom>
          <a:noFill/>
          <a:ln/>
        </p:spPr>
        <p:txBody>
          <a:bodyPr wrap="square" lIns="0" tIns="0" rIns="0" bIns="0" rtlCol="0" anchor="t"/>
          <a:lstStyle/>
          <a:p>
            <a:pPr indent="0" marL="0">
              <a:buNone/>
            </a:pPr>
            <a:r>
              <a:rPr lang="en-US" sz="1400" dirty="0">
                <a:solidFill>
                  <a:srgbClr val="EEF0F8"/>
                </a:solidFill>
                <a:latin typeface="Calibri" pitchFamily="34" charset="0"/>
                <a:ea typeface="Calibri" pitchFamily="34" charset="-122"/>
                <a:cs typeface="Calibri" pitchFamily="34" charset="-120"/>
              </a:rPr>
              <a:t>Host emulator starts its IPX server and announces it's ready</a:t>
            </a:r>
            <a:endParaRPr lang="en-US" sz="1400" dirty="0"/>
          </a:p>
        </p:txBody>
      </p:sp>
      <p:sp>
        <p:nvSpPr>
          <p:cNvPr id="19" name="Text 17"/>
          <p:cNvSpPr txBox="1"/>
          <p:nvPr/>
        </p:nvSpPr>
        <p:spPr>
          <a:xfrm>
            <a:off x="6233008" y="3703320"/>
            <a:ext cx="457200" cy="457200"/>
          </a:xfrm>
          <a:prstGeom prst="rect">
            <a:avLst/>
          </a:prstGeom>
          <a:noFill/>
          <a:ln/>
        </p:spPr>
        <p:txBody>
          <a:bodyPr wrap="square" lIns="0" tIns="0" rIns="0" bIns="0" rtlCol="0" anchor="t"/>
          <a:lstStyle/>
          <a:p>
            <a:pPr indent="0" marL="0">
              <a:buNone/>
            </a:pPr>
            <a:r>
              <a:rPr lang="en-US" sz="2600" b="1" dirty="0">
                <a:solidFill>
                  <a:srgbClr val="FFB000"/>
                </a:solidFill>
                <a:latin typeface="Courier New" pitchFamily="34" charset="0"/>
                <a:ea typeface="Courier New" pitchFamily="34" charset="-122"/>
                <a:cs typeface="Courier New" pitchFamily="34" charset="-120"/>
              </a:rPr>
              <a:t>3</a:t>
            </a:r>
            <a:endParaRPr lang="en-US" sz="2600" dirty="0"/>
          </a:p>
        </p:txBody>
      </p:sp>
      <p:sp>
        <p:nvSpPr>
          <p:cNvPr id="20" name="Text 18"/>
          <p:cNvSpPr txBox="1"/>
          <p:nvPr/>
        </p:nvSpPr>
        <p:spPr>
          <a:xfrm>
            <a:off x="6690208" y="3749040"/>
            <a:ext cx="2064944" cy="868680"/>
          </a:xfrm>
          <a:prstGeom prst="rect">
            <a:avLst/>
          </a:prstGeom>
          <a:noFill/>
          <a:ln/>
        </p:spPr>
        <p:txBody>
          <a:bodyPr wrap="square" lIns="0" tIns="0" rIns="0" bIns="0" rtlCol="0" anchor="t"/>
          <a:lstStyle/>
          <a:p>
            <a:pPr indent="0" marL="0">
              <a:buNone/>
            </a:pPr>
            <a:r>
              <a:rPr lang="en-US" sz="1400" dirty="0">
                <a:solidFill>
                  <a:srgbClr val="EEF0F8"/>
                </a:solidFill>
                <a:latin typeface="Calibri" pitchFamily="34" charset="0"/>
                <a:ea typeface="Calibri" pitchFamily="34" charset="-122"/>
                <a:cs typeface="Calibri" pitchFamily="34" charset="-120"/>
              </a:rPr>
              <a:t>Guest enters the code: own session, own C: drive</a:t>
            </a:r>
            <a:endParaRPr lang="en-US" sz="1400" dirty="0"/>
          </a:p>
        </p:txBody>
      </p:sp>
      <p:sp>
        <p:nvSpPr>
          <p:cNvPr id="21" name="Text 19"/>
          <p:cNvSpPr txBox="1"/>
          <p:nvPr/>
        </p:nvSpPr>
        <p:spPr>
          <a:xfrm>
            <a:off x="9075191" y="3703320"/>
            <a:ext cx="457200" cy="457200"/>
          </a:xfrm>
          <a:prstGeom prst="rect">
            <a:avLst/>
          </a:prstGeom>
          <a:noFill/>
          <a:ln/>
        </p:spPr>
        <p:txBody>
          <a:bodyPr wrap="square" lIns="0" tIns="0" rIns="0" bIns="0" rtlCol="0" anchor="t"/>
          <a:lstStyle/>
          <a:p>
            <a:pPr indent="0" marL="0">
              <a:buNone/>
            </a:pPr>
            <a:r>
              <a:rPr lang="en-US" sz="2600" b="1" dirty="0">
                <a:solidFill>
                  <a:srgbClr val="FFB000"/>
                </a:solidFill>
                <a:latin typeface="Courier New" pitchFamily="34" charset="0"/>
                <a:ea typeface="Courier New" pitchFamily="34" charset="-122"/>
                <a:cs typeface="Courier New" pitchFamily="34" charset="-120"/>
              </a:rPr>
              <a:t>4</a:t>
            </a:r>
            <a:endParaRPr lang="en-US" sz="2600" dirty="0"/>
          </a:p>
        </p:txBody>
      </p:sp>
      <p:sp>
        <p:nvSpPr>
          <p:cNvPr id="22" name="Text 20"/>
          <p:cNvSpPr txBox="1"/>
          <p:nvPr/>
        </p:nvSpPr>
        <p:spPr>
          <a:xfrm>
            <a:off x="9532391" y="3749040"/>
            <a:ext cx="2064944" cy="868680"/>
          </a:xfrm>
          <a:prstGeom prst="rect">
            <a:avLst/>
          </a:prstGeom>
          <a:noFill/>
          <a:ln/>
        </p:spPr>
        <p:txBody>
          <a:bodyPr wrap="square" lIns="0" tIns="0" rIns="0" bIns="0" rtlCol="0" anchor="t"/>
          <a:lstStyle/>
          <a:p>
            <a:pPr indent="0" marL="0">
              <a:buNone/>
            </a:pPr>
            <a:r>
              <a:rPr lang="en-US" sz="1400" dirty="0">
                <a:solidFill>
                  <a:srgbClr val="EEF0F8"/>
                </a:solidFill>
                <a:latin typeface="Calibri" pitchFamily="34" charset="0"/>
                <a:ea typeface="Calibri" pitchFamily="34" charset="-122"/>
                <a:cs typeface="Calibri" pitchFamily="34" charset="-120"/>
              </a:rPr>
              <a:t>Relay forwards IPX frames between peers, and DOOM starts</a:t>
            </a:r>
            <a:endParaRPr lang="en-US" sz="1400" dirty="0"/>
          </a:p>
        </p:txBody>
      </p:sp>
      <p:sp>
        <p:nvSpPr>
          <p:cNvPr id="23" name="Text 21"/>
          <p:cNvSpPr txBox="1"/>
          <p:nvPr/>
        </p:nvSpPr>
        <p:spPr>
          <a:xfrm>
            <a:off x="548640" y="4846320"/>
            <a:ext cx="11094415" cy="365760"/>
          </a:xfrm>
          <a:prstGeom prst="rect">
            <a:avLst/>
          </a:prstGeom>
          <a:noFill/>
          <a:ln/>
        </p:spPr>
        <p:txBody>
          <a:bodyPr wrap="square" lIns="0" tIns="0" rIns="0" bIns="0" rtlCol="0" anchor="t"/>
          <a:lstStyle/>
          <a:p>
            <a:pPr indent="0" marL="0">
              <a:buNone/>
            </a:pPr>
            <a:r>
              <a:rPr lang="en-US" sz="1500" i="1" dirty="0">
                <a:solidFill>
                  <a:srgbClr val="A3ABCB"/>
                </a:solidFill>
                <a:latin typeface="Calibri" pitchFamily="34" charset="0"/>
                <a:ea typeface="Calibri" pitchFamily="34" charset="-122"/>
                <a:cs typeface="Calibri" pitchFamily="34" charset="-120"/>
              </a:rPr>
              <a:t>No inbound ports · no public IPs · no WebRTC, STUN or TURN · the relay never parses IPX</a:t>
            </a:r>
            <a:endParaRPr lang="en-US" sz="1500" dirty="0"/>
          </a:p>
        </p:txBody>
      </p:sp>
      <p:sp>
        <p:nvSpPr>
          <p:cNvPr id="24" name="Shape 22"/>
          <p:cNvSpPr/>
          <p:nvPr/>
        </p:nvSpPr>
        <p:spPr>
          <a:xfrm>
            <a:off x="548640" y="5532120"/>
            <a:ext cx="11094415" cy="868680"/>
          </a:xfrm>
          <a:prstGeom prst="roundRect">
            <a:avLst>
              <a:gd name="adj" fmla="val 8421"/>
            </a:avLst>
          </a:prstGeom>
          <a:solidFill>
            <a:srgbClr val="2A2310"/>
          </a:solidFill>
          <a:ln w="12700">
            <a:solidFill>
              <a:srgbClr val="2A2310"/>
            </a:solidFill>
            <a:prstDash val="solid"/>
          </a:ln>
        </p:spPr>
      </p:sp>
      <p:sp>
        <p:nvSpPr>
          <p:cNvPr id="25" name="Shape 23"/>
          <p:cNvSpPr/>
          <p:nvPr/>
        </p:nvSpPr>
        <p:spPr>
          <a:xfrm>
            <a:off x="777240" y="5715000"/>
            <a:ext cx="502920" cy="502920"/>
          </a:xfrm>
          <a:prstGeom prst="ellipse">
            <a:avLst/>
          </a:prstGeom>
          <a:solidFill>
            <a:srgbClr val="FFB000"/>
          </a:solidFill>
          <a:ln w="12700">
            <a:solidFill>
              <a:srgbClr val="FFB000"/>
            </a:solidFill>
            <a:prstDash val="solid"/>
          </a:ln>
        </p:spPr>
      </p:sp>
      <p:pic>
        <p:nvPicPr>
          <p:cNvPr id="26" name="Image 0" descr="preencoded.png">    </p:cNvPr>
          <p:cNvPicPr>
            <a:picLocks noChangeAspect="1"/>
          </p:cNvPicPr>
          <p:nvPr/>
        </p:nvPicPr>
        <p:blipFill>
          <a:blip r:embed="rId1"/>
          <a:stretch>
            <a:fillRect/>
          </a:stretch>
        </p:blipFill>
        <p:spPr>
          <a:xfrm>
            <a:off x="887882" y="5825642"/>
            <a:ext cx="281635" cy="281635"/>
          </a:xfrm>
          <a:prstGeom prst="rect">
            <a:avLst/>
          </a:prstGeom>
        </p:spPr>
      </p:pic>
      <p:sp>
        <p:nvSpPr>
          <p:cNvPr id="27" name="Text 24"/>
          <p:cNvSpPr txBox="1"/>
          <p:nvPr/>
        </p:nvSpPr>
        <p:spPr>
          <a:xfrm>
            <a:off x="1508760" y="5678424"/>
            <a:ext cx="1828800" cy="228600"/>
          </a:xfrm>
          <a:prstGeom prst="rect">
            <a:avLst/>
          </a:prstGeom>
          <a:noFill/>
          <a:ln/>
        </p:spPr>
        <p:txBody>
          <a:bodyPr wrap="square" lIns="0" tIns="0" rIns="0" bIns="0" rtlCol="0" anchor="t"/>
          <a:lstStyle/>
          <a:p>
            <a:pPr indent="0" marL="0">
              <a:buNone/>
            </a:pPr>
            <a:r>
              <a:rPr lang="en-US" sz="1100" b="1" dirty="0">
                <a:solidFill>
                  <a:srgbClr val="FFB000"/>
                </a:solidFill>
                <a:latin typeface="Courier New" pitchFamily="34" charset="0"/>
                <a:ea typeface="Courier New" pitchFamily="34" charset="-122"/>
                <a:cs typeface="Courier New" pitchFamily="34" charset="-120"/>
              </a:rPr>
              <a:t>AI LESSON</a:t>
            </a:r>
            <a:endParaRPr lang="en-US" sz="1100" dirty="0"/>
          </a:p>
        </p:txBody>
      </p:sp>
      <p:sp>
        <p:nvSpPr>
          <p:cNvPr id="28" name="Text 25"/>
          <p:cNvSpPr txBox="1"/>
          <p:nvPr/>
        </p:nvSpPr>
        <p:spPr>
          <a:xfrm>
            <a:off x="1508760" y="5916168"/>
            <a:ext cx="9905695" cy="411480"/>
          </a:xfrm>
          <a:prstGeom prst="rect">
            <a:avLst/>
          </a:prstGeom>
          <a:noFill/>
          <a:ln/>
        </p:spPr>
        <p:txBody>
          <a:bodyPr wrap="square" lIns="0" tIns="0" rIns="0" bIns="0" rtlCol="0" anchor="t"/>
          <a:lstStyle/>
          <a:p>
            <a:pPr indent="0" marL="0">
              <a:buNone/>
            </a:pPr>
            <a:r>
              <a:rPr lang="en-US" sz="1500" dirty="0">
                <a:solidFill>
                  <a:srgbClr val="EEF0F8"/>
                </a:solidFill>
                <a:latin typeface="Calibri" pitchFamily="34" charset="0"/>
                <a:ea typeface="Calibri" pitchFamily="34" charset="-122"/>
                <a:cs typeface="Calibri" pitchFamily="34" charset="-120"/>
              </a:rPr>
              <a:t>Use the platform's seams: js-dos already had a network abstraction, so we swapped the transport, not IPX.</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224"/>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t"/>
          <a:lstStyle/>
          <a:p>
            <a:pPr indent="0" marL="0">
              <a:buNone/>
            </a:pPr>
            <a:r>
              <a:rPr lang="en-US" sz="1400" b="1" dirty="0">
                <a:solidFill>
                  <a:srgbClr val="FFB000"/>
                </a:solidFill>
                <a:latin typeface="Courier New" pitchFamily="34" charset="0"/>
                <a:ea typeface="Courier New" pitchFamily="34" charset="-122"/>
                <a:cs typeface="Courier New" pitchFamily="34" charset="-120"/>
              </a:rPr>
              <a:t>C:\&gt; TYPE WARSTORY.LOG</a:t>
            </a:r>
            <a:endParaRPr lang="en-US" sz="1400" dirty="0"/>
          </a:p>
        </p:txBody>
      </p:sp>
      <p:sp>
        <p:nvSpPr>
          <p:cNvPr id="3" name="Text 1"/>
          <p:cNvSpPr txBox="1"/>
          <p:nvPr/>
        </p:nvSpPr>
        <p:spPr>
          <a:xfrm>
            <a:off x="548640" y="777240"/>
            <a:ext cx="11094415" cy="685800"/>
          </a:xfrm>
          <a:prstGeom prst="rect">
            <a:avLst/>
          </a:prstGeom>
          <a:noFill/>
          <a:ln/>
        </p:spPr>
        <p:txBody>
          <a:bodyPr wrap="square" lIns="0" tIns="0" rIns="0" bIns="0" rtlCol="0" anchor="ctr"/>
          <a:lstStyle/>
          <a:p>
            <a:pPr indent="0" marL="0">
              <a:buNone/>
            </a:pPr>
            <a:r>
              <a:rPr lang="en-US" sz="3200" b="1" dirty="0">
                <a:solidFill>
                  <a:srgbClr val="EEF0F8"/>
                </a:solidFill>
                <a:latin typeface="Courier New" pitchFamily="34" charset="0"/>
                <a:ea typeface="Courier New" pitchFamily="34" charset="-122"/>
                <a:cs typeface="Courier New" pitchFamily="34" charset="-120"/>
              </a:rPr>
              <a:t>Phase 6 war stories: when “done” wasn't</a:t>
            </a:r>
            <a:endParaRPr lang="en-US" sz="3200" dirty="0"/>
          </a:p>
        </p:txBody>
      </p:sp>
      <p:sp>
        <p:nvSpPr>
          <p:cNvPr id="4" name="Shape 2"/>
          <p:cNvSpPr/>
          <p:nvPr/>
        </p:nvSpPr>
        <p:spPr>
          <a:xfrm>
            <a:off x="548640" y="1783080"/>
            <a:ext cx="3515258" cy="3520440"/>
          </a:xfrm>
          <a:prstGeom prst="roundRect">
            <a:avLst>
              <a:gd name="adj" fmla="val 2081"/>
            </a:avLst>
          </a:prstGeom>
          <a:solidFill>
            <a:srgbClr val="182041"/>
          </a:solidFill>
          <a:ln w="12700">
            <a:solidFill>
              <a:srgbClr val="182041"/>
            </a:solidFill>
            <a:prstDash val="solid"/>
          </a:ln>
        </p:spPr>
      </p:sp>
      <p:sp>
        <p:nvSpPr>
          <p:cNvPr id="5" name="Shape 3"/>
          <p:cNvSpPr/>
          <p:nvPr/>
        </p:nvSpPr>
        <p:spPr>
          <a:xfrm>
            <a:off x="777240" y="2011680"/>
            <a:ext cx="548640" cy="548640"/>
          </a:xfrm>
          <a:prstGeom prst="ellipse">
            <a:avLst/>
          </a:prstGeom>
          <a:solidFill>
            <a:srgbClr val="212B57"/>
          </a:solidFill>
          <a:ln w="12700">
            <a:solidFill>
              <a:srgbClr val="212B57"/>
            </a:solidFill>
            <a:prstDash val="solid"/>
          </a:ln>
        </p:spPr>
      </p:sp>
      <p:pic>
        <p:nvPicPr>
          <p:cNvPr id="6" name="Image 0" descr="preencoded.png">    </p:cNvPr>
          <p:cNvPicPr>
            <a:picLocks noChangeAspect="1"/>
          </p:cNvPicPr>
          <p:nvPr/>
        </p:nvPicPr>
        <p:blipFill>
          <a:blip r:embed="rId1"/>
          <a:stretch>
            <a:fillRect/>
          </a:stretch>
        </p:blipFill>
        <p:spPr>
          <a:xfrm>
            <a:off x="897941" y="2132381"/>
            <a:ext cx="307238" cy="307238"/>
          </a:xfrm>
          <a:prstGeom prst="rect">
            <a:avLst/>
          </a:prstGeom>
        </p:spPr>
      </p:pic>
      <p:sp>
        <p:nvSpPr>
          <p:cNvPr id="7" name="Text 4"/>
          <p:cNvSpPr txBox="1"/>
          <p:nvPr/>
        </p:nvSpPr>
        <p:spPr>
          <a:xfrm>
            <a:off x="1463040" y="2011680"/>
            <a:ext cx="2417978" cy="594360"/>
          </a:xfrm>
          <a:prstGeom prst="rect">
            <a:avLst/>
          </a:prstGeom>
          <a:noFill/>
          <a:ln/>
        </p:spPr>
        <p:txBody>
          <a:bodyPr wrap="square" lIns="0" tIns="0" rIns="0" bIns="0" rtlCol="0" anchor="ctr"/>
          <a:lstStyle/>
          <a:p>
            <a:pPr indent="0" marL="0">
              <a:buNone/>
            </a:pPr>
            <a:r>
              <a:rPr lang="en-US" sz="1600" b="1" dirty="0">
                <a:solidFill>
                  <a:srgbClr val="FFB000"/>
                </a:solidFill>
                <a:latin typeface="Calibri" pitchFamily="34" charset="0"/>
                <a:ea typeface="Calibri" pitchFamily="34" charset="-122"/>
                <a:cs typeface="Calibri" pitchFamily="34" charset="-120"/>
              </a:rPr>
              <a:t>“Proven end-to-end”</a:t>
            </a:r>
            <a:endParaRPr lang="en-US" sz="1600" dirty="0"/>
          </a:p>
        </p:txBody>
      </p:sp>
      <p:sp>
        <p:nvSpPr>
          <p:cNvPr id="8" name="Text 5"/>
          <p:cNvSpPr txBox="1"/>
          <p:nvPr/>
        </p:nvSpPr>
        <p:spPr>
          <a:xfrm>
            <a:off x="777240" y="2743200"/>
            <a:ext cx="3058058" cy="228600"/>
          </a:xfrm>
          <a:prstGeom prst="rect">
            <a:avLst/>
          </a:prstGeom>
          <a:noFill/>
          <a:ln/>
        </p:spPr>
        <p:txBody>
          <a:bodyPr wrap="square" lIns="0" tIns="0" rIns="0" bIns="0" rtlCol="0" anchor="t"/>
          <a:lstStyle/>
          <a:p>
            <a:pPr indent="0" marL="0">
              <a:buNone/>
            </a:pPr>
            <a:r>
              <a:rPr lang="en-US" sz="1000" b="1" dirty="0">
                <a:solidFill>
                  <a:srgbClr val="A3ABCB"/>
                </a:solidFill>
                <a:latin typeface="Courier New" pitchFamily="34" charset="0"/>
                <a:ea typeface="Courier New" pitchFamily="34" charset="-122"/>
                <a:cs typeface="Courier New" pitchFamily="34" charset="-120"/>
              </a:rPr>
              <a:t>SYMPTOM</a:t>
            </a:r>
            <a:endParaRPr lang="en-US" sz="1000" dirty="0"/>
          </a:p>
        </p:txBody>
      </p:sp>
      <p:sp>
        <p:nvSpPr>
          <p:cNvPr id="9" name="Text 6"/>
          <p:cNvSpPr txBox="1"/>
          <p:nvPr/>
        </p:nvSpPr>
        <p:spPr>
          <a:xfrm>
            <a:off x="777240" y="2971800"/>
            <a:ext cx="3058058" cy="603504"/>
          </a:xfrm>
          <a:prstGeom prst="rect">
            <a:avLst/>
          </a:prstGeom>
          <a:noFill/>
          <a:ln/>
        </p:spPr>
        <p:txBody>
          <a:bodyPr wrap="square" lIns="0" tIns="0" rIns="0" bIns="0" rtlCol="0" anchor="t"/>
          <a:lstStyle/>
          <a:p>
            <a:pPr indent="0" marL="0">
              <a:buNone/>
            </a:pPr>
            <a:r>
              <a:rPr lang="en-US" sz="1200" dirty="0">
                <a:solidFill>
                  <a:srgbClr val="EEF0F8"/>
                </a:solidFill>
                <a:latin typeface="Calibri" pitchFamily="34" charset="0"/>
                <a:ea typeface="Calibri" pitchFamily="34" charset="-122"/>
                <a:cs typeface="Calibri" pitchFamily="34" charset="-120"/>
              </a:rPr>
              <a:t>Docs said the two-browser test passed.</a:t>
            </a:r>
            <a:endParaRPr lang="en-US" sz="1200" dirty="0"/>
          </a:p>
        </p:txBody>
      </p:sp>
      <p:sp>
        <p:nvSpPr>
          <p:cNvPr id="10" name="Text 7"/>
          <p:cNvSpPr txBox="1"/>
          <p:nvPr/>
        </p:nvSpPr>
        <p:spPr>
          <a:xfrm>
            <a:off x="777240" y="3593592"/>
            <a:ext cx="3058058" cy="228600"/>
          </a:xfrm>
          <a:prstGeom prst="rect">
            <a:avLst/>
          </a:prstGeom>
          <a:noFill/>
          <a:ln/>
        </p:spPr>
        <p:txBody>
          <a:bodyPr wrap="square" lIns="0" tIns="0" rIns="0" bIns="0" rtlCol="0" anchor="t"/>
          <a:lstStyle/>
          <a:p>
            <a:pPr indent="0" marL="0">
              <a:buNone/>
            </a:pPr>
            <a:r>
              <a:rPr lang="en-US" sz="1000" b="1" dirty="0">
                <a:solidFill>
                  <a:srgbClr val="A3ABCB"/>
                </a:solidFill>
                <a:latin typeface="Courier New" pitchFamily="34" charset="0"/>
                <a:ea typeface="Courier New" pitchFamily="34" charset="-122"/>
                <a:cs typeface="Courier New" pitchFamily="34" charset="-120"/>
              </a:rPr>
              <a:t>ROOT CAUSE</a:t>
            </a:r>
            <a:endParaRPr lang="en-US" sz="1000" dirty="0"/>
          </a:p>
        </p:txBody>
      </p:sp>
      <p:sp>
        <p:nvSpPr>
          <p:cNvPr id="11" name="Text 8"/>
          <p:cNvSpPr txBox="1"/>
          <p:nvPr/>
        </p:nvSpPr>
        <p:spPr>
          <a:xfrm>
            <a:off x="777240" y="3822192"/>
            <a:ext cx="3058058" cy="603504"/>
          </a:xfrm>
          <a:prstGeom prst="rect">
            <a:avLst/>
          </a:prstGeom>
          <a:noFill/>
          <a:ln/>
        </p:spPr>
        <p:txBody>
          <a:bodyPr wrap="square" lIns="0" tIns="0" rIns="0" bIns="0" rtlCol="0" anchor="t"/>
          <a:lstStyle/>
          <a:p>
            <a:pPr indent="0" marL="0">
              <a:buNone/>
            </a:pPr>
            <a:r>
              <a:rPr lang="en-US" sz="1200" dirty="0">
                <a:solidFill>
                  <a:srgbClr val="EEF0F8"/>
                </a:solidFill>
                <a:latin typeface="Calibri" pitchFamily="34" charset="0"/>
                <a:ea typeface="Calibri" pitchFamily="34" charset="-122"/>
                <a:cs typeface="Calibri" pitchFamily="34" charset="-120"/>
              </a:rPr>
              <a:t>Rerun: the host never reached DOOM. The check was also too weak to prove play.</a:t>
            </a:r>
            <a:endParaRPr lang="en-US" sz="1200" dirty="0"/>
          </a:p>
        </p:txBody>
      </p:sp>
      <p:sp>
        <p:nvSpPr>
          <p:cNvPr id="12" name="Text 9"/>
          <p:cNvSpPr txBox="1"/>
          <p:nvPr/>
        </p:nvSpPr>
        <p:spPr>
          <a:xfrm>
            <a:off x="777240" y="4443984"/>
            <a:ext cx="3058058" cy="228600"/>
          </a:xfrm>
          <a:prstGeom prst="rect">
            <a:avLst/>
          </a:prstGeom>
          <a:noFill/>
          <a:ln/>
        </p:spPr>
        <p:txBody>
          <a:bodyPr wrap="square" lIns="0" tIns="0" rIns="0" bIns="0" rtlCol="0" anchor="t"/>
          <a:lstStyle/>
          <a:p>
            <a:pPr indent="0" marL="0">
              <a:buNone/>
            </a:pPr>
            <a:r>
              <a:rPr lang="en-US" sz="1000" b="1" dirty="0">
                <a:solidFill>
                  <a:srgbClr val="A3ABCB"/>
                </a:solidFill>
                <a:latin typeface="Courier New" pitchFamily="34" charset="0"/>
                <a:ea typeface="Courier New" pitchFamily="34" charset="-122"/>
                <a:cs typeface="Courier New" pitchFamily="34" charset="-120"/>
              </a:rPr>
              <a:t>FIX</a:t>
            </a:r>
            <a:endParaRPr lang="en-US" sz="1000" dirty="0"/>
          </a:p>
        </p:txBody>
      </p:sp>
      <p:sp>
        <p:nvSpPr>
          <p:cNvPr id="13" name="Text 10"/>
          <p:cNvSpPr txBox="1"/>
          <p:nvPr/>
        </p:nvSpPr>
        <p:spPr>
          <a:xfrm>
            <a:off x="777240" y="4672584"/>
            <a:ext cx="3058058" cy="603504"/>
          </a:xfrm>
          <a:prstGeom prst="rect">
            <a:avLst/>
          </a:prstGeom>
          <a:noFill/>
          <a:ln/>
        </p:spPr>
        <p:txBody>
          <a:bodyPr wrap="square" lIns="0" tIns="0" rIns="0" bIns="0" rtlCol="0" anchor="t"/>
          <a:lstStyle/>
          <a:p>
            <a:pPr indent="0" marL="0">
              <a:buNone/>
            </a:pPr>
            <a:r>
              <a:rPr lang="en-US" sz="1200" dirty="0">
                <a:solidFill>
                  <a:srgbClr val="EEF0F8"/>
                </a:solidFill>
                <a:latin typeface="Calibri" pitchFamily="34" charset="0"/>
                <a:ea typeface="Calibri" pitchFamily="34" charset="-122"/>
                <a:cs typeface="Calibri" pitchFamily="34" charset="-120"/>
              </a:rPr>
              <a:t>Assert real IPX bytes flow both ways; run the new test against the old code and watch it fail.</a:t>
            </a:r>
            <a:endParaRPr lang="en-US" sz="1200" dirty="0"/>
          </a:p>
        </p:txBody>
      </p:sp>
      <p:sp>
        <p:nvSpPr>
          <p:cNvPr id="14" name="Shape 11"/>
          <p:cNvSpPr/>
          <p:nvPr/>
        </p:nvSpPr>
        <p:spPr>
          <a:xfrm>
            <a:off x="4338218" y="1783080"/>
            <a:ext cx="3515258" cy="3520440"/>
          </a:xfrm>
          <a:prstGeom prst="roundRect">
            <a:avLst>
              <a:gd name="adj" fmla="val 2081"/>
            </a:avLst>
          </a:prstGeom>
          <a:solidFill>
            <a:srgbClr val="182041"/>
          </a:solidFill>
          <a:ln w="12700">
            <a:solidFill>
              <a:srgbClr val="182041"/>
            </a:solidFill>
            <a:prstDash val="solid"/>
          </a:ln>
        </p:spPr>
      </p:sp>
      <p:sp>
        <p:nvSpPr>
          <p:cNvPr id="15" name="Shape 12"/>
          <p:cNvSpPr/>
          <p:nvPr/>
        </p:nvSpPr>
        <p:spPr>
          <a:xfrm>
            <a:off x="4566818" y="2011680"/>
            <a:ext cx="548640" cy="548640"/>
          </a:xfrm>
          <a:prstGeom prst="ellipse">
            <a:avLst/>
          </a:prstGeom>
          <a:solidFill>
            <a:srgbClr val="212B57"/>
          </a:solidFill>
          <a:ln w="12700">
            <a:solidFill>
              <a:srgbClr val="212B57"/>
            </a:solidFill>
            <a:prstDash val="solid"/>
          </a:ln>
        </p:spPr>
      </p:sp>
      <p:pic>
        <p:nvPicPr>
          <p:cNvPr id="16" name="Image 1" descr="preencoded.png">    </p:cNvPr>
          <p:cNvPicPr>
            <a:picLocks noChangeAspect="1"/>
          </p:cNvPicPr>
          <p:nvPr/>
        </p:nvPicPr>
        <p:blipFill>
          <a:blip r:embed="rId2"/>
          <a:stretch>
            <a:fillRect/>
          </a:stretch>
        </p:blipFill>
        <p:spPr>
          <a:xfrm>
            <a:off x="4687519" y="2132381"/>
            <a:ext cx="307238" cy="307238"/>
          </a:xfrm>
          <a:prstGeom prst="rect">
            <a:avLst/>
          </a:prstGeom>
        </p:spPr>
      </p:pic>
      <p:sp>
        <p:nvSpPr>
          <p:cNvPr id="17" name="Text 13"/>
          <p:cNvSpPr txBox="1"/>
          <p:nvPr/>
        </p:nvSpPr>
        <p:spPr>
          <a:xfrm>
            <a:off x="5252618" y="2011680"/>
            <a:ext cx="2417978" cy="594360"/>
          </a:xfrm>
          <a:prstGeom prst="rect">
            <a:avLst/>
          </a:prstGeom>
          <a:noFill/>
          <a:ln/>
        </p:spPr>
        <p:txBody>
          <a:bodyPr wrap="square" lIns="0" tIns="0" rIns="0" bIns="0" rtlCol="0" anchor="ctr"/>
          <a:lstStyle/>
          <a:p>
            <a:pPr indent="0" marL="0">
              <a:buNone/>
            </a:pPr>
            <a:r>
              <a:rPr lang="en-US" sz="1600" b="1" dirty="0">
                <a:solidFill>
                  <a:srgbClr val="FFB000"/>
                </a:solidFill>
                <a:latin typeface="Calibri" pitchFamily="34" charset="0"/>
                <a:ea typeface="Calibri" pitchFamily="34" charset="-122"/>
                <a:cs typeface="Calibri" pitchFamily="34" charset="-120"/>
              </a:rPr>
              <a:t>A race in someone else's code</a:t>
            </a:r>
            <a:endParaRPr lang="en-US" sz="1600" dirty="0"/>
          </a:p>
        </p:txBody>
      </p:sp>
      <p:sp>
        <p:nvSpPr>
          <p:cNvPr id="18" name="Text 14"/>
          <p:cNvSpPr txBox="1"/>
          <p:nvPr/>
        </p:nvSpPr>
        <p:spPr>
          <a:xfrm>
            <a:off x="4566818" y="2743200"/>
            <a:ext cx="3058058" cy="228600"/>
          </a:xfrm>
          <a:prstGeom prst="rect">
            <a:avLst/>
          </a:prstGeom>
          <a:noFill/>
          <a:ln/>
        </p:spPr>
        <p:txBody>
          <a:bodyPr wrap="square" lIns="0" tIns="0" rIns="0" bIns="0" rtlCol="0" anchor="t"/>
          <a:lstStyle/>
          <a:p>
            <a:pPr indent="0" marL="0">
              <a:buNone/>
            </a:pPr>
            <a:r>
              <a:rPr lang="en-US" sz="1000" b="1" dirty="0">
                <a:solidFill>
                  <a:srgbClr val="A3ABCB"/>
                </a:solidFill>
                <a:latin typeface="Courier New" pitchFamily="34" charset="0"/>
                <a:ea typeface="Courier New" pitchFamily="34" charset="-122"/>
                <a:cs typeface="Courier New" pitchFamily="34" charset="-120"/>
              </a:rPr>
              <a:t>SYMPTOM</a:t>
            </a:r>
            <a:endParaRPr lang="en-US" sz="1000" dirty="0"/>
          </a:p>
        </p:txBody>
      </p:sp>
      <p:sp>
        <p:nvSpPr>
          <p:cNvPr id="19" name="Text 15"/>
          <p:cNvSpPr txBox="1"/>
          <p:nvPr/>
        </p:nvSpPr>
        <p:spPr>
          <a:xfrm>
            <a:off x="4566818" y="2971800"/>
            <a:ext cx="3058058" cy="603504"/>
          </a:xfrm>
          <a:prstGeom prst="rect">
            <a:avLst/>
          </a:prstGeom>
          <a:noFill/>
          <a:ln/>
        </p:spPr>
        <p:txBody>
          <a:bodyPr wrap="square" lIns="0" tIns="0" rIns="0" bIns="0" rtlCol="0" anchor="t"/>
          <a:lstStyle/>
          <a:p>
            <a:pPr indent="0" marL="0">
              <a:buNone/>
            </a:pPr>
            <a:r>
              <a:rPr lang="en-US" sz="1200" dirty="0">
                <a:solidFill>
                  <a:srgbClr val="EEF0F8"/>
                </a:solidFill>
                <a:latin typeface="Calibri" pitchFamily="34" charset="0"/>
                <a:ea typeface="Calibri" pitchFamily="34" charset="-122"/>
                <a:cs typeface="Calibri" pitchFamily="34" charset="-120"/>
              </a:rPr>
              <a:t>Host emulator aborted: “netnode mistmatch”.</a:t>
            </a:r>
            <a:endParaRPr lang="en-US" sz="1200" dirty="0"/>
          </a:p>
        </p:txBody>
      </p:sp>
      <p:sp>
        <p:nvSpPr>
          <p:cNvPr id="20" name="Text 16"/>
          <p:cNvSpPr txBox="1"/>
          <p:nvPr/>
        </p:nvSpPr>
        <p:spPr>
          <a:xfrm>
            <a:off x="4566818" y="3593592"/>
            <a:ext cx="3058058" cy="228600"/>
          </a:xfrm>
          <a:prstGeom prst="rect">
            <a:avLst/>
          </a:prstGeom>
          <a:noFill/>
          <a:ln/>
        </p:spPr>
        <p:txBody>
          <a:bodyPr wrap="square" lIns="0" tIns="0" rIns="0" bIns="0" rtlCol="0" anchor="t"/>
          <a:lstStyle/>
          <a:p>
            <a:pPr indent="0" marL="0">
              <a:buNone/>
            </a:pPr>
            <a:r>
              <a:rPr lang="en-US" sz="1000" b="1" dirty="0">
                <a:solidFill>
                  <a:srgbClr val="A3ABCB"/>
                </a:solidFill>
                <a:latin typeface="Courier New" pitchFamily="34" charset="0"/>
                <a:ea typeface="Courier New" pitchFamily="34" charset="-122"/>
                <a:cs typeface="Courier New" pitchFamily="34" charset="-120"/>
              </a:rPr>
              <a:t>ROOT CAUSE</a:t>
            </a:r>
            <a:endParaRPr lang="en-US" sz="1000" dirty="0"/>
          </a:p>
        </p:txBody>
      </p:sp>
      <p:sp>
        <p:nvSpPr>
          <p:cNvPr id="21" name="Text 17"/>
          <p:cNvSpPr txBox="1"/>
          <p:nvPr/>
        </p:nvSpPr>
        <p:spPr>
          <a:xfrm>
            <a:off x="4566818" y="3822192"/>
            <a:ext cx="3058058" cy="603504"/>
          </a:xfrm>
          <a:prstGeom prst="rect">
            <a:avLst/>
          </a:prstGeom>
          <a:noFill/>
          <a:ln/>
        </p:spPr>
        <p:txBody>
          <a:bodyPr wrap="square" lIns="0" tIns="0" rIns="0" bIns="0" rtlCol="0" anchor="t"/>
          <a:lstStyle/>
          <a:p>
            <a:pPr indent="0" marL="0">
              <a:buNone/>
            </a:pPr>
            <a:r>
              <a:rPr lang="en-US" sz="1200" dirty="0">
                <a:solidFill>
                  <a:srgbClr val="EEF0F8"/>
                </a:solidFill>
                <a:latin typeface="Calibri" pitchFamily="34" charset="0"/>
                <a:ea typeface="Calibri" pitchFamily="34" charset="-122"/>
                <a:cs typeface="Calibri" pitchFamily="34" charset="-120"/>
              </a:rPr>
              <a:t>Read the js-dos source: the guest registered before the host's IPX server existed.</a:t>
            </a:r>
            <a:endParaRPr lang="en-US" sz="1200" dirty="0"/>
          </a:p>
        </p:txBody>
      </p:sp>
      <p:sp>
        <p:nvSpPr>
          <p:cNvPr id="22" name="Text 18"/>
          <p:cNvSpPr txBox="1"/>
          <p:nvPr/>
        </p:nvSpPr>
        <p:spPr>
          <a:xfrm>
            <a:off x="4566818" y="4443984"/>
            <a:ext cx="3058058" cy="228600"/>
          </a:xfrm>
          <a:prstGeom prst="rect">
            <a:avLst/>
          </a:prstGeom>
          <a:noFill/>
          <a:ln/>
        </p:spPr>
        <p:txBody>
          <a:bodyPr wrap="square" lIns="0" tIns="0" rIns="0" bIns="0" rtlCol="0" anchor="t"/>
          <a:lstStyle/>
          <a:p>
            <a:pPr indent="0" marL="0">
              <a:buNone/>
            </a:pPr>
            <a:r>
              <a:rPr lang="en-US" sz="1000" b="1" dirty="0">
                <a:solidFill>
                  <a:srgbClr val="A3ABCB"/>
                </a:solidFill>
                <a:latin typeface="Courier New" pitchFamily="34" charset="0"/>
                <a:ea typeface="Courier New" pitchFamily="34" charset="-122"/>
                <a:cs typeface="Courier New" pitchFamily="34" charset="-120"/>
              </a:rPr>
              <a:t>FIX</a:t>
            </a:r>
            <a:endParaRPr lang="en-US" sz="1000" dirty="0"/>
          </a:p>
        </p:txBody>
      </p:sp>
      <p:sp>
        <p:nvSpPr>
          <p:cNvPr id="23" name="Text 19"/>
          <p:cNvSpPr txBox="1"/>
          <p:nvPr/>
        </p:nvSpPr>
        <p:spPr>
          <a:xfrm>
            <a:off x="4566818" y="4672584"/>
            <a:ext cx="3058058" cy="603504"/>
          </a:xfrm>
          <a:prstGeom prst="rect">
            <a:avLst/>
          </a:prstGeom>
          <a:noFill/>
          <a:ln/>
        </p:spPr>
        <p:txBody>
          <a:bodyPr wrap="square" lIns="0" tIns="0" rIns="0" bIns="0" rtlCol="0" anchor="t"/>
          <a:lstStyle/>
          <a:p>
            <a:pPr indent="0" marL="0">
              <a:buNone/>
            </a:pPr>
            <a:r>
              <a:rPr lang="en-US" sz="1200" dirty="0">
                <a:solidFill>
                  <a:srgbClr val="EEF0F8"/>
                </a:solidFill>
                <a:latin typeface="Calibri" pitchFamily="34" charset="0"/>
                <a:ea typeface="Calibri" pitchFamily="34" charset="-122"/>
                <a:cs typeface="Calibri" pitchFamily="34" charset="-120"/>
              </a:rPr>
              <a:t>A host-ready handshake; guests wait until the server announces itself.</a:t>
            </a:r>
            <a:endParaRPr lang="en-US" sz="1200" dirty="0"/>
          </a:p>
        </p:txBody>
      </p:sp>
      <p:sp>
        <p:nvSpPr>
          <p:cNvPr id="24" name="Shape 20"/>
          <p:cNvSpPr/>
          <p:nvPr/>
        </p:nvSpPr>
        <p:spPr>
          <a:xfrm>
            <a:off x="8127797" y="1783080"/>
            <a:ext cx="3515258" cy="3520440"/>
          </a:xfrm>
          <a:prstGeom prst="roundRect">
            <a:avLst>
              <a:gd name="adj" fmla="val 2081"/>
            </a:avLst>
          </a:prstGeom>
          <a:solidFill>
            <a:srgbClr val="182041"/>
          </a:solidFill>
          <a:ln w="12700">
            <a:solidFill>
              <a:srgbClr val="182041"/>
            </a:solidFill>
            <a:prstDash val="solid"/>
          </a:ln>
        </p:spPr>
      </p:sp>
      <p:sp>
        <p:nvSpPr>
          <p:cNvPr id="25" name="Shape 21"/>
          <p:cNvSpPr/>
          <p:nvPr/>
        </p:nvSpPr>
        <p:spPr>
          <a:xfrm>
            <a:off x="8356397" y="2011680"/>
            <a:ext cx="548640" cy="548640"/>
          </a:xfrm>
          <a:prstGeom prst="ellipse">
            <a:avLst/>
          </a:prstGeom>
          <a:solidFill>
            <a:srgbClr val="212B57"/>
          </a:solidFill>
          <a:ln w="12700">
            <a:solidFill>
              <a:srgbClr val="212B57"/>
            </a:solidFill>
            <a:prstDash val="solid"/>
          </a:ln>
        </p:spPr>
      </p:sp>
      <p:pic>
        <p:nvPicPr>
          <p:cNvPr id="26" name="Image 2" descr="preencoded.png">    </p:cNvPr>
          <p:cNvPicPr>
            <a:picLocks noChangeAspect="1"/>
          </p:cNvPicPr>
          <p:nvPr/>
        </p:nvPicPr>
        <p:blipFill>
          <a:blip r:embed="rId3"/>
          <a:stretch>
            <a:fillRect/>
          </a:stretch>
        </p:blipFill>
        <p:spPr>
          <a:xfrm>
            <a:off x="8477098" y="2132381"/>
            <a:ext cx="307238" cy="307238"/>
          </a:xfrm>
          <a:prstGeom prst="rect">
            <a:avLst/>
          </a:prstGeom>
        </p:spPr>
      </p:pic>
      <p:sp>
        <p:nvSpPr>
          <p:cNvPr id="27" name="Text 22"/>
          <p:cNvSpPr txBox="1"/>
          <p:nvPr/>
        </p:nvSpPr>
        <p:spPr>
          <a:xfrm>
            <a:off x="9042197" y="2011680"/>
            <a:ext cx="2417978" cy="594360"/>
          </a:xfrm>
          <a:prstGeom prst="rect">
            <a:avLst/>
          </a:prstGeom>
          <a:noFill/>
          <a:ln/>
        </p:spPr>
        <p:txBody>
          <a:bodyPr wrap="square" lIns="0" tIns="0" rIns="0" bIns="0" rtlCol="0" anchor="ctr"/>
          <a:lstStyle/>
          <a:p>
            <a:pPr indent="0" marL="0">
              <a:buNone/>
            </a:pPr>
            <a:r>
              <a:rPr lang="en-US" sz="1600" b="1" dirty="0">
                <a:solidFill>
                  <a:srgbClr val="FFB000"/>
                </a:solidFill>
                <a:latin typeface="Calibri" pitchFamily="34" charset="0"/>
                <a:ea typeface="Calibri" pitchFamily="34" charset="-122"/>
                <a:cs typeface="Calibri" pitchFamily="34" charset="-120"/>
              </a:rPr>
              <a:t>The bug only production had</a:t>
            </a:r>
            <a:endParaRPr lang="en-US" sz="1600" dirty="0"/>
          </a:p>
        </p:txBody>
      </p:sp>
      <p:sp>
        <p:nvSpPr>
          <p:cNvPr id="28" name="Text 23"/>
          <p:cNvSpPr txBox="1"/>
          <p:nvPr/>
        </p:nvSpPr>
        <p:spPr>
          <a:xfrm>
            <a:off x="8356397" y="2743200"/>
            <a:ext cx="3058058" cy="228600"/>
          </a:xfrm>
          <a:prstGeom prst="rect">
            <a:avLst/>
          </a:prstGeom>
          <a:noFill/>
          <a:ln/>
        </p:spPr>
        <p:txBody>
          <a:bodyPr wrap="square" lIns="0" tIns="0" rIns="0" bIns="0" rtlCol="0" anchor="t"/>
          <a:lstStyle/>
          <a:p>
            <a:pPr indent="0" marL="0">
              <a:buNone/>
            </a:pPr>
            <a:r>
              <a:rPr lang="en-US" sz="1000" b="1" dirty="0">
                <a:solidFill>
                  <a:srgbClr val="A3ABCB"/>
                </a:solidFill>
                <a:latin typeface="Courier New" pitchFamily="34" charset="0"/>
                <a:ea typeface="Courier New" pitchFamily="34" charset="-122"/>
                <a:cs typeface="Courier New" pitchFamily="34" charset="-120"/>
              </a:rPr>
              <a:t>SYMPTOM</a:t>
            </a:r>
            <a:endParaRPr lang="en-US" sz="1000" dirty="0"/>
          </a:p>
        </p:txBody>
      </p:sp>
      <p:sp>
        <p:nvSpPr>
          <p:cNvPr id="29" name="Text 24"/>
          <p:cNvSpPr txBox="1"/>
          <p:nvPr/>
        </p:nvSpPr>
        <p:spPr>
          <a:xfrm>
            <a:off x="8356397" y="2971800"/>
            <a:ext cx="3058058" cy="603504"/>
          </a:xfrm>
          <a:prstGeom prst="rect">
            <a:avLst/>
          </a:prstGeom>
          <a:noFill/>
          <a:ln/>
        </p:spPr>
        <p:txBody>
          <a:bodyPr wrap="square" lIns="0" tIns="0" rIns="0" bIns="0" rtlCol="0" anchor="t"/>
          <a:lstStyle/>
          <a:p>
            <a:pPr indent="0" marL="0">
              <a:buNone/>
            </a:pPr>
            <a:r>
              <a:rPr lang="en-US" sz="1200" dirty="0">
                <a:solidFill>
                  <a:srgbClr val="EEF0F8"/>
                </a:solidFill>
                <a:latin typeface="Calibri" pitchFamily="34" charset="0"/>
                <a:ea typeface="Calibri" pitchFamily="34" charset="-122"/>
                <a:cs typeface="Calibri" pitchFamily="34" charset="-120"/>
              </a:rPr>
              <a:t>From two screenshots: host fell back to a DOS prompt with ^C.</a:t>
            </a:r>
            <a:endParaRPr lang="en-US" sz="1200" dirty="0"/>
          </a:p>
        </p:txBody>
      </p:sp>
      <p:sp>
        <p:nvSpPr>
          <p:cNvPr id="30" name="Text 25"/>
          <p:cNvSpPr txBox="1"/>
          <p:nvPr/>
        </p:nvSpPr>
        <p:spPr>
          <a:xfrm>
            <a:off x="8356397" y="3593592"/>
            <a:ext cx="3058058" cy="228600"/>
          </a:xfrm>
          <a:prstGeom prst="rect">
            <a:avLst/>
          </a:prstGeom>
          <a:noFill/>
          <a:ln/>
        </p:spPr>
        <p:txBody>
          <a:bodyPr wrap="square" lIns="0" tIns="0" rIns="0" bIns="0" rtlCol="0" anchor="t"/>
          <a:lstStyle/>
          <a:p>
            <a:pPr indent="0" marL="0">
              <a:buNone/>
            </a:pPr>
            <a:r>
              <a:rPr lang="en-US" sz="1000" b="1" dirty="0">
                <a:solidFill>
                  <a:srgbClr val="A3ABCB"/>
                </a:solidFill>
                <a:latin typeface="Courier New" pitchFamily="34" charset="0"/>
                <a:ea typeface="Courier New" pitchFamily="34" charset="-122"/>
                <a:cs typeface="Courier New" pitchFamily="34" charset="-120"/>
              </a:rPr>
              <a:t>ROOT CAUSE</a:t>
            </a:r>
            <a:endParaRPr lang="en-US" sz="1000" dirty="0"/>
          </a:p>
        </p:txBody>
      </p:sp>
      <p:sp>
        <p:nvSpPr>
          <p:cNvPr id="31" name="Text 26"/>
          <p:cNvSpPr txBox="1"/>
          <p:nvPr/>
        </p:nvSpPr>
        <p:spPr>
          <a:xfrm>
            <a:off x="8356397" y="3822192"/>
            <a:ext cx="3058058" cy="603504"/>
          </a:xfrm>
          <a:prstGeom prst="rect">
            <a:avLst/>
          </a:prstGeom>
          <a:noFill/>
          <a:ln/>
        </p:spPr>
        <p:txBody>
          <a:bodyPr wrap="square" lIns="0" tIns="0" rIns="0" bIns="0" rtlCol="0" anchor="t"/>
          <a:lstStyle/>
          <a:p>
            <a:pPr indent="0" marL="0">
              <a:buNone/>
            </a:pPr>
            <a:r>
              <a:rPr lang="en-US" sz="1200" dirty="0">
                <a:solidFill>
                  <a:srgbClr val="EEF0F8"/>
                </a:solidFill>
                <a:latin typeface="Calibri" pitchFamily="34" charset="0"/>
                <a:ea typeface="Calibri" pitchFamily="34" charset="-122"/>
                <a:cs typeface="Calibri" pitchFamily="34" charset="-120"/>
              </a:rPr>
              <a:t>Ctrl+C to copy the join code went to DOS; js-dos listens on the whole window.</a:t>
            </a:r>
            <a:endParaRPr lang="en-US" sz="1200" dirty="0"/>
          </a:p>
        </p:txBody>
      </p:sp>
      <p:sp>
        <p:nvSpPr>
          <p:cNvPr id="32" name="Text 27"/>
          <p:cNvSpPr txBox="1"/>
          <p:nvPr/>
        </p:nvSpPr>
        <p:spPr>
          <a:xfrm>
            <a:off x="8356397" y="4443984"/>
            <a:ext cx="3058058" cy="228600"/>
          </a:xfrm>
          <a:prstGeom prst="rect">
            <a:avLst/>
          </a:prstGeom>
          <a:noFill/>
          <a:ln/>
        </p:spPr>
        <p:txBody>
          <a:bodyPr wrap="square" lIns="0" tIns="0" rIns="0" bIns="0" rtlCol="0" anchor="t"/>
          <a:lstStyle/>
          <a:p>
            <a:pPr indent="0" marL="0">
              <a:buNone/>
            </a:pPr>
            <a:r>
              <a:rPr lang="en-US" sz="1000" b="1" dirty="0">
                <a:solidFill>
                  <a:srgbClr val="A3ABCB"/>
                </a:solidFill>
                <a:latin typeface="Courier New" pitchFamily="34" charset="0"/>
                <a:ea typeface="Courier New" pitchFamily="34" charset="-122"/>
                <a:cs typeface="Courier New" pitchFamily="34" charset="-120"/>
              </a:rPr>
              <a:t>FIX</a:t>
            </a:r>
            <a:endParaRPr lang="en-US" sz="1000" dirty="0"/>
          </a:p>
        </p:txBody>
      </p:sp>
      <p:sp>
        <p:nvSpPr>
          <p:cNvPr id="33" name="Text 28"/>
          <p:cNvSpPr txBox="1"/>
          <p:nvPr/>
        </p:nvSpPr>
        <p:spPr>
          <a:xfrm>
            <a:off x="8356397" y="4672584"/>
            <a:ext cx="3058058" cy="603504"/>
          </a:xfrm>
          <a:prstGeom prst="rect">
            <a:avLst/>
          </a:prstGeom>
          <a:noFill/>
          <a:ln/>
        </p:spPr>
        <p:txBody>
          <a:bodyPr wrap="square" lIns="0" tIns="0" rIns="0" bIns="0" rtlCol="0" anchor="t"/>
          <a:lstStyle/>
          <a:p>
            <a:pPr indent="0" marL="0">
              <a:buNone/>
            </a:pPr>
            <a:r>
              <a:rPr lang="en-US" sz="1200" dirty="0">
                <a:solidFill>
                  <a:srgbClr val="EEF0F8"/>
                </a:solidFill>
                <a:latin typeface="Calibri" pitchFamily="34" charset="0"/>
                <a:ea typeface="Calibri" pitchFamily="34" charset="-122"/>
                <a:cs typeface="Calibri" pitchFamily="34" charset="-120"/>
              </a:rPr>
              <a:t>Keyboard ownership: DOS only gets keys after you click it. Reproduced in a test first.</a:t>
            </a:r>
            <a:endParaRPr lang="en-US" sz="1200" dirty="0"/>
          </a:p>
        </p:txBody>
      </p:sp>
      <p:sp>
        <p:nvSpPr>
          <p:cNvPr id="34" name="Shape 29"/>
          <p:cNvSpPr/>
          <p:nvPr/>
        </p:nvSpPr>
        <p:spPr>
          <a:xfrm>
            <a:off x="548640" y="5532120"/>
            <a:ext cx="11094415" cy="868680"/>
          </a:xfrm>
          <a:prstGeom prst="roundRect">
            <a:avLst>
              <a:gd name="adj" fmla="val 8421"/>
            </a:avLst>
          </a:prstGeom>
          <a:solidFill>
            <a:srgbClr val="2A2310"/>
          </a:solidFill>
          <a:ln w="12700">
            <a:solidFill>
              <a:srgbClr val="2A2310"/>
            </a:solidFill>
            <a:prstDash val="solid"/>
          </a:ln>
        </p:spPr>
      </p:sp>
      <p:sp>
        <p:nvSpPr>
          <p:cNvPr id="35" name="Shape 30"/>
          <p:cNvSpPr/>
          <p:nvPr/>
        </p:nvSpPr>
        <p:spPr>
          <a:xfrm>
            <a:off x="777240" y="5715000"/>
            <a:ext cx="502920" cy="502920"/>
          </a:xfrm>
          <a:prstGeom prst="ellipse">
            <a:avLst/>
          </a:prstGeom>
          <a:solidFill>
            <a:srgbClr val="FFB000"/>
          </a:solidFill>
          <a:ln w="12700">
            <a:solidFill>
              <a:srgbClr val="FFB000"/>
            </a:solidFill>
            <a:prstDash val="solid"/>
          </a:ln>
        </p:spPr>
      </p:sp>
      <p:pic>
        <p:nvPicPr>
          <p:cNvPr id="36" name="Image 3" descr="preencoded.png">    </p:cNvPr>
          <p:cNvPicPr>
            <a:picLocks noChangeAspect="1"/>
          </p:cNvPicPr>
          <p:nvPr/>
        </p:nvPicPr>
        <p:blipFill>
          <a:blip r:embed="rId4"/>
          <a:stretch>
            <a:fillRect/>
          </a:stretch>
        </p:blipFill>
        <p:spPr>
          <a:xfrm>
            <a:off x="887882" y="5825642"/>
            <a:ext cx="281635" cy="281635"/>
          </a:xfrm>
          <a:prstGeom prst="rect">
            <a:avLst/>
          </a:prstGeom>
        </p:spPr>
      </p:pic>
      <p:sp>
        <p:nvSpPr>
          <p:cNvPr id="37" name="Text 31"/>
          <p:cNvSpPr txBox="1"/>
          <p:nvPr/>
        </p:nvSpPr>
        <p:spPr>
          <a:xfrm>
            <a:off x="1508760" y="5678424"/>
            <a:ext cx="1828800" cy="228600"/>
          </a:xfrm>
          <a:prstGeom prst="rect">
            <a:avLst/>
          </a:prstGeom>
          <a:noFill/>
          <a:ln/>
        </p:spPr>
        <p:txBody>
          <a:bodyPr wrap="square" lIns="0" tIns="0" rIns="0" bIns="0" rtlCol="0" anchor="t"/>
          <a:lstStyle/>
          <a:p>
            <a:pPr indent="0" marL="0">
              <a:buNone/>
            </a:pPr>
            <a:r>
              <a:rPr lang="en-US" sz="1100" b="1" dirty="0">
                <a:solidFill>
                  <a:srgbClr val="FFB000"/>
                </a:solidFill>
                <a:latin typeface="Courier New" pitchFamily="34" charset="0"/>
                <a:ea typeface="Courier New" pitchFamily="34" charset="-122"/>
                <a:cs typeface="Courier New" pitchFamily="34" charset="-120"/>
              </a:rPr>
              <a:t>AI LESSON</a:t>
            </a:r>
            <a:endParaRPr lang="en-US" sz="1100" dirty="0"/>
          </a:p>
        </p:txBody>
      </p:sp>
      <p:sp>
        <p:nvSpPr>
          <p:cNvPr id="38" name="Text 32"/>
          <p:cNvSpPr txBox="1"/>
          <p:nvPr/>
        </p:nvSpPr>
        <p:spPr>
          <a:xfrm>
            <a:off x="1508760" y="5916168"/>
            <a:ext cx="9905695" cy="411480"/>
          </a:xfrm>
          <a:prstGeom prst="rect">
            <a:avLst/>
          </a:prstGeom>
          <a:noFill/>
          <a:ln/>
        </p:spPr>
        <p:txBody>
          <a:bodyPr wrap="square" lIns="0" tIns="0" rIns="0" bIns="0" rtlCol="0" anchor="t"/>
          <a:lstStyle/>
          <a:p>
            <a:pPr indent="0" marL="0">
              <a:buNone/>
            </a:pPr>
            <a:r>
              <a:rPr lang="en-US" sz="1500" dirty="0">
                <a:solidFill>
                  <a:srgbClr val="EEF0F8"/>
                </a:solidFill>
                <a:latin typeface="Calibri" pitchFamily="34" charset="0"/>
                <a:ea typeface="Calibri" pitchFamily="34" charset="-122"/>
                <a:cs typeface="Calibri" pitchFamily="34" charset="-120"/>
              </a:rPr>
              <a:t>AI is fast at plausible explanations. Insist on evidence: logs, a repro, root cause in the source, and a test that fails before the fix.</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224"/>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t"/>
          <a:lstStyle/>
          <a:p>
            <a:pPr indent="0" marL="0">
              <a:buNone/>
            </a:pPr>
            <a:r>
              <a:rPr lang="en-US" sz="1400" b="1" dirty="0">
                <a:solidFill>
                  <a:srgbClr val="FFB000"/>
                </a:solidFill>
                <a:latin typeface="Courier New" pitchFamily="34" charset="0"/>
                <a:ea typeface="Courier New" pitchFamily="34" charset="-122"/>
                <a:cs typeface="Courier New" pitchFamily="34" charset="-120"/>
              </a:rPr>
              <a:t>C:\&gt; MEM /PHASES</a:t>
            </a:r>
            <a:endParaRPr lang="en-US" sz="1400" dirty="0"/>
          </a:p>
        </p:txBody>
      </p:sp>
      <p:sp>
        <p:nvSpPr>
          <p:cNvPr id="3" name="Text 1"/>
          <p:cNvSpPr txBox="1"/>
          <p:nvPr/>
        </p:nvSpPr>
        <p:spPr>
          <a:xfrm>
            <a:off x="548640" y="777240"/>
            <a:ext cx="11094415" cy="685800"/>
          </a:xfrm>
          <a:prstGeom prst="rect">
            <a:avLst/>
          </a:prstGeom>
          <a:noFill/>
          <a:ln/>
        </p:spPr>
        <p:txBody>
          <a:bodyPr wrap="square" lIns="0" tIns="0" rIns="0" bIns="0" rtlCol="0" anchor="ctr"/>
          <a:lstStyle/>
          <a:p>
            <a:pPr indent="0" marL="0">
              <a:buNone/>
            </a:pPr>
            <a:r>
              <a:rPr lang="en-US" sz="3200" b="1" dirty="0">
                <a:solidFill>
                  <a:srgbClr val="EEF0F8"/>
                </a:solidFill>
                <a:latin typeface="Courier New" pitchFamily="34" charset="0"/>
                <a:ea typeface="Courier New" pitchFamily="34" charset="-122"/>
                <a:cs typeface="Courier New" pitchFamily="34" charset="-120"/>
              </a:rPr>
              <a:t>What accumulated across the phases</a:t>
            </a:r>
            <a:endParaRPr lang="en-US" sz="3200" dirty="0"/>
          </a:p>
        </p:txBody>
      </p:sp>
      <p:graphicFrame>
        <p:nvGraphicFramePr>
          <p:cNvPr id="4" name="Chart 0" descr=""/>
          <p:cNvGraphicFramePr/>
          <p:nvPr/>
        </p:nvGraphicFramePr>
        <p:xfrm>
          <a:off x="548640" y="1737360"/>
          <a:ext cx="539496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48095" y="1737360"/>
          <a:ext cx="5394960" cy="329184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548640" y="5257800"/>
            <a:ext cx="3515258" cy="914400"/>
          </a:xfrm>
          <a:prstGeom prst="roundRect">
            <a:avLst>
              <a:gd name="adj" fmla="val 8000"/>
            </a:avLst>
          </a:prstGeom>
          <a:solidFill>
            <a:srgbClr val="182041"/>
          </a:solidFill>
          <a:ln w="12700">
            <a:solidFill>
              <a:srgbClr val="182041"/>
            </a:solidFill>
            <a:prstDash val="solid"/>
          </a:ln>
        </p:spPr>
      </p:sp>
      <p:sp>
        <p:nvSpPr>
          <p:cNvPr id="7" name="Text 3"/>
          <p:cNvSpPr txBox="1"/>
          <p:nvPr/>
        </p:nvSpPr>
        <p:spPr>
          <a:xfrm>
            <a:off x="777240" y="5349240"/>
            <a:ext cx="1737360" cy="731520"/>
          </a:xfrm>
          <a:prstGeom prst="rect">
            <a:avLst/>
          </a:prstGeom>
          <a:noFill/>
          <a:ln/>
        </p:spPr>
        <p:txBody>
          <a:bodyPr wrap="square" lIns="0" tIns="0" rIns="0" bIns="0" rtlCol="0" anchor="ctr"/>
          <a:lstStyle/>
          <a:p>
            <a:pPr indent="0" marL="0">
              <a:buNone/>
            </a:pPr>
            <a:r>
              <a:rPr lang="en-US" sz="2600" b="1" dirty="0">
                <a:solidFill>
                  <a:srgbClr val="FFB000"/>
                </a:solidFill>
                <a:latin typeface="Courier New" pitchFamily="34" charset="0"/>
                <a:ea typeface="Courier New" pitchFamily="34" charset="-122"/>
                <a:cs typeface="Courier New" pitchFamily="34" charset="-120"/>
              </a:rPr>
              <a:t>5 → 19</a:t>
            </a:r>
            <a:endParaRPr lang="en-US" sz="2600" dirty="0"/>
          </a:p>
        </p:txBody>
      </p:sp>
      <p:sp>
        <p:nvSpPr>
          <p:cNvPr id="8" name="Text 4"/>
          <p:cNvSpPr txBox="1"/>
          <p:nvPr/>
        </p:nvSpPr>
        <p:spPr>
          <a:xfrm>
            <a:off x="2560320" y="5349240"/>
            <a:ext cx="1320698" cy="731520"/>
          </a:xfrm>
          <a:prstGeom prst="rect">
            <a:avLst/>
          </a:prstGeom>
          <a:noFill/>
          <a:ln/>
        </p:spPr>
        <p:txBody>
          <a:bodyPr wrap="square" lIns="0" tIns="0" rIns="0" bIns="0" rtlCol="0" anchor="ctr"/>
          <a:lstStyle/>
          <a:p>
            <a:pPr indent="0" marL="0">
              <a:buNone/>
            </a:pPr>
            <a:r>
              <a:rPr lang="en-US" sz="1400" dirty="0">
                <a:solidFill>
                  <a:srgbClr val="EEF0F8"/>
                </a:solidFill>
                <a:latin typeface="Calibri" pitchFamily="34" charset="0"/>
                <a:ea typeface="Calibri" pitchFamily="34" charset="-122"/>
                <a:cs typeface="Calibri" pitchFamily="34" charset="-120"/>
              </a:rPr>
              <a:t>design &amp; ops docs</a:t>
            </a:r>
            <a:endParaRPr lang="en-US" sz="1400" dirty="0"/>
          </a:p>
        </p:txBody>
      </p:sp>
      <p:sp>
        <p:nvSpPr>
          <p:cNvPr id="9" name="Shape 5"/>
          <p:cNvSpPr/>
          <p:nvPr/>
        </p:nvSpPr>
        <p:spPr>
          <a:xfrm>
            <a:off x="4338218" y="5257800"/>
            <a:ext cx="3515258" cy="914400"/>
          </a:xfrm>
          <a:prstGeom prst="roundRect">
            <a:avLst>
              <a:gd name="adj" fmla="val 8000"/>
            </a:avLst>
          </a:prstGeom>
          <a:solidFill>
            <a:srgbClr val="182041"/>
          </a:solidFill>
          <a:ln w="12700">
            <a:solidFill>
              <a:srgbClr val="182041"/>
            </a:solidFill>
            <a:prstDash val="solid"/>
          </a:ln>
        </p:spPr>
      </p:sp>
      <p:sp>
        <p:nvSpPr>
          <p:cNvPr id="10" name="Text 6"/>
          <p:cNvSpPr txBox="1"/>
          <p:nvPr/>
        </p:nvSpPr>
        <p:spPr>
          <a:xfrm>
            <a:off x="4566818" y="5349240"/>
            <a:ext cx="1737360" cy="731520"/>
          </a:xfrm>
          <a:prstGeom prst="rect">
            <a:avLst/>
          </a:prstGeom>
          <a:noFill/>
          <a:ln/>
        </p:spPr>
        <p:txBody>
          <a:bodyPr wrap="square" lIns="0" tIns="0" rIns="0" bIns="0" rtlCol="0" anchor="ctr"/>
          <a:lstStyle/>
          <a:p>
            <a:pPr indent="0" marL="0">
              <a:buNone/>
            </a:pPr>
            <a:r>
              <a:rPr lang="en-US" sz="2600" b="1" dirty="0">
                <a:solidFill>
                  <a:srgbClr val="FFB000"/>
                </a:solidFill>
                <a:latin typeface="Courier New" pitchFamily="34" charset="0"/>
                <a:ea typeface="Courier New" pitchFamily="34" charset="-122"/>
                <a:cs typeface="Courier New" pitchFamily="34" charset="-120"/>
              </a:rPr>
              <a:t>0 → 6</a:t>
            </a:r>
            <a:endParaRPr lang="en-US" sz="2600" dirty="0"/>
          </a:p>
        </p:txBody>
      </p:sp>
      <p:sp>
        <p:nvSpPr>
          <p:cNvPr id="11" name="Text 7"/>
          <p:cNvSpPr txBox="1"/>
          <p:nvPr/>
        </p:nvSpPr>
        <p:spPr>
          <a:xfrm>
            <a:off x="6349898" y="5349240"/>
            <a:ext cx="1320698" cy="731520"/>
          </a:xfrm>
          <a:prstGeom prst="rect">
            <a:avLst/>
          </a:prstGeom>
          <a:noFill/>
          <a:ln/>
        </p:spPr>
        <p:txBody>
          <a:bodyPr wrap="square" lIns="0" tIns="0" rIns="0" bIns="0" rtlCol="0" anchor="ctr"/>
          <a:lstStyle/>
          <a:p>
            <a:pPr indent="0" marL="0">
              <a:buNone/>
            </a:pPr>
            <a:r>
              <a:rPr lang="en-US" sz="1400" dirty="0">
                <a:solidFill>
                  <a:srgbClr val="EEF0F8"/>
                </a:solidFill>
                <a:latin typeface="Calibri" pitchFamily="34" charset="0"/>
                <a:ea typeface="Calibri" pitchFamily="34" charset="-122"/>
                <a:cs typeface="Calibri" pitchFamily="34" charset="-120"/>
              </a:rPr>
              <a:t>architecture decision records</a:t>
            </a:r>
            <a:endParaRPr lang="en-US" sz="1400" dirty="0"/>
          </a:p>
        </p:txBody>
      </p:sp>
      <p:sp>
        <p:nvSpPr>
          <p:cNvPr id="12" name="Shape 8"/>
          <p:cNvSpPr/>
          <p:nvPr/>
        </p:nvSpPr>
        <p:spPr>
          <a:xfrm>
            <a:off x="8127797" y="5257800"/>
            <a:ext cx="3515258" cy="914400"/>
          </a:xfrm>
          <a:prstGeom prst="roundRect">
            <a:avLst>
              <a:gd name="adj" fmla="val 8000"/>
            </a:avLst>
          </a:prstGeom>
          <a:solidFill>
            <a:srgbClr val="182041"/>
          </a:solidFill>
          <a:ln w="12700">
            <a:solidFill>
              <a:srgbClr val="182041"/>
            </a:solidFill>
            <a:prstDash val="solid"/>
          </a:ln>
        </p:spPr>
      </p:sp>
      <p:sp>
        <p:nvSpPr>
          <p:cNvPr id="13" name="Text 9"/>
          <p:cNvSpPr txBox="1"/>
          <p:nvPr/>
        </p:nvSpPr>
        <p:spPr>
          <a:xfrm>
            <a:off x="8356397" y="5349240"/>
            <a:ext cx="1737360" cy="731520"/>
          </a:xfrm>
          <a:prstGeom prst="rect">
            <a:avLst/>
          </a:prstGeom>
          <a:noFill/>
          <a:ln/>
        </p:spPr>
        <p:txBody>
          <a:bodyPr wrap="square" lIns="0" tIns="0" rIns="0" bIns="0" rtlCol="0" anchor="ctr"/>
          <a:lstStyle/>
          <a:p>
            <a:pPr indent="0" marL="0">
              <a:buNone/>
            </a:pPr>
            <a:r>
              <a:rPr lang="en-US" sz="2600" b="1" dirty="0">
                <a:solidFill>
                  <a:srgbClr val="FFB000"/>
                </a:solidFill>
                <a:latin typeface="Courier New" pitchFamily="34" charset="0"/>
                <a:ea typeface="Courier New" pitchFamily="34" charset="-122"/>
                <a:cs typeface="Courier New" pitchFamily="34" charset="-120"/>
              </a:rPr>
              <a:t>1 → 4</a:t>
            </a:r>
            <a:endParaRPr lang="en-US" sz="2600" dirty="0"/>
          </a:p>
        </p:txBody>
      </p:sp>
      <p:sp>
        <p:nvSpPr>
          <p:cNvPr id="14" name="Text 10"/>
          <p:cNvSpPr txBox="1"/>
          <p:nvPr/>
        </p:nvSpPr>
        <p:spPr>
          <a:xfrm>
            <a:off x="10139477" y="5349240"/>
            <a:ext cx="1320698" cy="731520"/>
          </a:xfrm>
          <a:prstGeom prst="rect">
            <a:avLst/>
          </a:prstGeom>
          <a:noFill/>
          <a:ln/>
        </p:spPr>
        <p:txBody>
          <a:bodyPr wrap="square" lIns="0" tIns="0" rIns="0" bIns="0" rtlCol="0" anchor="ctr"/>
          <a:lstStyle/>
          <a:p>
            <a:pPr indent="0" marL="0">
              <a:buNone/>
            </a:pPr>
            <a:r>
              <a:rPr lang="en-US" sz="1400" dirty="0">
                <a:solidFill>
                  <a:srgbClr val="EEF0F8"/>
                </a:solidFill>
                <a:latin typeface="Calibri" pitchFamily="34" charset="0"/>
                <a:ea typeface="Calibri" pitchFamily="34" charset="-122"/>
                <a:cs typeface="Calibri" pitchFamily="34" charset="-120"/>
              </a:rPr>
              <a:t>real-browser test suites</a:t>
            </a:r>
            <a:endParaRPr lang="en-US" sz="1400" dirty="0"/>
          </a:p>
        </p:txBody>
      </p:sp>
      <p:sp>
        <p:nvSpPr>
          <p:cNvPr id="15" name="Text 11"/>
          <p:cNvSpPr txBox="1"/>
          <p:nvPr/>
        </p:nvSpPr>
        <p:spPr>
          <a:xfrm>
            <a:off x="548640" y="6309360"/>
            <a:ext cx="11094415" cy="274320"/>
          </a:xfrm>
          <a:prstGeom prst="rect">
            <a:avLst/>
          </a:prstGeom>
          <a:noFill/>
          <a:ln/>
        </p:spPr>
        <p:txBody>
          <a:bodyPr wrap="square" lIns="0" tIns="0" rIns="0" bIns="0" rtlCol="0" anchor="t"/>
          <a:lstStyle/>
          <a:p>
            <a:pPr indent="0" marL="0">
              <a:buNone/>
            </a:pPr>
            <a:r>
              <a:rPr lang="en-US" sz="1100" dirty="0">
                <a:solidFill>
                  <a:srgbClr val="A3ABCB"/>
                </a:solidFill>
                <a:latin typeface="Calibri" pitchFamily="34" charset="0"/>
                <a:ea typeface="Calibri" pitchFamily="34" charset="-122"/>
                <a:cs typeface="Calibri" pitchFamily="34" charset="-120"/>
              </a:rPr>
              <a:t>Node test cases; browser suites counted separately. Application code excludes the vendored emulator.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224"/>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t"/>
          <a:lstStyle/>
          <a:p>
            <a:pPr indent="0" marL="0">
              <a:buNone/>
            </a:pPr>
            <a:r>
              <a:rPr lang="en-US" sz="1400" b="1" dirty="0">
                <a:solidFill>
                  <a:srgbClr val="FFB000"/>
                </a:solidFill>
                <a:latin typeface="Courier New" pitchFamily="34" charset="0"/>
                <a:ea typeface="Courier New" pitchFamily="34" charset="-122"/>
                <a:cs typeface="Courier New" pitchFamily="34" charset="-120"/>
              </a:rPr>
              <a:t>C:\&gt; TYPE LESSONS.TXT</a:t>
            </a:r>
            <a:endParaRPr lang="en-US" sz="1400" dirty="0"/>
          </a:p>
        </p:txBody>
      </p:sp>
      <p:sp>
        <p:nvSpPr>
          <p:cNvPr id="3" name="Text 1"/>
          <p:cNvSpPr txBox="1"/>
          <p:nvPr/>
        </p:nvSpPr>
        <p:spPr>
          <a:xfrm>
            <a:off x="548640" y="777240"/>
            <a:ext cx="11094415" cy="685800"/>
          </a:xfrm>
          <a:prstGeom prst="rect">
            <a:avLst/>
          </a:prstGeom>
          <a:noFill/>
          <a:ln/>
        </p:spPr>
        <p:txBody>
          <a:bodyPr wrap="square" lIns="0" tIns="0" rIns="0" bIns="0" rtlCol="0" anchor="ctr"/>
          <a:lstStyle/>
          <a:p>
            <a:pPr indent="0" marL="0">
              <a:buNone/>
            </a:pPr>
            <a:r>
              <a:rPr lang="en-US" sz="3200" b="1" dirty="0">
                <a:solidFill>
                  <a:srgbClr val="EEF0F8"/>
                </a:solidFill>
                <a:latin typeface="Courier New" pitchFamily="34" charset="0"/>
                <a:ea typeface="Courier New" pitchFamily="34" charset="-122"/>
                <a:cs typeface="Courier New" pitchFamily="34" charset="-120"/>
              </a:rPr>
              <a:t>From hype to production: five habits</a:t>
            </a:r>
            <a:endParaRPr lang="en-US" sz="3200" dirty="0"/>
          </a:p>
        </p:txBody>
      </p:sp>
      <p:sp>
        <p:nvSpPr>
          <p:cNvPr id="4" name="Shape 2"/>
          <p:cNvSpPr/>
          <p:nvPr/>
        </p:nvSpPr>
        <p:spPr>
          <a:xfrm>
            <a:off x="548640" y="1737360"/>
            <a:ext cx="11094415" cy="640080"/>
          </a:xfrm>
          <a:prstGeom prst="roundRect">
            <a:avLst>
              <a:gd name="adj" fmla="val 11429"/>
            </a:avLst>
          </a:prstGeom>
          <a:solidFill>
            <a:srgbClr val="182041"/>
          </a:solidFill>
          <a:ln w="12700">
            <a:solidFill>
              <a:srgbClr val="182041"/>
            </a:solidFill>
            <a:prstDash val="solid"/>
          </a:ln>
        </p:spPr>
      </p:sp>
      <p:sp>
        <p:nvSpPr>
          <p:cNvPr id="5" name="Text 3"/>
          <p:cNvSpPr txBox="1"/>
          <p:nvPr/>
        </p:nvSpPr>
        <p:spPr>
          <a:xfrm>
            <a:off x="777240" y="1737360"/>
            <a:ext cx="731520" cy="640080"/>
          </a:xfrm>
          <a:prstGeom prst="rect">
            <a:avLst/>
          </a:prstGeom>
          <a:noFill/>
          <a:ln/>
        </p:spPr>
        <p:txBody>
          <a:bodyPr wrap="square" lIns="0" tIns="0" rIns="0" bIns="0" rtlCol="0" anchor="ctr"/>
          <a:lstStyle/>
          <a:p>
            <a:pPr indent="0" marL="0">
              <a:buNone/>
            </a:pPr>
            <a:r>
              <a:rPr lang="en-US" sz="2200" b="1" dirty="0">
                <a:solidFill>
                  <a:srgbClr val="FFB000"/>
                </a:solidFill>
                <a:latin typeface="Courier New" pitchFamily="34" charset="0"/>
                <a:ea typeface="Courier New" pitchFamily="34" charset="-122"/>
                <a:cs typeface="Courier New" pitchFamily="34" charset="-120"/>
              </a:rPr>
              <a:t>01</a:t>
            </a:r>
            <a:endParaRPr lang="en-US" sz="2200" dirty="0"/>
          </a:p>
        </p:txBody>
      </p:sp>
      <p:sp>
        <p:nvSpPr>
          <p:cNvPr id="6" name="Text 4"/>
          <p:cNvSpPr txBox="1"/>
          <p:nvPr/>
        </p:nvSpPr>
        <p:spPr>
          <a:xfrm>
            <a:off x="1554480" y="1737360"/>
            <a:ext cx="4846320" cy="640080"/>
          </a:xfrm>
          <a:prstGeom prst="rect">
            <a:avLst/>
          </a:prstGeom>
          <a:noFill/>
          <a:ln/>
        </p:spPr>
        <p:txBody>
          <a:bodyPr wrap="square" lIns="0" tIns="0" rIns="0" bIns="0" rtlCol="0" anchor="ctr"/>
          <a:lstStyle/>
          <a:p>
            <a:pPr indent="0" marL="0">
              <a:buNone/>
            </a:pPr>
            <a:r>
              <a:rPr lang="en-US" sz="1800" b="1" dirty="0">
                <a:solidFill>
                  <a:srgbClr val="EEF0F8"/>
                </a:solidFill>
                <a:latin typeface="Calibri" pitchFamily="34" charset="0"/>
                <a:ea typeface="Calibri" pitchFamily="34" charset="-122"/>
                <a:cs typeface="Calibri" pitchFamily="34" charset="-120"/>
              </a:rPr>
              <a:t>Spike to learn, not to ship</a:t>
            </a:r>
            <a:endParaRPr lang="en-US" sz="1800" dirty="0"/>
          </a:p>
        </p:txBody>
      </p:sp>
      <p:sp>
        <p:nvSpPr>
          <p:cNvPr id="7" name="Text 5"/>
          <p:cNvSpPr txBox="1"/>
          <p:nvPr/>
        </p:nvSpPr>
        <p:spPr>
          <a:xfrm>
            <a:off x="6492240" y="1737360"/>
            <a:ext cx="4967935" cy="640080"/>
          </a:xfrm>
          <a:prstGeom prst="rect">
            <a:avLst/>
          </a:prstGeom>
          <a:noFill/>
          <a:ln/>
        </p:spPr>
        <p:txBody>
          <a:bodyPr wrap="square" lIns="0" tIns="0" rIns="0" bIns="0" rtlCol="0" anchor="ctr"/>
          <a:lstStyle/>
          <a:p>
            <a:pPr indent="0" marL="0">
              <a:buNone/>
            </a:pPr>
            <a:r>
              <a:rPr lang="en-US" sz="1500" dirty="0">
                <a:solidFill>
                  <a:srgbClr val="A3ABCB"/>
                </a:solidFill>
                <a:latin typeface="Calibri" pitchFamily="34" charset="0"/>
                <a:ea typeface="Calibri" pitchFamily="34" charset="-122"/>
                <a:cs typeface="Calibri" pitchFamily="34" charset="-120"/>
              </a:rPr>
              <a:t>Cheap prototypes exist to kill bad assumptions early.</a:t>
            </a:r>
            <a:endParaRPr lang="en-US" sz="1500" dirty="0"/>
          </a:p>
        </p:txBody>
      </p:sp>
      <p:sp>
        <p:nvSpPr>
          <p:cNvPr id="8" name="Shape 6"/>
          <p:cNvSpPr/>
          <p:nvPr/>
        </p:nvSpPr>
        <p:spPr>
          <a:xfrm>
            <a:off x="548640" y="2505456"/>
            <a:ext cx="11094415" cy="640080"/>
          </a:xfrm>
          <a:prstGeom prst="roundRect">
            <a:avLst>
              <a:gd name="adj" fmla="val 11429"/>
            </a:avLst>
          </a:prstGeom>
          <a:solidFill>
            <a:srgbClr val="182041"/>
          </a:solidFill>
          <a:ln w="12700">
            <a:solidFill>
              <a:srgbClr val="182041"/>
            </a:solidFill>
            <a:prstDash val="solid"/>
          </a:ln>
        </p:spPr>
      </p:sp>
      <p:sp>
        <p:nvSpPr>
          <p:cNvPr id="9" name="Text 7"/>
          <p:cNvSpPr txBox="1"/>
          <p:nvPr/>
        </p:nvSpPr>
        <p:spPr>
          <a:xfrm>
            <a:off x="777240" y="2505456"/>
            <a:ext cx="731520" cy="640080"/>
          </a:xfrm>
          <a:prstGeom prst="rect">
            <a:avLst/>
          </a:prstGeom>
          <a:noFill/>
          <a:ln/>
        </p:spPr>
        <p:txBody>
          <a:bodyPr wrap="square" lIns="0" tIns="0" rIns="0" bIns="0" rtlCol="0" anchor="ctr"/>
          <a:lstStyle/>
          <a:p>
            <a:pPr indent="0" marL="0">
              <a:buNone/>
            </a:pPr>
            <a:r>
              <a:rPr lang="en-US" sz="2200" b="1" dirty="0">
                <a:solidFill>
                  <a:srgbClr val="FFB000"/>
                </a:solidFill>
                <a:latin typeface="Courier New" pitchFamily="34" charset="0"/>
                <a:ea typeface="Courier New" pitchFamily="34" charset="-122"/>
                <a:cs typeface="Courier New" pitchFamily="34" charset="-120"/>
              </a:rPr>
              <a:t>02</a:t>
            </a:r>
            <a:endParaRPr lang="en-US" sz="2200" dirty="0"/>
          </a:p>
        </p:txBody>
      </p:sp>
      <p:sp>
        <p:nvSpPr>
          <p:cNvPr id="10" name="Text 8"/>
          <p:cNvSpPr txBox="1"/>
          <p:nvPr/>
        </p:nvSpPr>
        <p:spPr>
          <a:xfrm>
            <a:off x="1554480" y="2505456"/>
            <a:ext cx="4846320" cy="640080"/>
          </a:xfrm>
          <a:prstGeom prst="rect">
            <a:avLst/>
          </a:prstGeom>
          <a:noFill/>
          <a:ln/>
        </p:spPr>
        <p:txBody>
          <a:bodyPr wrap="square" lIns="0" tIns="0" rIns="0" bIns="0" rtlCol="0" anchor="ctr"/>
          <a:lstStyle/>
          <a:p>
            <a:pPr indent="0" marL="0">
              <a:buNone/>
            </a:pPr>
            <a:r>
              <a:rPr lang="en-US" sz="1800" b="1" dirty="0">
                <a:solidFill>
                  <a:srgbClr val="EEF0F8"/>
                </a:solidFill>
                <a:latin typeface="Calibri" pitchFamily="34" charset="0"/>
                <a:ea typeface="Calibri" pitchFamily="34" charset="-122"/>
                <a:cs typeface="Calibri" pitchFamily="34" charset="-120"/>
              </a:rPr>
              <a:t>Write intent down</a:t>
            </a:r>
            <a:endParaRPr lang="en-US" sz="1800" dirty="0"/>
          </a:p>
        </p:txBody>
      </p:sp>
      <p:sp>
        <p:nvSpPr>
          <p:cNvPr id="11" name="Text 9"/>
          <p:cNvSpPr txBox="1"/>
          <p:nvPr/>
        </p:nvSpPr>
        <p:spPr>
          <a:xfrm>
            <a:off x="6492240" y="2505456"/>
            <a:ext cx="4967935" cy="640080"/>
          </a:xfrm>
          <a:prstGeom prst="rect">
            <a:avLst/>
          </a:prstGeom>
          <a:noFill/>
          <a:ln/>
        </p:spPr>
        <p:txBody>
          <a:bodyPr wrap="square" lIns="0" tIns="0" rIns="0" bIns="0" rtlCol="0" anchor="ctr"/>
          <a:lstStyle/>
          <a:p>
            <a:pPr indent="0" marL="0">
              <a:buNone/>
            </a:pPr>
            <a:r>
              <a:rPr lang="en-US" sz="1500" dirty="0">
                <a:solidFill>
                  <a:srgbClr val="A3ABCB"/>
                </a:solidFill>
                <a:latin typeface="Calibri" pitchFamily="34" charset="0"/>
                <a:ea typeface="Calibri" pitchFamily="34" charset="-122"/>
                <a:cs typeface="Calibri" pitchFamily="34" charset="-120"/>
              </a:rPr>
              <a:t>Architecture, plans and ADRs are the context the AI works from.</a:t>
            </a:r>
            <a:endParaRPr lang="en-US" sz="1500" dirty="0"/>
          </a:p>
        </p:txBody>
      </p:sp>
      <p:sp>
        <p:nvSpPr>
          <p:cNvPr id="12" name="Shape 10"/>
          <p:cNvSpPr/>
          <p:nvPr/>
        </p:nvSpPr>
        <p:spPr>
          <a:xfrm>
            <a:off x="548640" y="3273552"/>
            <a:ext cx="11094415" cy="640080"/>
          </a:xfrm>
          <a:prstGeom prst="roundRect">
            <a:avLst>
              <a:gd name="adj" fmla="val 11429"/>
            </a:avLst>
          </a:prstGeom>
          <a:solidFill>
            <a:srgbClr val="182041"/>
          </a:solidFill>
          <a:ln w="12700">
            <a:solidFill>
              <a:srgbClr val="182041"/>
            </a:solidFill>
            <a:prstDash val="solid"/>
          </a:ln>
        </p:spPr>
      </p:sp>
      <p:sp>
        <p:nvSpPr>
          <p:cNvPr id="13" name="Text 11"/>
          <p:cNvSpPr txBox="1"/>
          <p:nvPr/>
        </p:nvSpPr>
        <p:spPr>
          <a:xfrm>
            <a:off x="777240" y="3273552"/>
            <a:ext cx="731520" cy="640080"/>
          </a:xfrm>
          <a:prstGeom prst="rect">
            <a:avLst/>
          </a:prstGeom>
          <a:noFill/>
          <a:ln/>
        </p:spPr>
        <p:txBody>
          <a:bodyPr wrap="square" lIns="0" tIns="0" rIns="0" bIns="0" rtlCol="0" anchor="ctr"/>
          <a:lstStyle/>
          <a:p>
            <a:pPr indent="0" marL="0">
              <a:buNone/>
            </a:pPr>
            <a:r>
              <a:rPr lang="en-US" sz="2200" b="1" dirty="0">
                <a:solidFill>
                  <a:srgbClr val="FFB000"/>
                </a:solidFill>
                <a:latin typeface="Courier New" pitchFamily="34" charset="0"/>
                <a:ea typeface="Courier New" pitchFamily="34" charset="-122"/>
                <a:cs typeface="Courier New" pitchFamily="34" charset="-120"/>
              </a:rPr>
              <a:t>03</a:t>
            </a:r>
            <a:endParaRPr lang="en-US" sz="2200" dirty="0"/>
          </a:p>
        </p:txBody>
      </p:sp>
      <p:sp>
        <p:nvSpPr>
          <p:cNvPr id="14" name="Text 12"/>
          <p:cNvSpPr txBox="1"/>
          <p:nvPr/>
        </p:nvSpPr>
        <p:spPr>
          <a:xfrm>
            <a:off x="1554480" y="3273552"/>
            <a:ext cx="4846320" cy="640080"/>
          </a:xfrm>
          <a:prstGeom prst="rect">
            <a:avLst/>
          </a:prstGeom>
          <a:noFill/>
          <a:ln/>
        </p:spPr>
        <p:txBody>
          <a:bodyPr wrap="square" lIns="0" tIns="0" rIns="0" bIns="0" rtlCol="0" anchor="ctr"/>
          <a:lstStyle/>
          <a:p>
            <a:pPr indent="0" marL="0">
              <a:buNone/>
            </a:pPr>
            <a:r>
              <a:rPr lang="en-US" sz="1800" b="1" dirty="0">
                <a:solidFill>
                  <a:srgbClr val="EEF0F8"/>
                </a:solidFill>
                <a:latin typeface="Calibri" pitchFamily="34" charset="0"/>
                <a:ea typeface="Calibri" pitchFamily="34" charset="-122"/>
                <a:cs typeface="Calibri" pitchFamily="34" charset="-120"/>
              </a:rPr>
              <a:t>Tests are the contract, so test the tests</a:t>
            </a:r>
            <a:endParaRPr lang="en-US" sz="1800" dirty="0"/>
          </a:p>
        </p:txBody>
      </p:sp>
      <p:sp>
        <p:nvSpPr>
          <p:cNvPr id="15" name="Text 13"/>
          <p:cNvSpPr txBox="1"/>
          <p:nvPr/>
        </p:nvSpPr>
        <p:spPr>
          <a:xfrm>
            <a:off x="6492240" y="3273552"/>
            <a:ext cx="4967935" cy="640080"/>
          </a:xfrm>
          <a:prstGeom prst="rect">
            <a:avLst/>
          </a:prstGeom>
          <a:noFill/>
          <a:ln/>
        </p:spPr>
        <p:txBody>
          <a:bodyPr wrap="square" lIns="0" tIns="0" rIns="0" bIns="0" rtlCol="0" anchor="ctr"/>
          <a:lstStyle/>
          <a:p>
            <a:pPr indent="0" marL="0">
              <a:buNone/>
            </a:pPr>
            <a:r>
              <a:rPr lang="en-US" sz="1500" dirty="0">
                <a:solidFill>
                  <a:srgbClr val="A3ABCB"/>
                </a:solidFill>
                <a:latin typeface="Calibri" pitchFamily="34" charset="0"/>
                <a:ea typeface="Calibri" pitchFamily="34" charset="-122"/>
                <a:cs typeface="Calibri" pitchFamily="34" charset="-120"/>
              </a:rPr>
              <a:t>Run them against the old code and watch them fail.</a:t>
            </a:r>
            <a:endParaRPr lang="en-US" sz="1500" dirty="0"/>
          </a:p>
        </p:txBody>
      </p:sp>
      <p:sp>
        <p:nvSpPr>
          <p:cNvPr id="16" name="Shape 14"/>
          <p:cNvSpPr/>
          <p:nvPr/>
        </p:nvSpPr>
        <p:spPr>
          <a:xfrm>
            <a:off x="548640" y="4041648"/>
            <a:ext cx="11094415" cy="640080"/>
          </a:xfrm>
          <a:prstGeom prst="roundRect">
            <a:avLst>
              <a:gd name="adj" fmla="val 11429"/>
            </a:avLst>
          </a:prstGeom>
          <a:solidFill>
            <a:srgbClr val="182041"/>
          </a:solidFill>
          <a:ln w="12700">
            <a:solidFill>
              <a:srgbClr val="182041"/>
            </a:solidFill>
            <a:prstDash val="solid"/>
          </a:ln>
        </p:spPr>
      </p:sp>
      <p:sp>
        <p:nvSpPr>
          <p:cNvPr id="17" name="Text 15"/>
          <p:cNvSpPr txBox="1"/>
          <p:nvPr/>
        </p:nvSpPr>
        <p:spPr>
          <a:xfrm>
            <a:off x="777240" y="4041648"/>
            <a:ext cx="731520" cy="640080"/>
          </a:xfrm>
          <a:prstGeom prst="rect">
            <a:avLst/>
          </a:prstGeom>
          <a:noFill/>
          <a:ln/>
        </p:spPr>
        <p:txBody>
          <a:bodyPr wrap="square" lIns="0" tIns="0" rIns="0" bIns="0" rtlCol="0" anchor="ctr"/>
          <a:lstStyle/>
          <a:p>
            <a:pPr indent="0" marL="0">
              <a:buNone/>
            </a:pPr>
            <a:r>
              <a:rPr lang="en-US" sz="2200" b="1" dirty="0">
                <a:solidFill>
                  <a:srgbClr val="FFB000"/>
                </a:solidFill>
                <a:latin typeface="Courier New" pitchFamily="34" charset="0"/>
                <a:ea typeface="Courier New" pitchFamily="34" charset="-122"/>
                <a:cs typeface="Courier New" pitchFamily="34" charset="-120"/>
              </a:rPr>
              <a:t>04</a:t>
            </a:r>
            <a:endParaRPr lang="en-US" sz="2200" dirty="0"/>
          </a:p>
        </p:txBody>
      </p:sp>
      <p:sp>
        <p:nvSpPr>
          <p:cNvPr id="18" name="Text 16"/>
          <p:cNvSpPr txBox="1"/>
          <p:nvPr/>
        </p:nvSpPr>
        <p:spPr>
          <a:xfrm>
            <a:off x="1554480" y="4041648"/>
            <a:ext cx="4846320" cy="640080"/>
          </a:xfrm>
          <a:prstGeom prst="rect">
            <a:avLst/>
          </a:prstGeom>
          <a:noFill/>
          <a:ln/>
        </p:spPr>
        <p:txBody>
          <a:bodyPr wrap="square" lIns="0" tIns="0" rIns="0" bIns="0" rtlCol="0" anchor="ctr"/>
          <a:lstStyle/>
          <a:p>
            <a:pPr indent="0" marL="0">
              <a:buNone/>
            </a:pPr>
            <a:r>
              <a:rPr lang="en-US" sz="1800" b="1" dirty="0">
                <a:solidFill>
                  <a:srgbClr val="EEF0F8"/>
                </a:solidFill>
                <a:latin typeface="Calibri" pitchFamily="34" charset="0"/>
                <a:ea typeface="Calibri" pitchFamily="34" charset="-122"/>
                <a:cs typeface="Calibri" pitchFamily="34" charset="-120"/>
              </a:rPr>
              <a:t>Make hardening and operations explicit passes</a:t>
            </a:r>
            <a:endParaRPr lang="en-US" sz="1800" dirty="0"/>
          </a:p>
        </p:txBody>
      </p:sp>
      <p:sp>
        <p:nvSpPr>
          <p:cNvPr id="19" name="Text 17"/>
          <p:cNvSpPr txBox="1"/>
          <p:nvPr/>
        </p:nvSpPr>
        <p:spPr>
          <a:xfrm>
            <a:off x="6492240" y="4041648"/>
            <a:ext cx="4967935" cy="640080"/>
          </a:xfrm>
          <a:prstGeom prst="rect">
            <a:avLst/>
          </a:prstGeom>
          <a:noFill/>
          <a:ln/>
        </p:spPr>
        <p:txBody>
          <a:bodyPr wrap="square" lIns="0" tIns="0" rIns="0" bIns="0" rtlCol="0" anchor="ctr"/>
          <a:lstStyle/>
          <a:p>
            <a:pPr indent="0" marL="0">
              <a:buNone/>
            </a:pPr>
            <a:r>
              <a:rPr lang="en-US" sz="1500" dirty="0">
                <a:solidFill>
                  <a:srgbClr val="A3ABCB"/>
                </a:solidFill>
                <a:latin typeface="Calibri" pitchFamily="34" charset="0"/>
                <a:ea typeface="Calibri" pitchFamily="34" charset="-122"/>
                <a:cs typeface="Calibri" pitchFamily="34" charset="-120"/>
              </a:rPr>
              <a:t>They don't emerge from feature prompts.</a:t>
            </a:r>
            <a:endParaRPr lang="en-US" sz="1500" dirty="0"/>
          </a:p>
        </p:txBody>
      </p:sp>
      <p:sp>
        <p:nvSpPr>
          <p:cNvPr id="20" name="Shape 18"/>
          <p:cNvSpPr/>
          <p:nvPr/>
        </p:nvSpPr>
        <p:spPr>
          <a:xfrm>
            <a:off x="548640" y="4809744"/>
            <a:ext cx="11094415" cy="640080"/>
          </a:xfrm>
          <a:prstGeom prst="roundRect">
            <a:avLst>
              <a:gd name="adj" fmla="val 11429"/>
            </a:avLst>
          </a:prstGeom>
          <a:solidFill>
            <a:srgbClr val="182041"/>
          </a:solidFill>
          <a:ln w="12700">
            <a:solidFill>
              <a:srgbClr val="182041"/>
            </a:solidFill>
            <a:prstDash val="solid"/>
          </a:ln>
        </p:spPr>
      </p:sp>
      <p:sp>
        <p:nvSpPr>
          <p:cNvPr id="21" name="Text 19"/>
          <p:cNvSpPr txBox="1"/>
          <p:nvPr/>
        </p:nvSpPr>
        <p:spPr>
          <a:xfrm>
            <a:off x="777240" y="4809744"/>
            <a:ext cx="731520" cy="640080"/>
          </a:xfrm>
          <a:prstGeom prst="rect">
            <a:avLst/>
          </a:prstGeom>
          <a:noFill/>
          <a:ln/>
        </p:spPr>
        <p:txBody>
          <a:bodyPr wrap="square" lIns="0" tIns="0" rIns="0" bIns="0" rtlCol="0" anchor="ctr"/>
          <a:lstStyle/>
          <a:p>
            <a:pPr indent="0" marL="0">
              <a:buNone/>
            </a:pPr>
            <a:r>
              <a:rPr lang="en-US" sz="2200" b="1" dirty="0">
                <a:solidFill>
                  <a:srgbClr val="FFB000"/>
                </a:solidFill>
                <a:latin typeface="Courier New" pitchFamily="34" charset="0"/>
                <a:ea typeface="Courier New" pitchFamily="34" charset="-122"/>
                <a:cs typeface="Courier New" pitchFamily="34" charset="-120"/>
              </a:rPr>
              <a:t>05</a:t>
            </a:r>
            <a:endParaRPr lang="en-US" sz="2200" dirty="0"/>
          </a:p>
        </p:txBody>
      </p:sp>
      <p:sp>
        <p:nvSpPr>
          <p:cNvPr id="22" name="Text 20"/>
          <p:cNvSpPr txBox="1"/>
          <p:nvPr/>
        </p:nvSpPr>
        <p:spPr>
          <a:xfrm>
            <a:off x="1554480" y="4809744"/>
            <a:ext cx="4846320" cy="640080"/>
          </a:xfrm>
          <a:prstGeom prst="rect">
            <a:avLst/>
          </a:prstGeom>
          <a:noFill/>
          <a:ln/>
        </p:spPr>
        <p:txBody>
          <a:bodyPr wrap="square" lIns="0" tIns="0" rIns="0" bIns="0" rtlCol="0" anchor="ctr"/>
          <a:lstStyle/>
          <a:p>
            <a:pPr indent="0" marL="0">
              <a:buNone/>
            </a:pPr>
            <a:r>
              <a:rPr lang="en-US" sz="1800" b="1" dirty="0">
                <a:solidFill>
                  <a:srgbClr val="EEF0F8"/>
                </a:solidFill>
                <a:latin typeface="Calibri" pitchFamily="34" charset="0"/>
                <a:ea typeface="Calibri" pitchFamily="34" charset="-122"/>
                <a:cs typeface="Calibri" pitchFamily="34" charset="-120"/>
              </a:rPr>
              <a:t>In change, demand evidence</a:t>
            </a:r>
            <a:endParaRPr lang="en-US" sz="1800" dirty="0"/>
          </a:p>
        </p:txBody>
      </p:sp>
      <p:sp>
        <p:nvSpPr>
          <p:cNvPr id="23" name="Text 21"/>
          <p:cNvSpPr txBox="1"/>
          <p:nvPr/>
        </p:nvSpPr>
        <p:spPr>
          <a:xfrm>
            <a:off x="6492240" y="4809744"/>
            <a:ext cx="4967935" cy="640080"/>
          </a:xfrm>
          <a:prstGeom prst="rect">
            <a:avLst/>
          </a:prstGeom>
          <a:noFill/>
          <a:ln/>
        </p:spPr>
        <p:txBody>
          <a:bodyPr wrap="square" lIns="0" tIns="0" rIns="0" bIns="0" rtlCol="0" anchor="ctr"/>
          <a:lstStyle/>
          <a:p>
            <a:pPr indent="0" marL="0">
              <a:buNone/>
            </a:pPr>
            <a:r>
              <a:rPr lang="en-US" sz="1500" dirty="0">
                <a:solidFill>
                  <a:srgbClr val="A3ABCB"/>
                </a:solidFill>
                <a:latin typeface="Calibri" pitchFamily="34" charset="0"/>
                <a:ea typeface="Calibri" pitchFamily="34" charset="-122"/>
                <a:cs typeface="Calibri" pitchFamily="34" charset="-120"/>
              </a:rPr>
              <a:t>Logs, repros and root cause in the source beat plausible explanations.</a:t>
            </a:r>
            <a:endParaRPr lang="en-US" sz="1500" dirty="0"/>
          </a:p>
        </p:txBody>
      </p:sp>
      <p:sp>
        <p:nvSpPr>
          <p:cNvPr id="24" name="Text 22"/>
          <p:cNvSpPr txBox="1"/>
          <p:nvPr/>
        </p:nvSpPr>
        <p:spPr>
          <a:xfrm>
            <a:off x="548640" y="5760720"/>
            <a:ext cx="11094415" cy="548640"/>
          </a:xfrm>
          <a:prstGeom prst="rect">
            <a:avLst/>
          </a:prstGeom>
          <a:noFill/>
          <a:ln/>
        </p:spPr>
        <p:txBody>
          <a:bodyPr wrap="square" lIns="0" tIns="0" rIns="0" bIns="0" rtlCol="0" anchor="ctr"/>
          <a:lstStyle/>
          <a:p>
            <a:pPr algn="ctr" indent="0" marL="0">
              <a:buNone/>
            </a:pPr>
            <a:r>
              <a:rPr lang="en-US" sz="2000" b="1" i="1" dirty="0">
                <a:solidFill>
                  <a:srgbClr val="FFB000"/>
                </a:solidFill>
                <a:latin typeface="Courier New" pitchFamily="34" charset="0"/>
                <a:ea typeface="Courier New" pitchFamily="34" charset="-122"/>
                <a:cs typeface="Courier New" pitchFamily="34" charset="-120"/>
              </a:rPr>
              <a:t>AI speeds up every phase. Engineering discipline decides what ships.</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224"/>
        </a:solidFill>
      </p:bgPr>
    </p:bg>
    <p:spTree>
      <p:nvGrpSpPr>
        <p:cNvPr id="1" name=""/>
        <p:cNvGrpSpPr/>
        <p:nvPr/>
      </p:nvGrpSpPr>
      <p:grpSpPr>
        <a:xfrm>
          <a:off x="0" y="0"/>
          <a:ext cx="0" cy="0"/>
          <a:chOff x="0" y="0"/>
          <a:chExt cx="0" cy="0"/>
        </a:xfrm>
      </p:grpSpPr>
      <p:sp>
        <p:nvSpPr>
          <p:cNvPr id="2" name="Text 0"/>
          <p:cNvSpPr txBox="1"/>
          <p:nvPr/>
        </p:nvSpPr>
        <p:spPr>
          <a:xfrm>
            <a:off x="548640" y="1280160"/>
            <a:ext cx="6400800" cy="1188720"/>
          </a:xfrm>
          <a:prstGeom prst="rect">
            <a:avLst/>
          </a:prstGeom>
          <a:noFill/>
          <a:ln/>
        </p:spPr>
        <p:txBody>
          <a:bodyPr wrap="square" lIns="0" tIns="0" rIns="0" bIns="0" rtlCol="0" anchor="t"/>
          <a:lstStyle/>
          <a:p>
            <a:pPr indent="0" marL="0">
              <a:buNone/>
            </a:pPr>
            <a:r>
              <a:rPr lang="en-US" sz="6000" b="1" dirty="0">
                <a:solidFill>
                  <a:srgbClr val="FFB000"/>
                </a:solidFill>
                <a:latin typeface="Courier New" pitchFamily="34" charset="0"/>
                <a:ea typeface="Courier New" pitchFamily="34" charset="-122"/>
                <a:cs typeface="Courier New" pitchFamily="34" charset="-120"/>
              </a:rPr>
              <a:t>C:\&gt; EXIT</a:t>
            </a:r>
            <a:endParaRPr lang="en-US" sz="6000" dirty="0"/>
          </a:p>
        </p:txBody>
      </p:sp>
      <p:sp>
        <p:nvSpPr>
          <p:cNvPr id="3" name="Text 1"/>
          <p:cNvSpPr txBox="1"/>
          <p:nvPr/>
        </p:nvSpPr>
        <p:spPr>
          <a:xfrm>
            <a:off x="548640" y="2651760"/>
            <a:ext cx="6400800" cy="731520"/>
          </a:xfrm>
          <a:prstGeom prst="rect">
            <a:avLst/>
          </a:prstGeom>
          <a:noFill/>
          <a:ln/>
        </p:spPr>
        <p:txBody>
          <a:bodyPr wrap="square" lIns="0" tIns="0" rIns="0" bIns="0" rtlCol="0" anchor="t"/>
          <a:lstStyle/>
          <a:p>
            <a:pPr indent="0" marL="0">
              <a:buNone/>
            </a:pPr>
            <a:r>
              <a:rPr lang="en-US" sz="3600" b="1" dirty="0">
                <a:solidFill>
                  <a:srgbClr val="EEF0F8"/>
                </a:solidFill>
                <a:latin typeface="Courier New" pitchFamily="34" charset="0"/>
                <a:ea typeface="Courier New" pitchFamily="34" charset="-122"/>
                <a:cs typeface="Courier New" pitchFamily="34" charset="-120"/>
              </a:rPr>
              <a:t>Thank you</a:t>
            </a:r>
            <a:endParaRPr lang="en-US" sz="3600" dirty="0"/>
          </a:p>
        </p:txBody>
      </p:sp>
      <p:sp>
        <p:nvSpPr>
          <p:cNvPr id="4" name="Text 2"/>
          <p:cNvSpPr txBox="1"/>
          <p:nvPr/>
        </p:nvSpPr>
        <p:spPr>
          <a:xfrm>
            <a:off x="548640" y="3566160"/>
            <a:ext cx="6217920" cy="822960"/>
          </a:xfrm>
          <a:prstGeom prst="rect">
            <a:avLst/>
          </a:prstGeom>
          <a:noFill/>
          <a:ln/>
        </p:spPr>
        <p:txBody>
          <a:bodyPr wrap="square" lIns="0" tIns="0" rIns="0" bIns="0" rtlCol="0" anchor="t"/>
          <a:lstStyle/>
          <a:p>
            <a:pPr indent="0" marL="0">
              <a:buNone/>
            </a:pPr>
            <a:r>
              <a:rPr lang="en-US" sz="2000" dirty="0">
                <a:solidFill>
                  <a:srgbClr val="4FD1E8"/>
                </a:solidFill>
                <a:latin typeface="Calibri" pitchFamily="34" charset="0"/>
                <a:ea typeface="Calibri" pitchFamily="34" charset="-122"/>
                <a:cs typeface="Calibri" pitchFamily="34" charset="-120"/>
              </a:rPr>
              <a:t>Live demo: two browsers, one room code, DOOM over IPX.</a:t>
            </a:r>
            <a:endParaRPr lang="en-US" sz="2000" dirty="0"/>
          </a:p>
        </p:txBody>
      </p:sp>
      <p:sp>
        <p:nvSpPr>
          <p:cNvPr id="5" name="Shape 3"/>
          <p:cNvSpPr/>
          <p:nvPr/>
        </p:nvSpPr>
        <p:spPr>
          <a:xfrm>
            <a:off x="7223760" y="1280160"/>
            <a:ext cx="4419295" cy="3246120"/>
          </a:xfrm>
          <a:prstGeom prst="roundRect">
            <a:avLst>
              <a:gd name="adj" fmla="val 2254"/>
            </a:avLst>
          </a:prstGeom>
          <a:solidFill>
            <a:srgbClr val="182041"/>
          </a:solidFill>
          <a:ln w="12700">
            <a:solidFill>
              <a:srgbClr val="182041"/>
            </a:solidFill>
            <a:prstDash val="solid"/>
          </a:ln>
        </p:spPr>
      </p:sp>
      <p:sp>
        <p:nvSpPr>
          <p:cNvPr id="6" name="Text 4"/>
          <p:cNvSpPr txBox="1"/>
          <p:nvPr/>
        </p:nvSpPr>
        <p:spPr>
          <a:xfrm>
            <a:off x="7498080" y="1508760"/>
            <a:ext cx="3870655" cy="320040"/>
          </a:xfrm>
          <a:prstGeom prst="rect">
            <a:avLst/>
          </a:prstGeom>
          <a:noFill/>
          <a:ln/>
        </p:spPr>
        <p:txBody>
          <a:bodyPr wrap="square" lIns="0" tIns="0" rIns="0" bIns="0" rtlCol="0" anchor="t"/>
          <a:lstStyle/>
          <a:p>
            <a:pPr indent="0" marL="0">
              <a:buNone/>
            </a:pPr>
            <a:r>
              <a:rPr lang="en-US" sz="1300" b="1" dirty="0">
                <a:solidFill>
                  <a:srgbClr val="A3ABCB"/>
                </a:solidFill>
                <a:latin typeface="Courier New" pitchFamily="34" charset="0"/>
                <a:ea typeface="Courier New" pitchFamily="34" charset="-122"/>
                <a:cs typeface="Courier New" pitchFamily="34" charset="-120"/>
              </a:rPr>
              <a:t>C:\DOS-STEAM-SPIKE&gt; DIR</a:t>
            </a:r>
            <a:endParaRPr lang="en-US" sz="1300" dirty="0"/>
          </a:p>
        </p:txBody>
      </p:sp>
      <p:sp>
        <p:nvSpPr>
          <p:cNvPr id="7" name="Text 5"/>
          <p:cNvSpPr txBox="1"/>
          <p:nvPr/>
        </p:nvSpPr>
        <p:spPr>
          <a:xfrm>
            <a:off x="7498080" y="2011680"/>
            <a:ext cx="3962095" cy="3108960"/>
          </a:xfrm>
          <a:prstGeom prst="rect">
            <a:avLst/>
          </a:prstGeom>
          <a:noFill/>
          <a:ln/>
        </p:spPr>
        <p:txBody>
          <a:bodyPr wrap="square" lIns="0" tIns="0" rIns="0" bIns="0" rtlCol="0" anchor="t"/>
          <a:lstStyle/>
          <a:p>
            <a:pPr indent="0" marL="0">
              <a:spcAft>
                <a:spcPts val="1200"/>
              </a:spcAft>
              <a:buNone/>
            </a:pPr>
            <a:r>
              <a:rPr lang="en-US" sz="1300" b="1" dirty="0">
                <a:solidFill>
                  <a:srgbClr val="5EE08A"/>
                </a:solidFill>
                <a:latin typeface="Courier New" pitchFamily="34" charset="0"/>
                <a:ea typeface="Courier New" pitchFamily="34" charset="-122"/>
                <a:cs typeface="Courier New" pitchFamily="34" charset="-120"/>
              </a:rPr>
              <a:t>phase-01-idea-requirements-prototype</a:t>
            </a:r>
            <a:endParaRPr lang="en-US" sz="1300" dirty="0"/>
          </a:p>
          <a:p>
            <a:pPr indent="0" marL="0">
              <a:spcAft>
                <a:spcPts val="1200"/>
              </a:spcAft>
              <a:buNone/>
            </a:pPr>
            <a:r>
              <a:rPr lang="en-US" sz="1300" b="1" dirty="0">
                <a:solidFill>
                  <a:srgbClr val="5EE08A"/>
                </a:solidFill>
                <a:latin typeface="Courier New" pitchFamily="34" charset="0"/>
                <a:ea typeface="Courier New" pitchFamily="34" charset="-122"/>
                <a:cs typeface="Courier New" pitchFamily="34" charset="-120"/>
              </a:rPr>
              <a:t>phase-02-architecture-plan</a:t>
            </a:r>
            <a:endParaRPr lang="en-US" sz="1300" dirty="0"/>
          </a:p>
          <a:p>
            <a:pPr indent="0" marL="0">
              <a:spcAft>
                <a:spcPts val="1200"/>
              </a:spcAft>
              <a:buNone/>
            </a:pPr>
            <a:r>
              <a:rPr lang="en-US" sz="1300" b="1" dirty="0">
                <a:solidFill>
                  <a:srgbClr val="5EE08A"/>
                </a:solidFill>
                <a:latin typeface="Courier New" pitchFamily="34" charset="0"/>
                <a:ea typeface="Courier New" pitchFamily="34" charset="-122"/>
                <a:cs typeface="Courier New" pitchFamily="34" charset="-120"/>
              </a:rPr>
              <a:t>phase-03-build-test</a:t>
            </a:r>
            <a:endParaRPr lang="en-US" sz="1300" dirty="0"/>
          </a:p>
          <a:p>
            <a:pPr indent="0" marL="0">
              <a:spcAft>
                <a:spcPts val="1200"/>
              </a:spcAft>
              <a:buNone/>
            </a:pPr>
            <a:r>
              <a:rPr lang="en-US" sz="1300" b="1" dirty="0">
                <a:solidFill>
                  <a:srgbClr val="5EE08A"/>
                </a:solidFill>
                <a:latin typeface="Courier New" pitchFamily="34" charset="0"/>
                <a:ea typeface="Courier New" pitchFamily="34" charset="-122"/>
                <a:cs typeface="Courier New" pitchFamily="34" charset="-120"/>
              </a:rPr>
              <a:t>phase-04-test-secure</a:t>
            </a:r>
            <a:endParaRPr lang="en-US" sz="1300" dirty="0"/>
          </a:p>
          <a:p>
            <a:pPr indent="0" marL="0">
              <a:spcAft>
                <a:spcPts val="1200"/>
              </a:spcAft>
              <a:buNone/>
            </a:pPr>
            <a:r>
              <a:rPr lang="en-US" sz="1300" b="1" dirty="0">
                <a:solidFill>
                  <a:srgbClr val="5EE08A"/>
                </a:solidFill>
                <a:latin typeface="Courier New" pitchFamily="34" charset="0"/>
                <a:ea typeface="Courier New" pitchFamily="34" charset="-122"/>
                <a:cs typeface="Courier New" pitchFamily="34" charset="-120"/>
              </a:rPr>
              <a:t>phase-05-operate-document-review</a:t>
            </a:r>
            <a:endParaRPr lang="en-US" sz="1300" dirty="0"/>
          </a:p>
          <a:p>
            <a:pPr indent="0" marL="0">
              <a:spcAft>
                <a:spcPts val="1200"/>
              </a:spcAft>
              <a:buNone/>
            </a:pPr>
            <a:r>
              <a:rPr lang="en-US" sz="1300" b="1" dirty="0">
                <a:solidFill>
                  <a:srgbClr val="FFB000"/>
                </a:solidFill>
                <a:latin typeface="Courier New" pitchFamily="34" charset="0"/>
                <a:ea typeface="Courier New" pitchFamily="34" charset="-122"/>
                <a:cs typeface="Courier New" pitchFamily="34" charset="-120"/>
              </a:rPr>
              <a:t>phase-06-change-ipx-multiplayer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Hype to Production: Vibe Coding for Professional Developers</dc:title>
  <dc:subject>PptxGenJS Presentation</dc:subject>
  <dc:creator>DOS Cloud</dc:creator>
  <cp:lastModifiedBy>DOS Cloud</cp:lastModifiedBy>
  <cp:revision>1</cp:revision>
  <dcterms:created xsi:type="dcterms:W3CDTF">2026-09-24T19:22:36Z</dcterms:created>
  <dcterms:modified xsi:type="dcterms:W3CDTF">2026-09-24T19:22:36Z</dcterms:modified>
</cp:coreProperties>
</file>